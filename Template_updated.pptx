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4.xml" ContentType="application/vnd.openxmlformats-officedocument.presentationml.notesSlide+xml"/>
  <Override PartName="/ppt/charts/chart1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"/>
  </p:notesMasterIdLst>
  <p:sldIdLst>
    <p:sldId id="2147481720" r:id="rId2"/>
    <p:sldId id="2147481722" r:id="rId3"/>
    <p:sldId id="2147481723" r:id="rId4"/>
    <p:sldId id="2147481725" r:id="rId5"/>
    <p:sldId id="2147481726" r:id="rId6"/>
  </p:sldIdLst>
  <p:sldSz cx="12192000" cy="6858000"/>
  <p:notesSz cx="6807200" cy="9939338"/>
  <p:embeddedFontLst>
    <p:embeddedFont>
      <p:font typeface="Georgia" panose="02040502050405020303" pitchFamily="18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2" orient="horz" pos="408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816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2304" userDrawn="1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2" roundtripDataSignature="AMtx7mjhHxuWovewr+DnDubu6oqfqIE3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237B"/>
    <a:srgbClr val="00447C"/>
    <a:srgbClr val="96580D"/>
    <a:srgbClr val="AED8AF"/>
    <a:srgbClr val="29552A"/>
    <a:srgbClr val="767778"/>
    <a:srgbClr val="00007F"/>
    <a:srgbClr val="FFC000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3C8EB9-6EEE-4A75-BDF9-FAD800443806}">
  <a:tblStyle styleId="{303C8EB9-6EEE-4A75-BDF9-FAD8004438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032B33-55AA-4BEC-81F8-80104BE72DBB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E8"/>
          </a:solidFill>
        </a:fill>
      </a:tcStyle>
    </a:wholeTbl>
    <a:band1H>
      <a:tcTxStyle/>
      <a:tcStyle>
        <a:tcBdr/>
        <a:fill>
          <a:solidFill>
            <a:srgbClr val="CDDAC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ACE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13" autoAdjust="0"/>
    <p:restoredTop sz="94402" autoAdjust="0"/>
  </p:normalViewPr>
  <p:slideViewPr>
    <p:cSldViewPr snapToGrid="0">
      <p:cViewPr varScale="1">
        <p:scale>
          <a:sx n="109" d="100"/>
          <a:sy n="109" d="100"/>
        </p:scale>
        <p:origin x="680" y="192"/>
      </p:cViewPr>
      <p:guideLst>
        <p:guide pos="384"/>
        <p:guide orient="horz" pos="4080"/>
        <p:guide pos="7296"/>
        <p:guide orient="horz" pos="816"/>
        <p:guide pos="3840"/>
        <p:guide pos="23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font" Target="fonts/font1.fntdata"/><Relationship Id="rId155" Type="http://schemas.openxmlformats.org/officeDocument/2006/relationships/theme" Target="theme/theme1.xml"/><Relationship Id="rId3" Type="http://schemas.openxmlformats.org/officeDocument/2006/relationships/slide" Target="slides/slide2.xml"/><Relationship Id="rId154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5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2" Type="http://customschemas.google.com/relationships/presentationmetadata" Target="metadata"/><Relationship Id="rId10" Type="http://schemas.openxmlformats.org/officeDocument/2006/relationships/font" Target="fonts/font3.fntdata"/><Relationship Id="rId15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0.xlsx"/></Relationships>
</file>

<file path=ppt/charts/_rels/chart2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6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9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0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1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2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3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14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1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1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1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1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_fixed101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2.xlsx"/></Relationships>
</file>

<file path=ppt/charts/_rels/chart15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3.xlsx"/></Relationships>
</file>

<file path=ppt/charts/_rels/chart16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4.xlsx"/></Relationships>
</file>

<file path=ppt/charts/_rels/chart17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5.xlsx"/></Relationships>
</file>

<file path=ppt/charts/_rels/chart18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9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20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2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7.xlsx"/></Relationships>
</file>

<file path=ppt/charts/_rels/chart2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_fixed108.xlsx"/></Relationships>
</file>

<file path=ppt/charts/_rels/chart23.xml.rels><?xml version="1.0" encoding="UTF-8"?>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1543187739301949E-2"/>
          <c:y val="7.905214163354457E-2"/>
          <c:w val="0.98845713735188556"/>
          <c:h val="0.746652172596110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Pivot!$D$4</c:f>
              <c:strCache>
                <c:ptCount val="1"/>
                <c:pt idx="0">
                  <c:v>MSN</c:v>
                </c:pt>
              </c:strCache>
            </c:strRef>
          </c:tx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474097376775975"/>
                      <c:h val="0.181723896930555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15F7-4503-8815-507FAD2F7F4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 anchorCtr="0">
                  <a:noAutofit/>
                </a:bodyPr>
                <a:lstStyle/>
                <a:p>
                  <a:pPr algn="ctr" rtl="0">
                    <a:defRPr lang="en-US" sz="800" b="1" i="0" u="none" strike="noStrike" kern="1200" baseline="0">
                      <a:solidFill>
                        <a:srgbClr val="000000">
                          <a:lumMod val="75000"/>
                          <a:lumOff val="25000"/>
                        </a:srgbClr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531730251985614"/>
                      <c:h val="0.167476629433059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15F7-4503-8815-507FAD2F7F4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sz="800" b="1" i="0" u="none" strike="noStrike" kern="1200" baseline="0">
                    <a:solidFill>
                      <a:srgbClr val="000000">
                        <a:lumMod val="75000"/>
                        <a:lumOff val="25000"/>
                      </a:srgb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poly"/>
            <c:order val="2"/>
            <c:dispRSqr val="0"/>
            <c:dispEq val="0"/>
          </c:trendline>
          <c:cat>
            <c:strRef>
              <c:f>Pivot!$E$3:$F$3</c:f>
              <c:strCache>
                <c:ptCount val="2"/>
                <c:pt idx="0">
                  <c:v>21/05 - 27/05</c:v>
                </c:pt>
                <c:pt idx="1">
                  <c:v>28/05 - 03/06</c:v>
                </c:pt>
              </c:strCache>
            </c:strRef>
          </c:cat>
          <c:val>
            <c:numRef>
              <c:f>Pivot!$E$4:$F$4</c:f>
              <c:numCache>
                <c:formatCode>General</c:formatCode>
                <c:ptCount val="2"/>
                <c:pt idx="0">
                  <c:v>1870</c:v>
                </c:pt>
                <c:pt idx="1">
                  <c:v>3681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5F7-4503-8815-507FAD2F7F4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961986975"/>
        <c:axId val="1961975327"/>
      </c:barChart>
      <c:catAx>
        <c:axId val="19619869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961975327"/>
        <c:crosses val="autoZero"/>
        <c:auto val="1"/>
        <c:lblAlgn val="ctr"/>
        <c:lblOffset val="100"/>
        <c:noMultiLvlLbl val="0"/>
      </c:catAx>
      <c:valAx>
        <c:axId val="1961975327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619869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[MSN_Competitor_DataWeekly1.xlsx]Pivot!PivotTable2</c:name>
    <c:fmtId val="56"/>
  </c:pivotSource>
  <c:chart>
    <c:autoTitleDeleted val="1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97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  <c:pivotFmt>
        <c:idx val="1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>
        <c:manualLayout>
          <c:layoutTarget val="inner"/>
          <c:xMode val="edge"/>
          <c:yMode val="edge"/>
          <c:x val="0.13528196929209821"/>
          <c:y val="4.3875054585300888E-2"/>
          <c:w val="0.51778029944317383"/>
          <c:h val="0.89201061056879938"/>
        </c:manualLayout>
      </c:layout>
      <c:doughnutChart>
        <c:varyColors val="1"/>
        <c:ser>
          <c:idx val="0"/>
          <c:order val="0"/>
          <c:tx>
            <c:strRef>
              <c:f>Pivot!$J$5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F6-47CC-AF4D-629B33F6842F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F6-47CC-AF4D-629B33F6842F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F6-47CC-AF4D-629B33F6842F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F6-47CC-AF4D-629B33F6842F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F6-47CC-AF4D-629B33F6842F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B2F6-47CC-AF4D-629B33F6842F}"/>
              </c:ext>
            </c:extLst>
          </c:dPt>
          <c:dPt>
            <c:idx val="6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B2F6-47CC-AF4D-629B33F6842F}"/>
              </c:ext>
            </c:extLst>
          </c:dPt>
          <c:dPt>
            <c:idx val="7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F-B2F6-47CC-AF4D-629B33F6842F}"/>
              </c:ext>
            </c:extLst>
          </c:dPt>
          <c:dPt>
            <c:idx val="8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11-B2F6-47CC-AF4D-629B33F6842F}"/>
              </c:ext>
            </c:extLst>
          </c:dPt>
          <c:dLbls>
            <c:dLbl>
              <c:idx val="4"/>
              <c:layout>
                <c:manualLayout>
                  <c:x val="-0.20994635622630281"/>
                  <c:y val="-9.4727534588772658E-2"/>
                </c:manualLayout>
              </c:layout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accent3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2F6-47CC-AF4D-629B33F6842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2F6-47CC-AF4D-629B33F6842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2F6-47CC-AF4D-629B33F6842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B2F6-47CC-AF4D-629B33F6842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2F6-47CC-AF4D-629B33F684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Pivot!$I$6:$I$14</c:f>
              <c:strCache>
                <c:ptCount val="8"/>
                <c:pt idx="0">
                  <c:v>Facebook</c:v>
                </c:pt>
                <c:pt idx="1">
                  <c:v>Tiktok</c:v>
                </c:pt>
                <c:pt idx="2">
                  <c:v>Social</c:v>
                </c:pt>
                <c:pt idx="3">
                  <c:v>News</c:v>
                </c:pt>
                <c:pt idx="4">
                  <c:v>Youtube</c:v>
                </c:pt>
                <c:pt idx="5">
                  <c:v>Threads</c:v>
                </c:pt>
                <c:pt idx="6">
                  <c:v>Forum</c:v>
                </c:pt>
                <c:pt idx="7">
                  <c:v>Linkedin</c:v>
                </c:pt>
              </c:strCache>
            </c:strRef>
          </c:cat>
          <c:val>
            <c:numRef>
              <c:f>Pivot!$J$6:$J$14</c:f>
              <c:numCache>
                <c:formatCode>0.00%</c:formatCode>
                <c:ptCount val="8"/>
                <c:pt idx="0">
                  <c:v>0.468</c:v>
                </c:pt>
                <c:pt idx="1">
                  <c:v>0.257</c:v>
                </c:pt>
                <c:pt idx="2">
                  <c:v>0.122</c:v>
                </c:pt>
                <c:pt idx="3">
                  <c:v>0.093</c:v>
                </c:pt>
                <c:pt idx="4">
                  <c:v>0.055</c:v>
                </c:pt>
                <c:pt idx="5">
                  <c:v>0.003</c:v>
                </c:pt>
                <c:pt idx="6">
                  <c:v>0.001</c:v>
                </c:pt>
                <c:pt idx="7">
                  <c:v>0.0001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2F6-47CC-AF4D-629B33F684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9"/>
      </c:doughnutChart>
      <c:spPr>
        <a:noFill/>
        <a:ln>
          <a:noFill/>
        </a:ln>
        <a:effectLst>
          <a:glow>
            <a:schemeClr val="accent1">
              <a:alpha val="32000"/>
            </a:schemeClr>
          </a:glow>
          <a:softEdge rad="0"/>
        </a:effectLst>
      </c:spPr>
    </c:plotArea>
    <c:legend>
      <c:legendPos val="b"/>
      <c:layout>
        <c:manualLayout>
          <c:xMode val="edge"/>
          <c:yMode val="edge"/>
          <c:x val="0.68126018194563664"/>
          <c:y val="0"/>
          <c:w val="0.3187398180543633"/>
          <c:h val="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20087415138523115"/>
          <c:w val="1"/>
          <c:h val="0.671029895792075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ABD-41BD-BD05-BC19A60AB672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ABD-41BD-BD05-BC19A60AB672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ABD-41BD-BD05-BC19A60AB672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ABD-41BD-BD05-BC19A60AB672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Pivot!$E$5:$E$8</c:f>
              <c:numCache>
                <c:formatCode>General</c:formatCode>
                <c:ptCount val="4"/>
                <c:pt idx="0">
                  <c:v>25520</c:v>
                </c:pt>
                <c:pt idx="1">
                  <c:v>6939</c:v>
                </c:pt>
                <c:pt idx="2">
                  <c:v>5327</c:v>
                </c:pt>
                <c:pt idx="3">
                  <c:v>4100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9ABD-41BD-BD05-BC19A60AB672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9ABD-41BD-BD05-BC19A60AB672}"/>
              </c:ext>
            </c:extLst>
          </c:dPt>
          <c:dPt>
            <c:idx val="1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ABD-41BD-BD05-BC19A60AB672}"/>
              </c:ext>
            </c:extLst>
          </c:dPt>
          <c:dPt>
            <c:idx val="2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ABD-41BD-BD05-BC19A60AB672}"/>
              </c:ext>
            </c:extLst>
          </c:dPt>
          <c:dPt>
            <c:idx val="3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ABD-41BD-BD05-BC19A60AB67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Pivot!$D$5:$D$8</c:f>
              <c:strCache>
                <c:ptCount val="4"/>
                <c:pt idx="0">
                  <c:v>Vingroup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</c:strCache>
            </c:strRef>
          </c:cat>
          <c:val>
            <c:numRef>
              <c:f>Pivot!$F$5:$F$8</c:f>
              <c:numCache>
                <c:formatCode>General</c:formatCode>
                <c:ptCount val="4"/>
                <c:pt idx="0">
                  <c:v>25582</c:v>
                </c:pt>
                <c:pt idx="1">
                  <c:v>6126</c:v>
                </c:pt>
                <c:pt idx="2">
                  <c:v>5978</c:v>
                </c:pt>
                <c:pt idx="3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9ABD-41BD-BD05-BC19A60AB67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800" b="1" i="0" u="none" strike="noStrike" kern="1200" baseline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2525280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73564163350448897"/>
          <c:y val="3.1857652762239605E-2"/>
          <c:w val="0.26435836649551081"/>
          <c:h val="0.2302927967053711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800" b="1" i="0" u="none" strike="noStrike" kern="1200" baseline="0">
              <a:solidFill>
                <a:schemeClr val="bg1">
                  <a:lumMod val="50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Pivot_Sentiment!$B$16:$B$20</c:f>
              <c:numCache>
                <c:formatCode>0%</c:formatCode>
                <c:ptCount val="5"/>
                <c:pt idx="0">
                  <c:v>0.1</c:v>
                </c:pt>
                <c:pt idx="1">
                  <c:v>0.165</c:v>
                </c:pt>
                <c:pt idx="2">
                  <c:v>0.144</c:v>
                </c:pt>
                <c:pt idx="3">
                  <c:v>0.234</c:v>
                </c:pt>
                <c:pt idx="4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4D-43D2-8453-95D59651844A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Pivot_Sentiment!$C$16:$C$20</c:f>
              <c:numCache>
                <c:formatCode>0%</c:formatCode>
                <c:ptCount val="5"/>
                <c:pt idx="0">
                  <c:v>0.848</c:v>
                </c:pt>
                <c:pt idx="1">
                  <c:v>0.774</c:v>
                </c:pt>
                <c:pt idx="2">
                  <c:v>0.833</c:v>
                </c:pt>
                <c:pt idx="3">
                  <c:v>0.711</c:v>
                </c:pt>
                <c:pt idx="4">
                  <c:v>0.82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4D-43D2-8453-95D59651844A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Pivot_Sentiment!$D$16:$D$20</c:f>
              <c:numCache>
                <c:formatCode>0%</c:formatCode>
                <c:ptCount val="5"/>
                <c:pt idx="0">
                  <c:v>0.052</c:v>
                </c:pt>
                <c:pt idx="1">
                  <c:v>0.061</c:v>
                </c:pt>
                <c:pt idx="2">
                  <c:v>0.023</c:v>
                </c:pt>
                <c:pt idx="3">
                  <c:v>0.055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Pivot_Sentiment!$A$16:$A$20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Pivot_Sentiment!$E$16:$E$20</c:f>
              <c:numCache>
                <c:formatCode>0%</c:formatCode>
                <c:ptCount val="5"/>
                <c:pt idx="0">
                  <c:v>0.315</c:v>
                </c:pt>
                <c:pt idx="1">
                  <c:v>0.461</c:v>
                </c:pt>
                <c:pt idx="2">
                  <c:v>0.724</c:v>
                </c:pt>
                <c:pt idx="3">
                  <c:v>0.616</c:v>
                </c:pt>
                <c:pt idx="4">
                  <c:v>0.445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D-43D2-8453-95D596518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4143614645385835E-2"/>
          <c:y val="0"/>
          <c:w val="0.87896726944661885"/>
          <c:h val="0.76824974667612078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00B05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Pivot_Sentiment!$B$16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ACC-47CA-B9AE-D9A473CC0B8B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rgbClr val="7F7F7F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Pivot_Sentiment!$C$16</c:f>
              <c:numCache>
                <c:formatCode>0%</c:formatCode>
                <c:ptCount val="1"/>
                <c:pt idx="0">
                  <c:v>0.848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ACC-47CA-B9AE-D9A473CC0B8B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dLbl>
              <c:idx val="0"/>
              <c:numFmt formatCode="0.0%" sourceLinked="0"/>
              <c:spPr>
                <a:solidFill>
                  <a:srgbClr val="FF0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700" b="1" i="0" u="none" strike="noStrike" kern="1200" baseline="0">
                      <a:solidFill>
                        <a:schemeClr val="bg1"/>
                      </a:solidFill>
                      <a:latin typeface="Georgia" panose="00000500000000000000" pitchFamily="2" charset="-93"/>
                      <a:ea typeface="Georgia"/>
                      <a:cs typeface="Georgia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9ACC-47CA-B9AE-D9A473CC0B8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Pivot_Sentiment!$A$16</c:f>
              <c:strCache>
                <c:ptCount val="1"/>
                <c:pt idx="0">
                  <c:v>MSN</c:v>
                </c:pt>
              </c:strCache>
            </c:strRef>
          </c:cat>
          <c:val>
            <c:numRef>
              <c:f>Pivot_Sentiment!$D$16</c:f>
              <c:numCache>
                <c:formatCode>0%</c:formatCode>
                <c:ptCount val="1"/>
                <c:pt idx="0">
                  <c:v>0.052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ACC-47CA-B9AE-D9A473CC0B8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149389151"/>
        <c:axId val="1149395871"/>
      </c:barChart>
      <c:catAx>
        <c:axId val="11493891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149395871"/>
        <c:crosses val="autoZero"/>
        <c:auto val="1"/>
        <c:lblAlgn val="ctr"/>
        <c:lblOffset val="100"/>
        <c:noMultiLvlLbl val="0"/>
      </c:catAx>
      <c:valAx>
        <c:axId val="1149395871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149389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18846543705721"/>
          <c:y val="7.5118467420920806E-2"/>
          <c:w val="0.67858475707962984"/>
          <c:h val="0.88828457864964716"/>
        </c:manualLayout>
      </c:layout>
      <c:doughnutChart>
        <c:varyColors val="1"/>
        <c:ser>
          <c:idx val="1"/>
          <c:order val="0"/>
          <c:tx>
            <c:strRef>
              <c:f>Pivot!$F$3</c:f>
              <c:strCache>
                <c:ptCount val="1"/>
                <c:pt idx="0">
                  <c:v>21/05 - 27/05</c:v>
                </c:pt>
              </c:strCache>
            </c:strRef>
          </c:tx>
          <c:explosion val="2"/>
          <c:dPt>
            <c:idx val="0"/>
            <c:bubble3D val="0"/>
            <c:spPr>
              <a:solidFill>
                <a:srgbClr val="00447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7B4-45C1-A158-F3E99A9CFF97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7B4-45C1-A158-F3E99A9CFF97}"/>
              </c:ext>
            </c:extLst>
          </c:dPt>
          <c:dPt>
            <c:idx val="2"/>
            <c:bubble3D val="0"/>
            <c:spPr>
              <a:solidFill>
                <a:srgbClr val="FF237B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7B4-45C1-A158-F3E99A9CFF97}"/>
              </c:ext>
            </c:extLst>
          </c:dPt>
          <c:dPt>
            <c:idx val="3"/>
            <c:bubble3D val="0"/>
            <c:spPr>
              <a:solidFill>
                <a:srgbClr val="AED8A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7B4-45C1-A158-F3E99A9CFF97}"/>
              </c:ext>
            </c:extLst>
          </c:dPt>
          <c:dPt>
            <c:idx val="4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7B4-45C1-A158-F3E99A9CFF97}"/>
              </c:ext>
            </c:extLst>
          </c:dPt>
          <c:dLbls>
            <c:dLbl>
              <c:idx val="2"/>
              <c:layout>
                <c:manualLayout>
                  <c:x val="-0.10300698872323205"/>
                  <c:y val="-9.7253125668555415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ysClr val="windowText" lastClr="000000"/>
                      </a:solidFill>
                      <a:latin typeface="Georgia" pitchFamily="2" charset="0"/>
                      <a:ea typeface="Georgia"/>
                      <a:cs typeface="Georgia"/>
                    </a:defRPr>
                  </a:pPr>
                  <a:endParaRPr lang="en-US"/>
                </a:p>
              </c:txPr>
              <c:showLegendKey val="1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7B4-45C1-A158-F3E99A9CFF97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7B4-45C1-A158-F3E99A9CFF9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7B4-45C1-A158-F3E99A9CFF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>
          <a:latin typeface="Georgia" pitchFamily="2" charset="0"/>
        </a:defRPr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[MSN_Competitor_DataWeekly1.xlsx]Pivot!PivotTable5</c:name>
    <c:fmtId val="5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1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dirty="0">
                <a:solidFill>
                  <a:srgbClr val="00447C"/>
                </a:solidFill>
                <a:latin typeface="Georgia" panose="00000500000000000000" pitchFamily="2" charset="-93"/>
              </a:rPr>
              <a:t>ĐƯỜNG BIỂU DIỄN THẢO LUẬN</a:t>
            </a:r>
            <a:r>
              <a:rPr lang="en-US" sz="1000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MASAN VÀ CÁC ĐỐI THỦ</a:t>
            </a:r>
            <a:endParaRPr lang="en-US" sz="1000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15428133202099739"/>
          <c:y val="1.331076690027911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1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lang="en-US" sz="1000" b="1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Georgia"/>
                  <a:ea typeface="Georgia"/>
                  <a:cs typeface="Georgia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755857877285872E-2"/>
          <c:y val="0.23952151585434586"/>
          <c:w val="0.92369274175598903"/>
          <c:h val="0.63720742548815312"/>
        </c:manualLayout>
      </c:layout>
      <c:lineChart>
        <c:grouping val="standard"/>
        <c:varyColors val="0"/>
        <c:ser>
          <c:idx val="0"/>
          <c:order val="0"/>
          <c:tx>
            <c:strRef>
              <c:f>Pivot!$X$3:$X$4</c:f>
              <c:strCache>
                <c:ptCount val="1"/>
                <c:pt idx="0">
                  <c:v>MSN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Pivot!$X$5:$X$12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350</c:v>
                </c:pt>
                <c:pt idx="4">
                  <c:v>420</c:v>
                </c:pt>
                <c:pt idx="5">
                  <c:v>500</c:v>
                </c:pt>
                <c:pt idx="6">
                  <c:v>480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BC2-4138-914A-FF74F3ECE05C}"/>
            </c:ext>
          </c:extLst>
        </c:ser>
        <c:ser>
          <c:idx val="1"/>
          <c:order val="1"/>
          <c:tx>
            <c:strRef>
              <c:f>Pivot!$Y$3:$Y$4</c:f>
              <c:strCache>
                <c:ptCount val="1"/>
                <c:pt idx="0">
                  <c:v>Hòa Phát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Pivot!$Y$5:$Y$12</c:f>
              <c:numCache>
                <c:formatCode>General</c:formatCode>
                <c:ptCount val="7"/>
                <c:pt idx="0">
                  <c:v>889</c:v>
                </c:pt>
                <c:pt idx="1">
                  <c:v>910</c:v>
                </c:pt>
                <c:pt idx="2">
                  <c:v>464</c:v>
                </c:pt>
                <c:pt idx="3">
                  <c:v>520</c:v>
                </c:pt>
                <c:pt idx="4">
                  <c:v>600</c:v>
                </c:pt>
                <c:pt idx="5">
                  <c:v>700</c:v>
                </c:pt>
                <c:pt idx="6">
                  <c:v>680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BC2-4138-914A-FF74F3ECE05C}"/>
            </c:ext>
          </c:extLst>
        </c:ser>
        <c:ser>
          <c:idx val="2"/>
          <c:order val="2"/>
          <c:tx>
            <c:strRef>
              <c:f>Pivot!$Z$3:$Z$4</c:f>
              <c:strCache>
                <c:ptCount val="1"/>
                <c:pt idx="0">
                  <c:v>MWG</c:v>
                </c:pt>
              </c:strCache>
            </c:strRef>
          </c:tx>
          <c:spPr>
            <a:ln w="28575" cap="rnd">
              <a:solidFill>
                <a:srgbClr val="FF237B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Pivot!$Z$5:$Z$12</c:f>
              <c:numCache>
                <c:formatCode>General</c:formatCode>
                <c:ptCount val="7"/>
                <c:pt idx="0">
                  <c:v>665</c:v>
                </c:pt>
                <c:pt idx="1">
                  <c:v>1059</c:v>
                </c:pt>
                <c:pt idx="2">
                  <c:v>564</c:v>
                </c:pt>
                <c:pt idx="3">
                  <c:v>620</c:v>
                </c:pt>
                <c:pt idx="4">
                  <c:v>700</c:v>
                </c:pt>
                <c:pt idx="5">
                  <c:v>800</c:v>
                </c:pt>
                <c:pt idx="6">
                  <c:v>750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7BC2-4138-914A-FF74F3ECE05C}"/>
            </c:ext>
          </c:extLst>
        </c:ser>
        <c:ser>
          <c:idx val="3"/>
          <c:order val="3"/>
          <c:tx>
            <c:strRef>
              <c:f>Pivot!$AA$3:$AA$4</c:f>
              <c:strCache>
                <c:ptCount val="1"/>
                <c:pt idx="0">
                  <c:v>Vinamilk</c:v>
                </c:pt>
              </c:strCache>
            </c:strRef>
          </c:tx>
          <c:spPr>
            <a:ln w="28575" cap="rnd">
              <a:solidFill>
                <a:srgbClr val="AED8AF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Pivot!$AA$5:$AA$12</c:f>
              <c:numCache>
                <c:formatCode>General</c:formatCode>
                <c:ptCount val="7"/>
                <c:pt idx="0">
                  <c:v>1126</c:v>
                </c:pt>
                <c:pt idx="1">
                  <c:v>620</c:v>
                </c:pt>
                <c:pt idx="2">
                  <c:v>528</c:v>
                </c:pt>
                <c:pt idx="3">
                  <c:v>580</c:v>
                </c:pt>
                <c:pt idx="4">
                  <c:v>650</c:v>
                </c:pt>
                <c:pt idx="5">
                  <c:v>720</c:v>
                </c:pt>
                <c:pt idx="6">
                  <c:v>700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7BC2-4138-914A-FF74F3ECE05C}"/>
            </c:ext>
          </c:extLst>
        </c:ser>
        <c:ser>
          <c:idx val="4"/>
          <c:order val="4"/>
          <c:tx>
            <c:strRef>
              <c:f>Pivot!$AB$3:$AB$4</c:f>
              <c:strCache>
                <c:ptCount val="1"/>
                <c:pt idx="0">
                  <c:v>Vingroup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Pivot!$W$5:$W$12</c:f>
              <c:strCache>
                <c:ptCount val="7"/>
                <c:pt idx="0">
                  <c:v>5/28/2026</c:v>
                </c:pt>
                <c:pt idx="1">
                  <c:v>5/29/2026</c:v>
                </c:pt>
                <c:pt idx="2">
                  <c:v>5/30/2026</c:v>
                </c:pt>
                <c:pt idx="3">
                  <c:v>5/31/2026</c:v>
                </c:pt>
                <c:pt idx="4">
                  <c:v>6/1/2026</c:v>
                </c:pt>
                <c:pt idx="5">
                  <c:v>6/2/2026</c:v>
                </c:pt>
                <c:pt idx="6">
                  <c:v>6/3/2026</c:v>
                </c:pt>
              </c:strCache>
            </c:strRef>
          </c:cat>
          <c:val>
            <c:numRef>
              <c:f>Pivot!$AB$5:$AB$12</c:f>
              <c:numCache>
                <c:formatCode>General</c:formatCode>
                <c:ptCount val="7"/>
                <c:pt idx="0">
                  <c:v>5205</c:v>
                </c:pt>
                <c:pt idx="1">
                  <c:v>3620</c:v>
                </c:pt>
                <c:pt idx="2">
                  <c:v>2659</c:v>
                </c:pt>
                <c:pt idx="3">
                  <c:v>3000</c:v>
                </c:pt>
                <c:pt idx="4">
                  <c:v>3500</c:v>
                </c:pt>
                <c:pt idx="5">
                  <c:v>4000</c:v>
                </c:pt>
                <c:pt idx="6">
                  <c:v>3800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7BC2-4138-914A-FF74F3ECE0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33014488"/>
        <c:axId val="333018968"/>
      </c:lineChart>
      <c:dateAx>
        <c:axId val="333014488"/>
        <c:scaling>
          <c:orientation val="minMax"/>
        </c:scaling>
        <c:delete val="0"/>
        <c:axPos val="b"/>
        <c:numFmt formatCode="d/m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8968"/>
        <c:crosses val="autoZero"/>
        <c:auto val="0"/>
        <c:lblOffset val="100"/>
        <c:baseTimeUnit val="days"/>
      </c:dateAx>
      <c:valAx>
        <c:axId val="3330189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3014488"/>
        <c:crossesAt val="43466"/>
        <c:crossBetween val="between"/>
      </c:valAx>
      <c:spPr>
        <a:noFill/>
        <a:ln w="3175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3.6377132545931751E-2"/>
          <c:y val="0.113933273896245"/>
          <c:w val="0.96362287192892537"/>
          <c:h val="0.10179710278360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1000" b="1"/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000" b="0" i="0" u="none" strike="noStrike" kern="1200" spc="0" baseline="0">
                <a:solidFill>
                  <a:srgbClr val="00B0F0"/>
                </a:solidFill>
                <a:latin typeface="Georgia"/>
                <a:ea typeface="Georgia"/>
                <a:cs typeface="Georgia"/>
              </a:defRPr>
            </a:pPr>
            <a:r>
              <a:rPr lang="en-US" sz="1000" b="1" dirty="0">
                <a:solidFill>
                  <a:srgbClr val="00447C"/>
                </a:solidFill>
                <a:latin typeface="Georgia" panose="00000500000000000000" pitchFamily="2" charset="-93"/>
              </a:rPr>
              <a:t>TỔNG</a:t>
            </a:r>
            <a:r>
              <a:rPr lang="en-US" sz="1000" b="1" baseline="0" dirty="0">
                <a:solidFill>
                  <a:srgbClr val="00447C"/>
                </a:solidFill>
                <a:latin typeface="Georgia" panose="00000500000000000000" pitchFamily="2" charset="-93"/>
              </a:rPr>
              <a:t> THẢO LUẬN TRONG TUẦN</a:t>
            </a:r>
            <a:endParaRPr lang="en-US" sz="1000" b="1" dirty="0">
              <a:solidFill>
                <a:srgbClr val="00447C"/>
              </a:solidFill>
              <a:latin typeface="Georgia" panose="00000500000000000000" pitchFamily="2" charset="-93"/>
            </a:endParaRPr>
          </a:p>
        </c:rich>
      </c:tx>
      <c:layout>
        <c:manualLayout>
          <c:xMode val="edge"/>
          <c:yMode val="edge"/>
          <c:x val="0.31304855078752802"/>
          <c:y val="2.43556873642844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000" b="0" i="0" u="none" strike="noStrike" kern="1200" spc="0" baseline="0">
              <a:solidFill>
                <a:srgbClr val="00B0F0"/>
              </a:solidFill>
              <a:latin typeface="Georgia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7.1435626467744151E-2"/>
          <c:y val="0.16361157078140037"/>
          <c:w val="0.88214689261451995"/>
          <c:h val="0.6791457066229378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Pivot!$E$3</c:f>
              <c:strCache>
                <c:ptCount val="1"/>
                <c:pt idx="0">
                  <c:v>21/05 - 27/05</c:v>
                </c:pt>
              </c:strCache>
            </c:strRef>
          </c:tx>
          <c:spPr>
            <a:pattFill prst="ltDnDiag">
              <a:fgClr>
                <a:srgbClr val="7F7F7F"/>
              </a:fgClr>
              <a:bgClr>
                <a:schemeClr val="bg1"/>
              </a:bgClr>
            </a:patt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1-9176-44B7-B057-DA77B07136A9}"/>
              </c:ext>
            </c:extLst>
          </c:dPt>
          <c:dPt>
            <c:idx val="1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3-9176-44B7-B057-DA77B07136A9}"/>
              </c:ext>
            </c:extLst>
          </c:dPt>
          <c:dPt>
            <c:idx val="2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5-9176-44B7-B057-DA77B07136A9}"/>
              </c:ext>
            </c:extLst>
          </c:dPt>
          <c:dPt>
            <c:idx val="3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7-9176-44B7-B057-DA77B07136A9}"/>
              </c:ext>
            </c:extLst>
          </c:dPt>
          <c:dPt>
            <c:idx val="4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9-9176-44B7-B057-DA77B07136A9}"/>
              </c:ext>
            </c:extLst>
          </c:dPt>
          <c:dPt>
            <c:idx val="5"/>
            <c:invertIfNegative val="0"/>
            <c:bubble3D val="0"/>
            <c:spPr>
              <a:pattFill prst="ltDnDiag">
                <a:fgClr>
                  <a:srgbClr val="7F7F7F"/>
                </a:fgClr>
                <a:bgClr>
                  <a:schemeClr val="bg1"/>
                </a:bgClr>
              </a:pattFill>
              <a:ln>
                <a:noFill/>
              </a:ln>
              <a:effectLst/>
            </c:spPr>
            <c:extLst xmlns:c15="http://schemas.microsoft.com/office/drawing/2012/chart">
              <c:ext xmlns:c16="http://schemas.microsoft.com/office/drawing/2014/chart" uri="{C3380CC4-5D6E-409C-BE32-E72D297353CC}">
                <c16:uniqueId val="{0000000B-9176-44B7-B057-DA77B07136A9}"/>
              </c:ext>
            </c:extLst>
          </c:dPt>
          <c:dLbls>
            <c:dLbl>
              <c:idx val="0"/>
              <c:layout>
                <c:manualLayout>
                  <c:x val="0"/>
                  <c:y val="8.652640758707145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176-44B7-B057-DA77B07136A9}"/>
                </c:ext>
              </c:extLst>
            </c:dLbl>
            <c:dLbl>
              <c:idx val="4"/>
              <c:layout>
                <c:manualLayout>
                  <c:x val="0"/>
                  <c:y val="1.669981060398520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Pivot!$E$4:$E$8</c:f>
              <c:numCache>
                <c:formatCode>General</c:formatCode>
                <c:ptCount val="5"/>
                <c:pt idx="0">
                  <c:v>1870</c:v>
                </c:pt>
                <c:pt idx="1">
                  <c:v>25520</c:v>
                </c:pt>
                <c:pt idx="2">
                  <c:v>6939</c:v>
                </c:pt>
                <c:pt idx="3">
                  <c:v>5327</c:v>
                </c:pt>
                <c:pt idx="4">
                  <c:v>4100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9176-44B7-B057-DA77B07136A9}"/>
            </c:ext>
          </c:extLst>
        </c:ser>
        <c:ser>
          <c:idx val="1"/>
          <c:order val="1"/>
          <c:tx>
            <c:strRef>
              <c:f>Pivot!$F$3</c:f>
              <c:strCache>
                <c:ptCount val="1"/>
                <c:pt idx="0">
                  <c:v>28/05 - 03/06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447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9176-44B7-B057-DA77B07136A9}"/>
              </c:ext>
            </c:extLst>
          </c:dPt>
          <c:dPt>
            <c:idx val="1"/>
            <c:invertIfNegative val="0"/>
            <c:bubble3D val="0"/>
            <c:spPr>
              <a:solidFill>
                <a:srgbClr val="EC912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9176-44B7-B057-DA77B07136A9}"/>
              </c:ext>
            </c:extLst>
          </c:dPt>
          <c:dPt>
            <c:idx val="2"/>
            <c:invertIfNegative val="0"/>
            <c:bubble3D val="0"/>
            <c:spPr>
              <a:solidFill>
                <a:srgbClr val="FF237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2-9176-44B7-B057-DA77B07136A9}"/>
              </c:ext>
            </c:extLst>
          </c:dPt>
          <c:dPt>
            <c:idx val="3"/>
            <c:invertIfNegative val="0"/>
            <c:bubble3D val="0"/>
            <c:spPr>
              <a:solidFill>
                <a:srgbClr val="AED8A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9176-44B7-B057-DA77B07136A9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6-9176-44B7-B057-DA77B07136A9}"/>
              </c:ext>
            </c:extLst>
          </c:dPt>
          <c:dLbls>
            <c:dLbl>
              <c:idx val="1"/>
              <c:layout>
                <c:manualLayout>
                  <c:x val="2.412280701754385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9176-44B7-B057-DA77B07136A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Pivot!$D$4:$D$8</c:f>
              <c:strCache>
                <c:ptCount val="5"/>
                <c:pt idx="0">
                  <c:v>MSN</c:v>
                </c:pt>
                <c:pt idx="1">
                  <c:v>Vingroup</c:v>
                </c:pt>
                <c:pt idx="2">
                  <c:v>Hòa Phát</c:v>
                </c:pt>
                <c:pt idx="3">
                  <c:v>MWG</c:v>
                </c:pt>
                <c:pt idx="4">
                  <c:v>Vinamilk</c:v>
                </c:pt>
              </c:strCache>
            </c:strRef>
          </c:cat>
          <c:val>
            <c:numRef>
              <c:f>Pivot!$F$4:$F$8</c:f>
              <c:numCache>
                <c:formatCode>General</c:formatCode>
                <c:ptCount val="5"/>
                <c:pt idx="0">
                  <c:v>3681</c:v>
                </c:pt>
                <c:pt idx="1">
                  <c:v>25582</c:v>
                </c:pt>
                <c:pt idx="2">
                  <c:v>6126</c:v>
                </c:pt>
                <c:pt idx="3">
                  <c:v>5978</c:v>
                </c:pt>
                <c:pt idx="4">
                  <c:v>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9176-44B7-B057-DA77B07136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2525280"/>
        <c:axId val="331819288"/>
        <c:extLst/>
      </c:barChart>
      <c:catAx>
        <c:axId val="332525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331819288"/>
        <c:crosses val="autoZero"/>
        <c:auto val="1"/>
        <c:lblAlgn val="ctr"/>
        <c:lblOffset val="100"/>
        <c:noMultiLvlLbl val="0"/>
      </c:catAx>
      <c:valAx>
        <c:axId val="3318192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32525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022033430031767"/>
          <c:y val="0.14969271779065585"/>
          <c:w val="0.2332775590551181"/>
          <c:h val="0.1651881969980357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Sản phẩm &amp; Dịch vụ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0.06</c:v>
                </c:pt>
                <c:pt idx="1">
                  <c:v>0.015</c:v>
                </c:pt>
                <c:pt idx="2">
                  <c:v>0.014</c:v>
                </c:pt>
                <c:pt idx="3">
                  <c:v>0.022</c:v>
                </c:pt>
                <c:pt idx="4">
                  <c:v>0.01</c:v>
                </c:pt>
                <c:pt idx="5">
                  <c:v>0.008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5E-4792-A742-64F1C83DFC1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0.32</c:v>
                </c:pt>
                <c:pt idx="1">
                  <c:v>0.314</c:v>
                </c:pt>
                <c:pt idx="2">
                  <c:v>0.092</c:v>
                </c:pt>
                <c:pt idx="3">
                  <c:v>0.228</c:v>
                </c:pt>
                <c:pt idx="4">
                  <c:v>0.183</c:v>
                </c:pt>
                <c:pt idx="5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5E-4792-A742-64F1C83DFC1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0.025</c:v>
                </c:pt>
                <c:pt idx="1">
                  <c:v>0.002</c:v>
                </c:pt>
                <c:pt idx="2">
                  <c:v>0.005</c:v>
                </c:pt>
                <c:pt idx="3">
                  <c:v>0.001</c:v>
                </c:pt>
                <c:pt idx="4">
                  <c:v>0.003</c:v>
                </c:pt>
                <c:pt idx="5">
                  <c:v>0.002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5E-4792-A742-64F1C83DFC1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9D5E-4792-A742-64F1C83DFC1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9D5E-4792-A742-64F1C83DFC1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9D5E-4792-A742-64F1C83DFC12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9D5E-4792-A742-64F1C83DFC12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9D5E-4792-A742-64F1C83DFC12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9D5E-4792-A742-64F1C83DFC12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Ban lãnh đạo</c:v>
                </c:pt>
                <c:pt idx="2">
                  <c:v>Doanh thu &amp; Lợi nhuận</c:v>
                </c:pt>
                <c:pt idx="3">
                  <c:v>Thương hiệu &amp; Quảng cáo</c:v>
                </c:pt>
                <c:pt idx="4">
                  <c:v>Đề cập chung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0.405</c:v>
                </c:pt>
                <c:pt idx="1">
                  <c:v>0.331</c:v>
                </c:pt>
                <c:pt idx="2">
                  <c:v>0.111</c:v>
                </c:pt>
                <c:pt idx="3">
                  <c:v>0.251</c:v>
                </c:pt>
                <c:pt idx="4">
                  <c:v>0.196</c:v>
                </c:pt>
                <c:pt idx="5">
                  <c:v>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9D5E-4792-A742-64F1C83DFC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Cổ phiếu, chứng khoán</c:v>
                </c:pt>
                <c:pt idx="1">
                  <c:v>Sản phẩm &amp; Dịch vụ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2"/>
                <c:pt idx="0">
                  <c:v>0.082</c:v>
                </c:pt>
                <c:pt idx="1">
                  <c:v>0.043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51-4438-8552-6D473E2693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2"/>
                <c:pt idx="0">
                  <c:v>0.496</c:v>
                </c:pt>
                <c:pt idx="1">
                  <c:v>0.248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51-4438-8552-6D473E2693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2"/>
                <c:pt idx="0">
                  <c:v>0.058</c:v>
                </c:pt>
                <c:pt idx="1">
                  <c:v>0.003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51-4438-8552-6D473E2693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751-4438-8552-6D473E26933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6751-4438-8552-6D473E26933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6751-4438-8552-6D473E26933A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6751-4438-8552-6D473E26933A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6751-4438-8552-6D473E26933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6751-4438-8552-6D473E26933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Ban lãnh đạo</c:v>
                </c:pt>
                <c:pt idx="3">
                  <c:v>Đề cập chung</c:v>
                </c:pt>
                <c:pt idx="4">
                  <c:v>Thương hiệu &amp; Quảng cáo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2"/>
                <c:pt idx="0">
                  <c:v>0.636</c:v>
                </c:pt>
                <c:pt idx="1">
                  <c:v>0.294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6751-4438-8552-6D473E2693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0683407371817879"/>
          <c:y val="1.3387982573938254E-2"/>
          <c:w val="0.49316592628182127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Sản phẩm &amp; Dịch vụ</c:v>
                </c:pt>
                <c:pt idx="6">
                  <c:v>Khác</c:v>
                </c:pt>
              </c:strCache>
            </c:strRef>
          </c:cat>
          <c:val>
            <c:numRef>
              <c:f>Sheet1!$B$2:$B$8</c:f>
              <c:numCache>
                <c:formatCode>0.00%</c:formatCode>
                <c:ptCount val="7"/>
                <c:pt idx="0">
                  <c:v>0.098</c:v>
                </c:pt>
                <c:pt idx="1">
                  <c:v>0.055</c:v>
                </c:pt>
                <c:pt idx="2">
                  <c:v>0.017</c:v>
                </c:pt>
                <c:pt idx="3">
                  <c:v>0.025</c:v>
                </c:pt>
                <c:pt idx="4">
                  <c:v>0.008</c:v>
                </c:pt>
                <c:pt idx="5">
                  <c:v>0.012</c:v>
                </c:pt>
                <c:pt idx="6">
                  <c:v>0.005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B-47F1-B50C-D5DC29C6C70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Sheet1!$C$2:$C$8</c:f>
              <c:numCache>
                <c:formatCode>0.00%</c:formatCode>
                <c:ptCount val="7"/>
                <c:pt idx="0">
                  <c:v>0.395</c:v>
                </c:pt>
                <c:pt idx="1">
                  <c:v>0.148</c:v>
                </c:pt>
                <c:pt idx="2">
                  <c:v>0.182</c:v>
                </c:pt>
                <c:pt idx="3">
                  <c:v>0.18</c:v>
                </c:pt>
                <c:pt idx="4">
                  <c:v>0.09</c:v>
                </c:pt>
                <c:pt idx="5">
                  <c:v>0.13</c:v>
                </c:pt>
                <c:pt idx="6">
                  <c:v>0.075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B-47F1-B50C-D5DC29C6C70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Sheet1!$D$2:$D$8</c:f>
              <c:numCache>
                <c:formatCode>0.00%</c:formatCode>
                <c:ptCount val="7"/>
                <c:pt idx="0">
                  <c:v>0.028</c:v>
                </c:pt>
                <c:pt idx="1">
                  <c:v>0.004</c:v>
                </c:pt>
                <c:pt idx="2">
                  <c:v>0.0</c:v>
                </c:pt>
                <c:pt idx="3">
                  <c:v>0.001</c:v>
                </c:pt>
                <c:pt idx="4">
                  <c:v>0.001</c:v>
                </c:pt>
                <c:pt idx="5">
                  <c:v>0.002</c:v>
                </c:pt>
                <c:pt idx="6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E5B-47F1-B50C-D5DC29C6C70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DE5B-47F1-B50C-D5DC29C6C70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743905200943901"/>
                      <c:h val="0.1539931592206363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DE5B-47F1-B50C-D5DC29C6C707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DE5B-47F1-B50C-D5DC29C6C707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DE5B-47F1-B50C-D5DC29C6C707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DE5B-47F1-B50C-D5DC29C6C707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DE5B-47F1-B50C-D5DC29C6C707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So sánh thương hiệu</c:v>
                </c:pt>
                <c:pt idx="5">
                  <c:v>Ban lãnh đạo</c:v>
                </c:pt>
                <c:pt idx="6">
                  <c:v>So sánh thương hiệu</c:v>
                </c:pt>
              </c:strCache>
            </c:strRef>
          </c:cat>
          <c:val>
            <c:numRef>
              <c:f>Sheet1!$E$2:$E$8</c:f>
              <c:numCache>
                <c:formatCode>0.00%</c:formatCode>
                <c:ptCount val="7"/>
                <c:pt idx="0">
                  <c:v>0.521</c:v>
                </c:pt>
                <c:pt idx="1">
                  <c:v>0.207</c:v>
                </c:pt>
                <c:pt idx="2">
                  <c:v>0.199</c:v>
                </c:pt>
                <c:pt idx="3">
                  <c:v>0.206</c:v>
                </c:pt>
                <c:pt idx="4">
                  <c:v>0.099</c:v>
                </c:pt>
                <c:pt idx="5">
                  <c:v>0.144</c:v>
                </c:pt>
                <c:pt idx="6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E5B-47F1-B50C-D5DC29C6C7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0314519608638899"/>
          <c:y val="1.3387982573938254E-2"/>
          <c:w val="0.57519929815049919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Sản phẩm &amp; Dịch vụ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6"/>
                <c:pt idx="0">
                  <c:v>0.223</c:v>
                </c:pt>
                <c:pt idx="1">
                  <c:v>0.089</c:v>
                </c:pt>
                <c:pt idx="2">
                  <c:v>0.027</c:v>
                </c:pt>
                <c:pt idx="3">
                  <c:v>0.035</c:v>
                </c:pt>
                <c:pt idx="4">
                  <c:v>0.01</c:v>
                </c:pt>
                <c:pt idx="5">
                  <c:v>0.015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27-44BC-A66C-9D867DAB11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0.439</c:v>
                </c:pt>
                <c:pt idx="1">
                  <c:v>0.1</c:v>
                </c:pt>
                <c:pt idx="2">
                  <c:v>0.031</c:v>
                </c:pt>
                <c:pt idx="3">
                  <c:v>0.12</c:v>
                </c:pt>
                <c:pt idx="4">
                  <c:v>0.045</c:v>
                </c:pt>
                <c:pt idx="5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27-44BC-A66C-9D867DAB11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0.00%</c:formatCode>
                <c:ptCount val="6"/>
                <c:pt idx="0">
                  <c:v>0.025</c:v>
                </c:pt>
                <c:pt idx="1">
                  <c:v>0.001</c:v>
                </c:pt>
                <c:pt idx="2">
                  <c:v>0.001</c:v>
                </c:pt>
                <c:pt idx="3">
                  <c:v>0.001</c:v>
                </c:pt>
                <c:pt idx="4">
                  <c:v>0.0</c:v>
                </c:pt>
                <c:pt idx="5">
                  <c:v>0.001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627-44BC-A66C-9D867DAB11C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9AC2B4F8-CB58-486A-AA34-7777B6BD944E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7931257865339"/>
                      <c:h val="0.1282334443685559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627-44BC-A66C-9D867DAB11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C448F0-34F0-4D44-B8F3-B57EF0229D4F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5567951500367695"/>
                      <c:h val="0.12398012052661274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E627-44BC-A66C-9D867DAB11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758CD95-43E1-4A6D-A12E-D89912BDC4C4}" type="VALUE">
                      <a:rPr lang="en-US">
                        <a:latin typeface="Georgia" panose="00000500000000000000" pitchFamily="2" charset="-93"/>
                      </a:rPr>
                      <a:pPr/>
                      <a:t>[VALUE]</a:t>
                    </a:fld>
                    <a:endParaRPr lang="en-VN"/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51507368721003"/>
                      <c:h val="0.12398008358705701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627-44BC-A66C-9D867DAB11CE}"/>
                </c:ext>
              </c:extLst>
            </c:dLbl>
            <c:dLbl>
              <c:idx val="3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7006854531607005"/>
                      <c:h val="0.1313794845881758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E627-44BC-A66C-9D867DAB11CE}"/>
                </c:ext>
              </c:extLst>
            </c:dLbl>
            <c:dLbl>
              <c:idx val="4"/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9373077222925204"/>
                      <c:h val="0.1485272526886640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E627-44BC-A66C-9D867DAB11CE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vert="horz" anchorCtr="0"/>
                <a:lstStyle/>
                <a:p>
                  <a:pPr algn="l">
                    <a:defRPr sz="600" b="1">
                      <a:latin typeface="Georgia" panose="00000500000000000000" pitchFamily="2" charset="-93"/>
                    </a:defRPr>
                  </a:pPr>
                  <a:endParaRPr lang="en-US"/>
                </a:p>
              </c:txPr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  <c15:layout>
                    <c:manualLayout>
                      <c:w val="0.27006854531607005"/>
                      <c:h val="0.11622031328954018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8-E627-44BC-A66C-9D867DAB11C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l">
                  <a:defRPr sz="600" b="1">
                    <a:latin typeface="Georgia" panose="00000500000000000000" pitchFamily="2" charset="-93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Doanh thu &amp; Lợi nhuận</c:v>
                </c:pt>
                <c:pt idx="2">
                  <c:v>Đề cập chung</c:v>
                </c:pt>
                <c:pt idx="3">
                  <c:v>Thương hiệu &amp; Quảng cáo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0.687</c:v>
                </c:pt>
                <c:pt idx="1">
                  <c:v>0.19</c:v>
                </c:pt>
                <c:pt idx="2">
                  <c:v>0.059</c:v>
                </c:pt>
                <c:pt idx="3">
                  <c:v>0.156</c:v>
                </c:pt>
                <c:pt idx="4">
                  <c:v>0.055</c:v>
                </c:pt>
                <c:pt idx="5">
                  <c:v>0.096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E627-44BC-A66C-9D867DAB11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3146621031807353E-2"/>
          <c:y val="0.11642211258308295"/>
          <c:w val="0.91664746889376414"/>
          <c:h val="0.557697122826186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Pivot_Sentiment!$B$15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C6E-4DC8-93B1-38A7C0E56C2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C6E-4DC8-93B1-38A7C0E56C2A}"/>
                </c:ext>
              </c:extLst>
            </c:dLbl>
            <c:numFmt formatCode="0%" sourceLinked="0"/>
            <c:spPr>
              <a:solidFill>
                <a:srgbClr val="00B05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Pivot_Sentiment!$B$17:$B$20</c:f>
              <c:numCache>
                <c:formatCode>0%</c:formatCode>
                <c:ptCount val="4"/>
                <c:pt idx="0">
                  <c:v>0.165</c:v>
                </c:pt>
                <c:pt idx="1">
                  <c:v>0.144</c:v>
                </c:pt>
                <c:pt idx="2">
                  <c:v>0.234</c:v>
                </c:pt>
                <c:pt idx="3">
                  <c:v>0.13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6007-41D6-AC58-EB33B4DFFE3C}"/>
            </c:ext>
          </c:extLst>
        </c:ser>
        <c:ser>
          <c:idx val="1"/>
          <c:order val="1"/>
          <c:tx>
            <c:strRef>
              <c:f>Pivot_Sentiment!$C$15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A6A6A6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Pivot_Sentiment!$C$17:$C$20</c:f>
              <c:numCache>
                <c:formatCode>0%</c:formatCode>
                <c:ptCount val="4"/>
                <c:pt idx="0">
                  <c:v>0.774</c:v>
                </c:pt>
                <c:pt idx="1">
                  <c:v>0.833</c:v>
                </c:pt>
                <c:pt idx="2">
                  <c:v>0.711</c:v>
                </c:pt>
                <c:pt idx="3">
                  <c:v>0.82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6007-41D6-AC58-EB33B4DFFE3C}"/>
            </c:ext>
          </c:extLst>
        </c:ser>
        <c:ser>
          <c:idx val="2"/>
          <c:order val="2"/>
          <c:tx>
            <c:strRef>
              <c:f>Pivot_Sentiment!$D$15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solidFill>
                <a:srgbClr val="FF0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Pivot_Sentiment!$D$17:$D$20</c:f>
              <c:numCache>
                <c:formatCode>0%</c:formatCode>
                <c:ptCount val="4"/>
                <c:pt idx="0">
                  <c:v>0.061</c:v>
                </c:pt>
                <c:pt idx="1">
                  <c:v>0.023</c:v>
                </c:pt>
                <c:pt idx="2">
                  <c:v>0.055</c:v>
                </c:pt>
                <c:pt idx="3">
                  <c:v>0.05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66252367"/>
        <c:axId val="1566250927"/>
      </c:barChart>
      <c:lineChart>
        <c:grouping val="standard"/>
        <c:varyColors val="0"/>
        <c:ser>
          <c:idx val="3"/>
          <c:order val="3"/>
          <c:tx>
            <c:strRef>
              <c:f>Pivot_Sentiment!$E$15</c:f>
              <c:strCache>
                <c:ptCount val="1"/>
                <c:pt idx="0">
                  <c:v>NSR</c:v>
                </c:pt>
              </c:strCache>
            </c:strRef>
          </c:tx>
          <c:spPr>
            <a:ln w="28575" cap="rnd">
              <a:solidFill>
                <a:srgbClr val="0070C0"/>
              </a:solidFill>
              <a:round/>
            </a:ln>
            <a:effectLst/>
          </c:spPr>
          <c:marker>
            <c:symbol val="diamond"/>
            <c:size val="5"/>
            <c:spPr>
              <a:solidFill>
                <a:srgbClr val="0070C0"/>
              </a:solidFill>
              <a:ln w="9525">
                <a:solidFill>
                  <a:srgbClr val="0070C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rgbClr val="1B3866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Pivot_Sentiment!$A$17:$A$20</c:f>
              <c:strCache>
                <c:ptCount val="4"/>
                <c:pt idx="0">
                  <c:v>Hòa Phát</c:v>
                </c:pt>
                <c:pt idx="1">
                  <c:v>MWG</c:v>
                </c:pt>
                <c:pt idx="2">
                  <c:v>Vinamilk</c:v>
                </c:pt>
                <c:pt idx="3">
                  <c:v>Vingroup</c:v>
                </c:pt>
              </c:strCache>
              <c:extLst/>
            </c:strRef>
          </c:cat>
          <c:val>
            <c:numRef>
              <c:f>Pivot_Sentiment!$E$17:$E$20</c:f>
              <c:numCache>
                <c:formatCode>0%</c:formatCode>
                <c:ptCount val="4"/>
                <c:pt idx="0">
                  <c:v>0.461</c:v>
                </c:pt>
                <c:pt idx="1">
                  <c:v>0.724</c:v>
                </c:pt>
                <c:pt idx="2">
                  <c:v>0.616</c:v>
                </c:pt>
                <c:pt idx="3">
                  <c:v>0.445</c:v>
                </c:pt>
              </c:numCache>
              <c:extLst/>
            </c:numRef>
          </c:val>
          <c:smooth val="0"/>
          <c:extLst>
            <c:ext xmlns:c16="http://schemas.microsoft.com/office/drawing/2014/chart" uri="{C3380CC4-5D6E-409C-BE32-E72D297353CC}">
              <c16:uniqueId val="{00000003-6007-41D6-AC58-EB33B4DFFE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4531152"/>
        <c:axId val="874517712"/>
      </c:lineChart>
      <c:catAx>
        <c:axId val="1566252367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-93"/>
                <a:ea typeface="Georgia"/>
                <a:cs typeface="Georgia"/>
              </a:defRPr>
            </a:pPr>
            <a:endParaRPr lang="en-US"/>
          </a:p>
        </c:txPr>
        <c:crossAx val="1566250927"/>
        <c:crosses val="autoZero"/>
        <c:auto val="1"/>
        <c:lblAlgn val="ctr"/>
        <c:lblOffset val="100"/>
        <c:noMultiLvlLbl val="0"/>
      </c:catAx>
      <c:valAx>
        <c:axId val="1566250927"/>
        <c:scaling>
          <c:orientation val="minMax"/>
          <c:max val="2"/>
        </c:scaling>
        <c:delete val="0"/>
        <c:axPos val="l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4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1566252367"/>
        <c:crosses val="autoZero"/>
        <c:crossBetween val="between"/>
        <c:majorUnit val="0.2"/>
      </c:valAx>
      <c:valAx>
        <c:axId val="874517712"/>
        <c:scaling>
          <c:orientation val="minMax"/>
          <c:min val="-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" b="0" i="0" u="none" strike="noStrike" kern="1200" baseline="0">
                <a:solidFill>
                  <a:schemeClr val="bg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874531152"/>
        <c:crosses val="max"/>
        <c:crossBetween val="between"/>
      </c:valAx>
      <c:catAx>
        <c:axId val="8745311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451771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4223407015554489E-2"/>
          <c:y val="0.83974151437882394"/>
          <c:w val="0.98577659298444553"/>
          <c:h val="7.34820698849639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7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[MSN_Competitor_DataWeekly1.xlsx]Pivot!PivotTable4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34239229740572352"/>
          <c:y val="1.3387982573938254E-2"/>
          <c:w val="0.50552169029152183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Pivot!$E$49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C00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Pivot!$D$50:$D$55</c:f>
              <c:strCache>
                <c:ptCount val="5"/>
                <c:pt idx="0">
                  <c:v>thoibao.de</c:v>
                </c:pt>
                <c:pt idx="1">
                  <c:v>Quỹ Vì tương lai xanh</c:v>
                </c:pt>
                <c:pt idx="2">
                  <c:v>fireant.vn</c:v>
                </c:pt>
                <c:pt idx="3">
                  <c:v>baomoi.com</c:v>
                </c:pt>
                <c:pt idx="4">
                  <c:v>vnexpress.net</c:v>
                </c:pt>
              </c:strCache>
            </c:strRef>
          </c:cat>
          <c:val>
            <c:numRef>
              <c:f>Pivot!$E$50:$E$55</c:f>
              <c:numCache>
                <c:formatCode>General</c:formatCode>
                <c:ptCount val="5"/>
                <c:pt idx="0">
                  <c:v>2767</c:v>
                </c:pt>
                <c:pt idx="1">
                  <c:v>2414</c:v>
                </c:pt>
                <c:pt idx="2">
                  <c:v>1390</c:v>
                </c:pt>
                <c:pt idx="3">
                  <c:v>980</c:v>
                </c:pt>
                <c:pt idx="4">
                  <c:v>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B7-4051-ACBF-8EBBB97F1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[MSN_Competitor_DataWeekly1.xlsx]Pivot!PivotTable8</c:name>
    <c:fmtId val="55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5333745494013375"/>
          <c:y val="1.3387982573938254E-2"/>
          <c:w val="0.33054095323473814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Pivot!$H$49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FF237B"/>
            </a:solidFill>
          </c:spPr>
          <c:invertIfNegative val="0"/>
          <c:dLbls>
            <c:spPr>
              <a:solidFill>
                <a:srgbClr val="FF237B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Pivot!$G$50:$G$55</c:f>
              <c:strCache>
                <c:ptCount val="5"/>
                <c:pt idx="0">
                  <c:v>fireant.vn</c:v>
                </c:pt>
                <c:pt idx="1">
                  <c:v>baomoi.com</c:v>
                </c:pt>
                <c:pt idx="2">
                  <c:v>Tin Lề Dân</c:v>
                </c:pt>
                <c:pt idx="3">
                  <c:v>cafef.vn</c:v>
                </c:pt>
                <c:pt idx="4">
                  <c:v>vnexpress.net</c:v>
                </c:pt>
              </c:strCache>
            </c:strRef>
          </c:cat>
          <c:val>
            <c:numRef>
              <c:f>Pivot!$H$50:$H$55</c:f>
              <c:numCache>
                <c:formatCode>General</c:formatCode>
                <c:ptCount val="5"/>
                <c:pt idx="0">
                  <c:v>845</c:v>
                </c:pt>
                <c:pt idx="1">
                  <c:v>199</c:v>
                </c:pt>
                <c:pt idx="2">
                  <c:v>183</c:v>
                </c:pt>
                <c:pt idx="3">
                  <c:v>150</c:v>
                </c:pt>
                <c:pt idx="4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81-4081-BF48-3BBA4C60EC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[MSN_Competitor_DataWeekly1.xlsx]Pivot!PivotTable9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43290548274939827"/>
          <c:y val="3.2358209587499985E-2"/>
          <c:w val="0.3547113131853436"/>
          <c:h val="0.992725685008826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Pivot!$K$49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AED8A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Pivot!$J$50:$J$55</c:f>
              <c:strCache>
                <c:ptCount val="5"/>
                <c:pt idx="0">
                  <c:v>fireant.vn</c:v>
                </c:pt>
                <c:pt idx="1">
                  <c:v>quoctoan68c1</c:v>
                </c:pt>
                <c:pt idx="2">
                  <c:v>X-Leader</c:v>
                </c:pt>
                <c:pt idx="3">
                  <c:v>baomoi.com</c:v>
                </c:pt>
                <c:pt idx="4">
                  <c:v>cafef.vn</c:v>
                </c:pt>
              </c:strCache>
            </c:strRef>
          </c:cat>
          <c:val>
            <c:numRef>
              <c:f>Pivot!$K$50:$K$55</c:f>
              <c:numCache>
                <c:formatCode>General</c:formatCode>
                <c:ptCount val="5"/>
                <c:pt idx="0">
                  <c:v>525</c:v>
                </c:pt>
                <c:pt idx="1">
                  <c:v>469</c:v>
                </c:pt>
                <c:pt idx="2">
                  <c:v>192</c:v>
                </c:pt>
                <c:pt idx="3">
                  <c:v>180</c:v>
                </c:pt>
                <c:pt idx="4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CB1-4A71-AF33-F70E2F9238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[MSN_Competitor_DataWeekly1.xlsx]Pivot!PivotTable10</c:name>
    <c:fmtId val="54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917380671379382"/>
          <c:y val="1.3387982573938254E-2"/>
          <c:w val="0.414877416685931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Pivot!$N$49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bg2">
                <a:lumMod val="60000"/>
                <a:lumOff val="40000"/>
              </a:schemeClr>
            </a:solidFill>
          </c:spPr>
          <c:invertIfNegative val="0"/>
          <c:dLbls>
            <c:dLbl>
              <c:idx val="0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1D99-43FF-86F4-B4A771B1C3A8}"/>
                </c:ext>
              </c:extLst>
            </c:dLbl>
            <c:dLbl>
              <c:idx val="1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1D99-43FF-86F4-B4A771B1C3A8}"/>
                </c:ext>
              </c:extLst>
            </c:dLbl>
            <c:dLbl>
              <c:idx val="2"/>
              <c:layout>
                <c:manualLayout>
                  <c:x val="6.180875786297323E-3"/>
                  <c:y val="4.8139203176629732E-7"/>
                </c:manualLayout>
              </c:layout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D99-43FF-86F4-B4A771B1C3A8}"/>
                </c:ext>
              </c:extLst>
            </c:dLbl>
            <c:dLbl>
              <c:idx val="3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1D99-43FF-86F4-B4A771B1C3A8}"/>
                </c:ext>
              </c:extLst>
            </c:dLbl>
            <c:dLbl>
              <c:idx val="4"/>
              <c:spPr>
                <a:solidFill>
                  <a:schemeClr val="bg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>
                      <a:solidFill>
                        <a:schemeClr val="bg1"/>
                      </a:solidFill>
                      <a:latin typeface="Georgia" pitchFamily="2" charset="0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4-1D99-43FF-86F4-B4A771B1C3A8}"/>
                </c:ext>
              </c:extLst>
            </c:dLbl>
            <c:spPr>
              <a:solidFill>
                <a:srgbClr val="C00000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Pivot!$M$50:$M$55</c:f>
              <c:strCache>
                <c:ptCount val="5"/>
                <c:pt idx="0">
                  <c:v>fireant.vn</c:v>
                </c:pt>
                <c:pt idx="1">
                  <c:v>CHỨNG KHOÁN TÍM</c:v>
                </c:pt>
                <c:pt idx="2">
                  <c:v>Hồ Như Gấm</c:v>
                </c:pt>
                <c:pt idx="3">
                  <c:v>cafef.vn</c:v>
                </c:pt>
                <c:pt idx="4">
                  <c:v>vnexpress.net</c:v>
                </c:pt>
              </c:strCache>
            </c:strRef>
          </c:cat>
          <c:val>
            <c:numRef>
              <c:f>Pivot!$N$50:$N$55</c:f>
              <c:numCache>
                <c:formatCode>General</c:formatCode>
                <c:ptCount val="5"/>
                <c:pt idx="0">
                  <c:v>382</c:v>
                </c:pt>
                <c:pt idx="1">
                  <c:v>308</c:v>
                </c:pt>
                <c:pt idx="2">
                  <c:v>167</c:v>
                </c:pt>
                <c:pt idx="3">
                  <c:v>145</c:v>
                </c:pt>
                <c:pt idx="4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B9-41BA-B8A5-ECAE3F3846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vi-VN" sz="840" b="1" i="0" u="none" strike="noStrike" kern="1200" spc="0" baseline="0" dirty="0" smtClean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r>
              <a:rPr lang="vi-VN" sz="840" b="1" i="0" u="none" strike="noStrike" kern="1200" spc="0" baseline="0" dirty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rPr>
              <a:t>TỶ LỆ THẢO LUẬN THEO KÊNH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vi-VN" sz="840" b="1" i="0" u="none" strike="noStrike" kern="1200" spc="0" baseline="0" dirty="0" smtClean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3.9764450424767304E-2"/>
          <c:y val="0.16782911982925486"/>
          <c:w val="0.92709850755459333"/>
          <c:h val="0.6551376777842690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Sheet1!$B$2:$B$6</c:f>
              <c:numCache>
                <c:formatCode>0%;\-0%;""</c:formatCode>
                <c:ptCount val="5"/>
                <c:pt idx="0">
                  <c:v>0.588</c:v>
                </c:pt>
                <c:pt idx="1">
                  <c:v>0.53</c:v>
                </c:pt>
                <c:pt idx="2">
                  <c:v>0.332</c:v>
                </c:pt>
                <c:pt idx="3">
                  <c:v>0.41</c:v>
                </c:pt>
                <c:pt idx="4">
                  <c:v>0.48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87-49BC-9585-A8A3B3A4C90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Sheet1!$C$2:$C$6</c:f>
              <c:numCache>
                <c:formatCode>0%;\-0%;""</c:formatCode>
                <c:ptCount val="5"/>
                <c:pt idx="0">
                  <c:v>0.082</c:v>
                </c:pt>
                <c:pt idx="1">
                  <c:v>0.135</c:v>
                </c:pt>
                <c:pt idx="2">
                  <c:v>0.059</c:v>
                </c:pt>
                <c:pt idx="3">
                  <c:v>0.12</c:v>
                </c:pt>
                <c:pt idx="4">
                  <c:v>0.095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87-49BC-9585-A8A3B3A4C90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Forum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Sheet1!$D$2:$D$6</c:f>
              <c:numCache>
                <c:formatCode>0%;\-0%;""</c:formatCode>
                <c:ptCount val="5"/>
                <c:pt idx="0">
                  <c:v>0.001</c:v>
                </c:pt>
                <c:pt idx="1">
                  <c:v>0.001</c:v>
                </c:pt>
                <c:pt idx="2">
                  <c:v>0.0</c:v>
                </c:pt>
                <c:pt idx="3">
                  <c:v>0.002</c:v>
                </c:pt>
                <c:pt idx="4">
                  <c:v>0.001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187-49BC-9585-A8A3B3A4C90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Tiktok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Sheet1!$E$2:$E$6</c:f>
              <c:numCache>
                <c:formatCode>0%;\-0%;""</c:formatCode>
                <c:ptCount val="5"/>
                <c:pt idx="0">
                  <c:v>0.135</c:v>
                </c:pt>
                <c:pt idx="1">
                  <c:v>0.107</c:v>
                </c:pt>
                <c:pt idx="2">
                  <c:v>0.487</c:v>
                </c:pt>
                <c:pt idx="3">
                  <c:v>0.25</c:v>
                </c:pt>
                <c:pt idx="4">
                  <c:v>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187-49BC-9585-A8A3B3A4C90C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Linkedin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Sheet1!$F$2:$F$6</c:f>
              <c:numCache>
                <c:formatCode>0%;\-0%;""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0.001</c:v>
                </c:pt>
                <c:pt idx="4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187-49BC-9585-A8A3B3A4C90C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Sheet1!$G$2:$G$6</c:f>
              <c:numCache>
                <c:formatCode>0%;\-0%;""</c:formatCode>
                <c:ptCount val="5"/>
                <c:pt idx="0">
                  <c:v>0.155</c:v>
                </c:pt>
                <c:pt idx="1">
                  <c:v>0.136</c:v>
                </c:pt>
                <c:pt idx="2">
                  <c:v>0.088</c:v>
                </c:pt>
                <c:pt idx="3">
                  <c:v>0.14</c:v>
                </c:pt>
                <c:pt idx="4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187-49BC-9585-A8A3B3A4C90C}"/>
            </c:ext>
          </c:extLst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Threads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Sheet1!$H$2:$H$6</c:f>
              <c:numCache>
                <c:formatCode>0%;\-0%;""</c:formatCode>
                <c:ptCount val="5"/>
                <c:pt idx="0">
                  <c:v>0.007</c:v>
                </c:pt>
                <c:pt idx="1">
                  <c:v>0.002</c:v>
                </c:pt>
                <c:pt idx="2">
                  <c:v>0.002</c:v>
                </c:pt>
                <c:pt idx="3">
                  <c:v>0.004</c:v>
                </c:pt>
                <c:pt idx="4">
                  <c:v>0.003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187-49BC-9585-A8A3B3A4C90C}"/>
            </c:ext>
          </c:extLst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Youtube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700" b="1" i="0" u="none" strike="noStrike" kern="1200" baseline="0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Sheet1!$I$2:$I$6</c:f>
              <c:numCache>
                <c:formatCode>0%;\-0%;""</c:formatCode>
                <c:ptCount val="5"/>
                <c:pt idx="0">
                  <c:v>0.032</c:v>
                </c:pt>
                <c:pt idx="1">
                  <c:v>0.09</c:v>
                </c:pt>
                <c:pt idx="2">
                  <c:v>0.032</c:v>
                </c:pt>
                <c:pt idx="3">
                  <c:v>0.073</c:v>
                </c:pt>
                <c:pt idx="4">
                  <c:v>0.081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4187-49BC-9585-A8A3B3A4C90C}"/>
            </c:ext>
          </c:extLst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E-commerce</c:v>
                </c:pt>
              </c:strCache>
            </c:strRef>
          </c:tx>
          <c:spPr>
            <a:solidFill>
              <a:schemeClr val="accent3">
                <a:lumMod val="6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MSN</c:v>
                </c:pt>
                <c:pt idx="1">
                  <c:v>Hòa Phát</c:v>
                </c:pt>
                <c:pt idx="2">
                  <c:v>MWG</c:v>
                </c:pt>
                <c:pt idx="3">
                  <c:v>Vinamilk</c:v>
                </c:pt>
                <c:pt idx="4">
                  <c:v>Vingroup</c:v>
                </c:pt>
              </c:strCache>
            </c:strRef>
          </c:cat>
          <c:val>
            <c:numRef>
              <c:f>Sheet1!$J$2:$J$6</c:f>
              <c:numCache>
                <c:formatCode>0%;\-0%;""</c:formatCode>
                <c:ptCount val="5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98-4DBD-9B1B-11B76EB1602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74215992"/>
        <c:axId val="74221392"/>
      </c:barChart>
      <c:catAx>
        <c:axId val="74215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 algn="ctr">
              <a:defRPr lang="en-US" sz="700" b="0" i="0" u="none" strike="noStrike" kern="1200" baseline="0">
                <a:solidFill>
                  <a:schemeClr val="tx1"/>
                </a:solidFill>
                <a:latin typeface="Georgia" pitchFamily="2" charset="0"/>
                <a:ea typeface="Georgia"/>
                <a:cs typeface="Georgia"/>
              </a:defRPr>
            </a:pPr>
            <a:endParaRPr lang="en-US"/>
          </a:p>
        </c:txPr>
        <c:crossAx val="74221392"/>
        <c:crosses val="autoZero"/>
        <c:auto val="1"/>
        <c:lblAlgn val="ctr"/>
        <c:lblOffset val="100"/>
        <c:noMultiLvlLbl val="0"/>
      </c:catAx>
      <c:valAx>
        <c:axId val="74221392"/>
        <c:scaling>
          <c:orientation val="minMax"/>
        </c:scaling>
        <c:delete val="1"/>
        <c:axPos val="l"/>
        <c:numFmt formatCode="0%;\-0%;&quot;&quot;" sourceLinked="1"/>
        <c:majorTickMark val="none"/>
        <c:minorTickMark val="none"/>
        <c:tickLblPos val="nextTo"/>
        <c:crossAx val="74215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lang="en-US" sz="700" b="0" i="0" u="none" strike="noStrike" kern="1200" baseline="0">
              <a:solidFill>
                <a:schemeClr val="tx1"/>
              </a:solidFill>
              <a:latin typeface="Georgia" pitchFamily="2" charset="0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32594134898547E-2"/>
          <c:y val="0.24190525464873688"/>
          <c:w val="0.8766217419438771"/>
          <c:h val="0.4885947878999210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Sheet1!$B$2</c:f>
              <c:numCache>
                <c:formatCode>_(* #,##0_);_(* \(#,##0\);_(* "-"??_);_(@_)</c:formatCode>
                <c:ptCount val="1"/>
                <c:pt idx="0">
                  <c:v>0.052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A0-46FD-BF3B-EC32DF007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Gốc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Georgia" panose="00000500000000000000" pitchFamily="2" charset="-93"/>
                    <a:ea typeface="Georgia"/>
                    <a:cs typeface="Georgia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Negative post</c:v>
                </c:pt>
              </c:strCache>
            </c:strRef>
          </c:cat>
          <c:val>
            <c:numRef>
              <c:f>Sheet1!$C$2</c:f>
              <c:numCache>
                <c:formatCode>_(* #,##0_);_(* \(#,##0\);_(* "-"??_);_(@_)</c:formatCode>
                <c:ptCount val="1"/>
                <c:pt idx="0">
                  <c:v>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A0-46FD-BF3B-EC32DF0079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995559471"/>
        <c:axId val="995559951"/>
      </c:barChart>
      <c:catAx>
        <c:axId val="995559471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vi-VN" sz="700" b="1" i="0" u="none" strike="noStrike" kern="1200" spc="-11" baseline="0" dirty="0" smtClean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defRPr>
                </a:pPr>
                <a:r>
                  <a:rPr lang="vi-VN" sz="700" b="1" i="0" u="none" strike="noStrike" kern="1200" spc="-11" baseline="0" dirty="0">
                    <a:solidFill>
                      <a:srgbClr val="1B3866"/>
                    </a:solidFill>
                    <a:latin typeface="Georgia" panose="00000700000000000000" pitchFamily="2" charset="-93"/>
                    <a:ea typeface="Georgia" panose="020F0502020204030204" pitchFamily="34" charset="0"/>
                    <a:cs typeface="Georgia" panose="020F0502020204030204" pitchFamily="34" charset="0"/>
                  </a:rPr>
                  <a:t>THẢO LUẬN TIÊU CỰC KHÔNG CÒN HIỂN THỊ</a:t>
                </a:r>
              </a:p>
            </c:rich>
          </c:tx>
          <c:layout>
            <c:manualLayout>
              <c:xMode val="edge"/>
              <c:yMode val="edge"/>
              <c:x val="0.15541838069707986"/>
              <c:y val="0.115249798726630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vi-VN" sz="700" b="1" i="0" u="none" strike="noStrike" kern="1200" spc="-11" baseline="0" dirty="0" smtClean="0">
                  <a:solidFill>
                    <a:srgbClr val="1B3866"/>
                  </a:solidFill>
                  <a:latin typeface="Georgia" panose="00000700000000000000" pitchFamily="2" charset="-93"/>
                  <a:ea typeface="Georgia" panose="020F0502020204030204" pitchFamily="34" charset="0"/>
                  <a:cs typeface="Georgia" panose="020F0502020204030204" pitchFamily="34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crossAx val="995559951"/>
        <c:crosses val="autoZero"/>
        <c:auto val="1"/>
        <c:lblAlgn val="ctr"/>
        <c:lblOffset val="100"/>
        <c:noMultiLvlLbl val="0"/>
      </c:catAx>
      <c:valAx>
        <c:axId val="995559951"/>
        <c:scaling>
          <c:orientation val="minMax"/>
        </c:scaling>
        <c:delete val="1"/>
        <c:axPos val="l"/>
        <c:numFmt formatCode="_(* #,##0_);_(* \(#,##0\);_(* &quot;-&quot;??_);_(@_)" sourceLinked="1"/>
        <c:majorTickMark val="out"/>
        <c:minorTickMark val="none"/>
        <c:tickLblPos val="nextTo"/>
        <c:crossAx val="9955594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447456809129751"/>
          <c:y val="0.77222644232190185"/>
          <c:w val="0.57894268560901962"/>
          <c:h val="6.058966218787639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0000500000000000000" pitchFamily="2" charset="-93"/>
              <a:ea typeface="Georgia"/>
              <a:cs typeface="Georgia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5877009738757374"/>
          <c:y val="1.3387982573938254E-2"/>
          <c:w val="0.54122990261242632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Positive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2"/>
                <c:pt idx="0">
                  <c:v>Cổ phiếu, chứng khoán</c:v>
                </c:pt>
                <c:pt idx="1">
                  <c:v>Doanh thu &amp; Lợi nhuận</c:v>
                </c:pt>
              </c:strCache>
            </c:strRef>
          </c:cat>
          <c:val>
            <c:numRef>
              <c:f>Sheet1!$B$2:$B$7</c:f>
              <c:numCache>
                <c:formatCode>0.00%</c:formatCode>
                <c:ptCount val="2"/>
                <c:pt idx="0">
                  <c:v>0.041</c:v>
                </c:pt>
                <c:pt idx="1">
                  <c:v>0.005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AB-4DC7-99A4-0F9F89D4AC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Neutral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Sheet1!$C$2:$C$7</c:f>
              <c:numCache>
                <c:formatCode>0.00%</c:formatCode>
                <c:ptCount val="6"/>
                <c:pt idx="0">
                  <c:v>0.253</c:v>
                </c:pt>
                <c:pt idx="1">
                  <c:v>0.228</c:v>
                </c:pt>
                <c:pt idx="2">
                  <c:v>0.183</c:v>
                </c:pt>
                <c:pt idx="3">
                  <c:v>0.17</c:v>
                </c:pt>
                <c:pt idx="4">
                  <c:v>0.14</c:v>
                </c:pt>
                <c:pt idx="5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AB-4DC7-99A4-0F9F89D4AC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0.046</c:v>
                </c:pt>
                <c:pt idx="1">
                  <c:v>0.001</c:v>
                </c:pt>
                <c:pt idx="2">
                  <c:v>0.005</c:v>
                </c:pt>
                <c:pt idx="3">
                  <c:v>0.002</c:v>
                </c:pt>
                <c:pt idx="4">
                  <c:v>0.001</c:v>
                </c:pt>
                <c:pt idx="5">
                  <c:v>0.001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AB-4DC7-99A4-0F9F89D4AC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Grand Total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Cổ phiếu, chứng khoán</c:v>
                </c:pt>
                <c:pt idx="1">
                  <c:v>Thương hiệu &amp; Quảng cáo</c:v>
                </c:pt>
                <c:pt idx="2">
                  <c:v>Đề cập chung</c:v>
                </c:pt>
                <c:pt idx="3">
                  <c:v>Doanh thu &amp; Lợi nhuận</c:v>
                </c:pt>
                <c:pt idx="4">
                  <c:v>Ban lãnh đạo</c:v>
                </c:pt>
                <c:pt idx="5">
                  <c:v>So sánh thương hiệu</c:v>
                </c:pt>
              </c:strCache>
            </c:strRef>
          </c:cat>
          <c:val>
            <c:numRef>
              <c:f>Sheet1!$E$2:$E$7</c:f>
              <c:numCache>
                <c:formatCode>0.00%</c:formatCode>
                <c:ptCount val="6"/>
                <c:pt idx="0">
                  <c:v>0.34</c:v>
                </c:pt>
                <c:pt idx="1">
                  <c:v>0.251</c:v>
                </c:pt>
                <c:pt idx="2">
                  <c:v>0.198</c:v>
                </c:pt>
                <c:pt idx="3">
                  <c:v>0.19</c:v>
                </c:pt>
                <c:pt idx="4">
                  <c:v>0.149</c:v>
                </c:pt>
                <c:pt idx="5">
                  <c:v>0.106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AB-4DC7-99A4-0F9F89D4AC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[MSN_Competitor_DataWeekly1.xlsx]Pivot_Sentiment!PivotTable12</c:name>
    <c:fmtId val="64"/>
  </c:pivotSource>
  <c:chart>
    <c:title>
      <c:tx>
        <c:rich>
          <a:bodyPr/>
          <a:lstStyle/>
          <a:p>
            <a:pPr>
              <a:defRPr sz="700" b="0">
                <a:solidFill>
                  <a:srgbClr val="00703A"/>
                </a:solidFill>
                <a:latin typeface="Georgia" panose="00000700000000000000" pitchFamily="2" charset="-93"/>
              </a:defRPr>
            </a:pPr>
            <a:r>
              <a:rPr lang="en-US" sz="700" b="0" dirty="0">
                <a:solidFill>
                  <a:srgbClr val="00703A"/>
                </a:solidFill>
                <a:latin typeface="Georgia" panose="00000700000000000000" pitchFamily="2" charset="-93"/>
              </a:rPr>
              <a:t>SẮC</a:t>
            </a:r>
            <a:r>
              <a:rPr lang="en-US" sz="700" b="0" baseline="0" dirty="0">
                <a:solidFill>
                  <a:srgbClr val="00703A"/>
                </a:solidFill>
                <a:latin typeface="Georgia" panose="00000700000000000000" pitchFamily="2" charset="-93"/>
              </a:rPr>
              <a:t> THÁI THẢO LUẬN</a:t>
            </a:r>
            <a:endParaRPr lang="en-US" sz="700" b="0" dirty="0">
              <a:solidFill>
                <a:srgbClr val="00703A"/>
              </a:solidFill>
              <a:latin typeface="Georgia" panose="00000700000000000000" pitchFamily="2" charset="-93"/>
            </a:endParaRPr>
          </a:p>
        </c:rich>
      </c:tx>
      <c:layout>
        <c:manualLayout>
          <c:xMode val="edge"/>
          <c:yMode val="edge"/>
          <c:x val="0.28674868854124985"/>
          <c:y val="4.2281246863982325E-2"/>
        </c:manualLayout>
      </c:layout>
      <c:overlay val="0"/>
    </c:title>
    <c:autoTitleDeleted val="0"/>
    <c:pivotFmts>
      <c:pivotFmt>
        <c:idx val="0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wrap="square" lIns="38100" tIns="19050" rIns="38100" bIns="19050" anchor="ctr">
              <a:spAutoFit/>
            </a:bodyPr>
            <a:lstStyle/>
            <a:p>
              <a:pPr>
                <a:defRPr/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22540703127138656"/>
          <c:y val="0.15179776151949956"/>
          <c:w val="0.52659605881583982"/>
          <c:h val="0.67289433553184119"/>
        </c:manualLayout>
      </c:layout>
      <c:doughnutChart>
        <c:varyColors val="1"/>
        <c:ser>
          <c:idx val="0"/>
          <c:order val="0"/>
          <c:tx>
            <c:strRef>
              <c:f>Pivot_Sentiment!$B$26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rgbClr val="00B050"/>
              </a:solidFill>
            </c:spPr>
            <c:extLst>
              <c:ext xmlns:c16="http://schemas.microsoft.com/office/drawing/2014/chart" uri="{C3380CC4-5D6E-409C-BE32-E72D297353CC}">
                <c16:uniqueId val="{00000001-E2BF-43E2-8D73-51A45E2617D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6-E2BF-43E2-8D73-51A45E2617D6}"/>
              </c:ext>
            </c:extLst>
          </c:dPt>
          <c:dPt>
            <c:idx val="2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3-E2BF-43E2-8D73-51A45E2617D6}"/>
              </c:ext>
            </c:extLst>
          </c:dPt>
          <c:dLbls>
            <c:dLbl>
              <c:idx val="0"/>
              <c:layout>
                <c:manualLayout>
                  <c:x val="4.7624636862143924E-3"/>
                  <c:y val="-2.768382992640371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2BF-43E2-8D73-51A45E2617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lang="en-US" sz="1100" b="1" i="0" u="none" strike="noStrike" cap="none">
                    <a:solidFill>
                      <a:schemeClr val="bg1"/>
                    </a:solidFill>
                    <a:latin typeface="Georgia" pitchFamily="2" charset="0"/>
                    <a:ea typeface="Georgia"/>
                    <a:cs typeface="Georgia" panose="020B0604020202020204" pitchFamily="34" charset="0"/>
                    <a:sym typeface="Georgia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Pivot_Sentiment!$A$27:$A$30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Pivot_Sentiment!$B$27:$B$30</c:f>
              <c:numCache>
                <c:formatCode>0%</c:formatCode>
                <c:ptCount val="3"/>
                <c:pt idx="0">
                  <c:v>0.1</c:v>
                </c:pt>
                <c:pt idx="1">
                  <c:v>0.848</c:v>
                </c:pt>
                <c:pt idx="2">
                  <c:v>0.052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BF-43E2-8D73-51A45E2617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7"/>
        <c:extLst/>
      </c:doughnutChart>
      <c:spPr>
        <a:noFill/>
        <a:ln w="25400">
          <a:noFill/>
        </a:ln>
      </c:spPr>
    </c:plotArea>
    <c:legend>
      <c:legendPos val="b"/>
      <c:layout>
        <c:manualLayout>
          <c:xMode val="edge"/>
          <c:yMode val="edge"/>
          <c:x val="0.15291483402439057"/>
          <c:y val="0.8807426280101609"/>
          <c:w val="0.6193666523292759"/>
          <c:h val="8.7248232772294321E-2"/>
        </c:manualLayout>
      </c:layout>
      <c:overlay val="0"/>
      <c:txPr>
        <a:bodyPr/>
        <a:lstStyle/>
        <a:p>
          <a:pPr>
            <a:defRPr sz="700">
              <a:latin typeface="Georgia" panose="00000500000000000000" pitchFamily="2" charset="-93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 b="0" i="0">
          <a:solidFill>
            <a:schemeClr val="tx1"/>
          </a:solidFill>
          <a:latin typeface="Georgia"/>
          <a:ea typeface="Georgia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[MSN_Competitor_DataWeekly1.xlsx]Pivot!PivotTable7</c:name>
    <c:fmtId val="57"/>
  </c:pivotSource>
  <c:chart>
    <c:autoTitleDeleted val="1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53855341000267454"/>
          <c:y val="1.3387982573938254E-2"/>
          <c:w val="0.46144658999732546"/>
          <c:h val="0.98661218383578753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Pivot!$B$49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/>
            </a:solidFill>
          </c:spPr>
          <c:invertIfNegative val="0"/>
          <c:dLbls>
            <c:spPr>
              <a:solidFill>
                <a:schemeClr val="accent6"/>
              </a:solidFill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>
                    <a:solidFill>
                      <a:schemeClr val="bg1"/>
                    </a:solidFill>
                    <a:latin typeface="Georgia" pitchFamily="2" charset="0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Pivot!$A$50:$A$56</c:f>
              <c:strCache>
                <c:ptCount val="6"/>
                <c:pt idx="0">
                  <c:v>fireant.vn</c:v>
                </c:pt>
                <c:pt idx="1">
                  <c:v>TOP Comments</c:v>
                </c:pt>
                <c:pt idx="2">
                  <c:v>baomoi.com</c:v>
                </c:pt>
                <c:pt idx="3">
                  <c:v>cafef.vn</c:v>
                </c:pt>
                <c:pt idx="4">
                  <c:v>vnexpress.net</c:v>
                </c:pt>
                <c:pt idx="5">
                  <c:v>facebook.com</c:v>
                </c:pt>
              </c:strCache>
            </c:strRef>
          </c:cat>
          <c:val>
            <c:numRef>
              <c:f>Pivot!$B$50:$B$56</c:f>
              <c:numCache>
                <c:formatCode>General</c:formatCode>
                <c:ptCount val="6"/>
                <c:pt idx="0">
                  <c:v>571</c:v>
                </c:pt>
                <c:pt idx="1">
                  <c:v>42</c:v>
                </c:pt>
                <c:pt idx="2">
                  <c:v>38</c:v>
                </c:pt>
                <c:pt idx="3">
                  <c:v>30</c:v>
                </c:pt>
                <c:pt idx="4">
                  <c:v>25</c:v>
                </c:pt>
                <c:pt idx="5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28-4E6E-9E24-695F64C700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332182504"/>
        <c:axId val="332182896"/>
      </c:barChart>
      <c:catAx>
        <c:axId val="33218250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vert="horz"/>
          <a:lstStyle/>
          <a:p>
            <a:pPr algn="just">
              <a:defRPr sz="600" b="0">
                <a:latin typeface="Georgia" panose="00000500000000000000" pitchFamily="2" charset="-93"/>
              </a:defRPr>
            </a:pPr>
            <a:endParaRPr lang="en-US"/>
          </a:p>
        </c:txPr>
        <c:crossAx val="332182896"/>
        <c:crosses val="autoZero"/>
        <c:auto val="1"/>
        <c:lblAlgn val="ctr"/>
        <c:lblOffset val="100"/>
        <c:noMultiLvlLbl val="0"/>
      </c:catAx>
      <c:valAx>
        <c:axId val="332182896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3321825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>
          <a:latin typeface="Georgia" panose="020B0403030502040203" pitchFamily="34" charset="0"/>
        </a:defRPr>
      </a:pPr>
      <a:endParaRPr lang="en-US"/>
    </a:p>
  </c:txPr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</c:extLst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20B0004020202020204" pitchFamily="34" charset="0"/>
                <a:ea typeface="Georgia"/>
                <a:cs typeface="Georgia"/>
              </a:defRPr>
            </a:pPr>
            <a:r>
              <a:rPr lang="en-US" sz="1000" b="1" dirty="0">
                <a:latin typeface="Georgia" panose="00000500000000000000" pitchFamily="2" charset="0"/>
              </a:rPr>
              <a:t>XU</a:t>
            </a:r>
            <a:r>
              <a:rPr lang="en-US" sz="1000" b="1" baseline="0" dirty="0">
                <a:latin typeface="Georgia" panose="00000500000000000000" pitchFamily="2" charset="0"/>
              </a:rPr>
              <a:t> HƯỚNG THẢO LUẬN CỦA THƯƠNG HIỆU</a:t>
            </a:r>
            <a:endParaRPr lang="en-US" sz="1000" b="1" dirty="0">
              <a:latin typeface="Georgia" panose="00000500000000000000" pitchFamily="2" charset="0"/>
            </a:endParaRPr>
          </a:p>
        </c:rich>
      </c:tx>
      <c:layout>
        <c:manualLayout>
          <c:xMode val="edge"/>
          <c:yMode val="edge"/>
          <c:x val="0.19944785695110928"/>
          <c:y val="6.7876301578402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Georgia" panose="020B0004020202020204" pitchFamily="34" charset="0"/>
              <a:ea typeface="Georgia"/>
              <a:cs typeface="Georgia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248110149043678E-2"/>
          <c:y val="0.24559831956761258"/>
          <c:w val="0.95075188985095638"/>
          <c:h val="0.4887954064295813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Masan Consumer</c:v>
                </c:pt>
              </c:strCache>
            </c:strRef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Georgia" panose="00000500000000000000" pitchFamily="2" charset="0"/>
                    <a:ea typeface="Georgia"/>
                    <a:cs typeface="Georgia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Sheet1!$A$2:$A$8</c:f>
              <c:numCache>
                <c:formatCode>m/d/yyyy</c:formatCode>
                <c:ptCount val="7"/>
                <c:pt idx="0">
                  <c:v>46170</c:v>
                </c:pt>
                <c:pt idx="1">
                  <c:v>46171</c:v>
                </c:pt>
                <c:pt idx="2">
                  <c:v>46172</c:v>
                </c:pt>
                <c:pt idx="3">
                  <c:v>46173</c:v>
                </c:pt>
                <c:pt idx="4">
                  <c:v>46174</c:v>
                </c:pt>
                <c:pt idx="5">
                  <c:v>46175</c:v>
                </c:pt>
                <c:pt idx="6">
                  <c:v>46176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568</c:v>
                </c:pt>
                <c:pt idx="1">
                  <c:v>581</c:v>
                </c:pt>
                <c:pt idx="2">
                  <c:v>264</c:v>
                </c:pt>
                <c:pt idx="3">
                  <c:v>350</c:v>
                </c:pt>
                <c:pt idx="4">
                  <c:v>420</c:v>
                </c:pt>
                <c:pt idx="5">
                  <c:v>500</c:v>
                </c:pt>
                <c:pt idx="6">
                  <c:v>480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A98-40F1-ADE5-335C00790FD3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8531567"/>
        <c:axId val="852286879"/>
      </c:lineChart>
      <c:dateAx>
        <c:axId val="18531567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Georgia" panose="00000500000000000000" pitchFamily="2" charset="0"/>
                <a:ea typeface="Georgia"/>
                <a:cs typeface="Georgia"/>
              </a:defRPr>
            </a:pPr>
            <a:endParaRPr lang="en-US"/>
          </a:p>
        </c:txPr>
        <c:crossAx val="852286879"/>
        <c:crosses val="autoZero"/>
        <c:auto val="1"/>
        <c:lblOffset val="100"/>
        <c:baseTimeUnit val="days"/>
      </c:dateAx>
      <c:valAx>
        <c:axId val="852286879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5315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0">
          <a:latin typeface="Georgia" panose="020B000402020202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6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55847" y="5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6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Georgia"/>
      <a:defRPr sz="1400" b="0" i="0" u="none" strike="noStrike" cap="none">
        <a:solidFill>
          <a:srgbClr val="000000"/>
        </a:solidFill>
        <a:latin typeface="Georgia"/>
        <a:ea typeface="Georgia"/>
        <a:cs typeface="Georgia"/>
        <a:sym typeface="Georgia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E0FA-4677-ECE0-B208-F919933E0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96EE1D-72EB-26A9-3D59-DD5ED1BC43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929FC6-DFF8-6DF9-673B-ABE55A9EC5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CBB2-3E08-1DD6-9082-2D4D46675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164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3F39-F1DE-B983-F236-D3B65C045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5D9D1-EB31-252F-E105-EDF0D27A3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23182-3F5B-60E5-4662-252DA64F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E3A75B-56FE-82A9-0D13-FDFDE33AD4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2" name="Google Shape;632;p2:notes"/>
          <p:cNvSpPr txBox="1">
            <a:spLocks noGrp="1"/>
          </p:cNvSpPr>
          <p:nvPr>
            <p:ph type="body" idx="1"/>
          </p:nvPr>
        </p:nvSpPr>
        <p:spPr>
          <a:xfrm>
            <a:off x="680723" y="4721192"/>
            <a:ext cx="5445760" cy="4472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33" name="Google Shape;633;p2:notes"/>
          <p:cNvSpPr txBox="1">
            <a:spLocks noGrp="1"/>
          </p:cNvSpPr>
          <p:nvPr>
            <p:ph type="sldNum" idx="12"/>
          </p:nvPr>
        </p:nvSpPr>
        <p:spPr>
          <a:xfrm>
            <a:off x="3855847" y="9440646"/>
            <a:ext cx="2949786" cy="496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7400" tIns="48700" rIns="97400" bIns="48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Georgia"/>
              <a:buNone/>
              <a:tabLst/>
              <a:defRPr/>
            </a:pPr>
            <a:fld id="{00000000-1234-1234-1234-123412341234}" type="slidenum"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/>
                <a:cs typeface="Georgia"/>
                <a:sym typeface="Georgi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Georgia"/>
                <a:buNone/>
                <a:tabLst/>
                <a:defRPr/>
              </a:pPr>
              <a:t>3</a:t>
            </a:fld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eorgia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73310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F2B-74DE-C4C1-0CFF-A37C0782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511D4-4DE7-1136-BF26-96C82266A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D48158-CE29-4DCE-6334-8BFDEF8AE2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45C74-CBE1-AEF2-9CEE-F8068DB764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5551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E1FB9-6A79-3224-EBAE-97BE789C4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3C7B1-692C-8369-6B83-A675B2E3B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D72CC-3E38-7B32-6639-304A50495E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B4386-5577-9301-770D-13EEFE48D2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273877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>
            <a:extLst>
              <a:ext uri="{FF2B5EF4-FFF2-40B4-BE49-F238E27FC236}">
                <a16:creationId xmlns:a16="http://schemas.microsoft.com/office/drawing/2014/main" id="{6C3CB4E6-225D-CDC2-9CE2-0A989E03BAD6}"/>
              </a:ext>
            </a:extLst>
          </p:cNvPr>
          <p:cNvSpPr/>
          <p:nvPr userDrawn="1"/>
        </p:nvSpPr>
        <p:spPr>
          <a:xfrm>
            <a:off x="121836" y="889464"/>
            <a:ext cx="11833013" cy="0"/>
          </a:xfrm>
          <a:custGeom>
            <a:avLst/>
            <a:gdLst/>
            <a:ahLst/>
            <a:cxnLst/>
            <a:rect l="l" t="t" r="r" b="b"/>
            <a:pathLst>
              <a:path w="8874760">
                <a:moveTo>
                  <a:pt x="0" y="0"/>
                </a:moveTo>
                <a:lnTo>
                  <a:pt x="8874282" y="0"/>
                </a:lnTo>
              </a:path>
            </a:pathLst>
          </a:custGeom>
          <a:ln w="76199">
            <a:solidFill>
              <a:srgbClr val="163B66"/>
            </a:solidFill>
          </a:ln>
        </p:spPr>
        <p:txBody>
          <a:bodyPr wrap="square" lIns="0" tIns="0" rIns="0" bIns="0" rtlCol="0"/>
          <a:lstStyle/>
          <a:p>
            <a:endParaRPr sz="1867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8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54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Georgia"/>
              <a:buNone/>
              <a:defRPr sz="1600" b="0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88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88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88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9"/>
          <p:cNvSpPr txBox="1">
            <a:spLocks noGrp="1"/>
          </p:cNvSpPr>
          <p:nvPr>
            <p:ph type="title"/>
          </p:nvPr>
        </p:nvSpPr>
        <p:spPr>
          <a:xfrm>
            <a:off x="963084" y="4406904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Georgia"/>
              <a:buNone/>
              <a:defRPr sz="4000" b="1" cap="none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89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566" lvl="2" indent="-228594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754" lvl="3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5943" lvl="4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131" lvl="5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320" lvl="6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509" lvl="7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697" lvl="8" indent="-228594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89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89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0"/>
          <p:cNvSpPr txBox="1">
            <a:spLocks noGrp="1"/>
          </p:cNvSpPr>
          <p:nvPr>
            <p:ph type="body" idx="1"/>
          </p:nvPr>
        </p:nvSpPr>
        <p:spPr>
          <a:xfrm>
            <a:off x="609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3" name="Google Shape;113;p190"/>
          <p:cNvSpPr txBox="1">
            <a:spLocks noGrp="1"/>
          </p:cNvSpPr>
          <p:nvPr>
            <p:ph type="body" idx="2"/>
          </p:nvPr>
        </p:nvSpPr>
        <p:spPr>
          <a:xfrm>
            <a:off x="6197600" y="1600204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–"/>
              <a:defRPr sz="24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 sz="20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 sz="18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4" name="Google Shape;114;p19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9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1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91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91"/>
          <p:cNvSpPr txBox="1">
            <a:spLocks noGrp="1"/>
          </p:cNvSpPr>
          <p:nvPr>
            <p:ph type="body" idx="2"/>
          </p:nvPr>
        </p:nvSpPr>
        <p:spPr>
          <a:xfrm>
            <a:off x="609603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91"/>
          <p:cNvSpPr txBox="1">
            <a:spLocks noGrp="1"/>
          </p:cNvSpPr>
          <p:nvPr>
            <p:ph type="body" idx="3"/>
          </p:nvPr>
        </p:nvSpPr>
        <p:spPr>
          <a:xfrm>
            <a:off x="6193374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 b="1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 b="1"/>
            </a:lvl2pPr>
            <a:lvl3pPr marL="1371566" lvl="2" indent="-228594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3pPr>
            <a:lvl4pPr marL="1828754" lvl="3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4pPr>
            <a:lvl5pPr marL="2285943" lvl="4" indent="-228594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 b="1"/>
            </a:lvl5pPr>
            <a:lvl6pPr marL="2743131" lvl="5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320" lvl="6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509" lvl="7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697" lvl="8" indent="-228594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1"/>
          <p:cNvSpPr txBox="1">
            <a:spLocks noGrp="1"/>
          </p:cNvSpPr>
          <p:nvPr>
            <p:ph type="body" idx="4"/>
          </p:nvPr>
        </p:nvSpPr>
        <p:spPr>
          <a:xfrm>
            <a:off x="6193374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  <a:defRPr sz="2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42891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•"/>
              <a:defRPr sz="18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30192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Char char="»"/>
              <a:defRPr sz="16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320" lvl="6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509" lvl="7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697" lvl="8" indent="-330192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3" name="Google Shape;123;p191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1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bg>
      <p:bgPr>
        <a:solidFill>
          <a:srgbClr val="00457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0" y="2590801"/>
            <a:ext cx="4181507" cy="16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1" y="304800"/>
            <a:ext cx="3628571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3"/>
          <p:cNvSpPr txBox="1"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93"/>
          <p:cNvSpPr txBox="1">
            <a:spLocks noGrp="1"/>
          </p:cNvSpPr>
          <p:nvPr>
            <p:ph type="body" idx="1"/>
          </p:nvPr>
        </p:nvSpPr>
        <p:spPr>
          <a:xfrm>
            <a:off x="4766735" y="273057"/>
            <a:ext cx="6815668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40639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–"/>
              <a:defRPr sz="2800"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8099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Char char="•"/>
              <a:defRPr sz="2400"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 sz="2000"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320" lvl="6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509" lvl="7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697" lvl="8" indent="-355591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p193"/>
          <p:cNvSpPr txBox="1">
            <a:spLocks noGrp="1"/>
          </p:cNvSpPr>
          <p:nvPr>
            <p:ph type="body" idx="2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p193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93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4"/>
          <p:cNvSpPr txBox="1"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Georgia"/>
              <a:buNone/>
              <a:defRPr sz="2000" b="1"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94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94"/>
          <p:cNvSpPr txBox="1">
            <a:spLocks noGrp="1"/>
          </p:cNvSpPr>
          <p:nvPr>
            <p:ph type="body" idx="1"/>
          </p:nvPr>
        </p:nvSpPr>
        <p:spPr>
          <a:xfrm>
            <a:off x="2389717" y="5367342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228594" algn="l">
              <a:spcBef>
                <a:spcPts val="24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2pPr>
            <a:lvl3pPr marL="1371566" lvl="2" indent="-228594" algn="l"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3pPr>
            <a:lvl4pPr marL="1828754" lvl="3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4pPr>
            <a:lvl5pPr marL="2285943" lvl="4" indent="-228594" algn="l">
              <a:spcBef>
                <a:spcPts val="18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/>
            </a:lvl5pPr>
            <a:lvl6pPr marL="2743131" lvl="5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320" lvl="6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509" lvl="7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697" lvl="8" indent="-228594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p194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4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5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95"/>
          <p:cNvSpPr txBox="1">
            <a:spLocks noGrp="1"/>
          </p:cNvSpPr>
          <p:nvPr>
            <p:ph type="body" idx="1"/>
          </p:nvPr>
        </p:nvSpPr>
        <p:spPr>
          <a:xfrm rot="5400000">
            <a:off x="3782453" y="-1351507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195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195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6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96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lvl="0" indent="-228594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marL="914377" lvl="1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2pPr>
            <a:lvl3pPr marL="1371566" lvl="2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•"/>
              <a:defRPr>
                <a:latin typeface="Georgia"/>
                <a:ea typeface="Georgia"/>
                <a:cs typeface="Georgia"/>
                <a:sym typeface="Georgia"/>
              </a:defRPr>
            </a:lvl3pPr>
            <a:lvl4pPr marL="1828754" lvl="3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latin typeface="Georgia"/>
                <a:ea typeface="Georgia"/>
                <a:cs typeface="Georgia"/>
                <a:sym typeface="Georgia"/>
              </a:defRPr>
            </a:lvl4pPr>
            <a:lvl5pPr marL="2285943" lvl="4" indent="-355591" algn="l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Char char="»"/>
              <a:defRPr>
                <a:latin typeface="Georgia"/>
                <a:ea typeface="Georgia"/>
                <a:cs typeface="Georgia"/>
                <a:sym typeface="Georgia"/>
              </a:defRPr>
            </a:lvl5pPr>
            <a:lvl6pPr marL="2743131" lvl="5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320" lvl="6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509" lvl="7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697" lvl="8" indent="-34289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196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96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C92AFF-D785-1B1C-83AA-CD72AE47B4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5" name="01"/>
          <p:cNvSpPr txBox="1">
            <a:spLocks noGrp="1"/>
          </p:cNvSpPr>
          <p:nvPr>
            <p:ph type="sldNum" sz="quarter" idx="2"/>
          </p:nvPr>
        </p:nvSpPr>
        <p:spPr>
          <a:xfrm>
            <a:off x="11963736" y="13076008"/>
            <a:ext cx="444032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 panose="02040502050405020303" pitchFamily="18" charset="0"/>
                <a:ea typeface="Georgia"/>
                <a:cs typeface="Georgia"/>
                <a:sym typeface="Georgia"/>
              </a:defRPr>
            </a:lvl1pPr>
            <a:lvl2pPr marL="0" marR="0" indent="457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2pPr>
            <a:lvl3pPr marL="0" marR="0" indent="914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3pPr>
            <a:lvl4pPr marL="0" marR="0" indent="1371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4pPr>
            <a:lvl5pPr marL="0" marR="0" indent="18288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5pPr>
            <a:lvl6pPr marL="0" marR="0" indent="22860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6pPr>
            <a:lvl7pPr marL="0" marR="0" indent="27432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7pPr>
            <a:lvl8pPr marL="0" marR="0" indent="32004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8pPr>
            <a:lvl9pPr marL="0" marR="0" indent="3657600" algn="l" defTabSz="2438338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4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fld id="{86CB4B4D-7CA3-9044-876B-883B54F8677D}" type="slidenum">
              <a:rPr lang="en-VN" smtClean="0"/>
              <a:pPr/>
              <a:t>‹#›</a:t>
            </a:fld>
            <a:endParaRPr lang="en-VN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53984CA-EC91-BCD3-571C-132676CA334F}"/>
              </a:ext>
            </a:extLst>
          </p:cNvPr>
          <p:cNvCxnSpPr/>
          <p:nvPr userDrawn="1"/>
        </p:nvCxnSpPr>
        <p:spPr>
          <a:xfrm>
            <a:off x="9285606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A0D7A87-2F14-44FD-9340-C314F794C56B}"/>
              </a:ext>
            </a:extLst>
          </p:cNvPr>
          <p:cNvCxnSpPr/>
          <p:nvPr userDrawn="1"/>
        </p:nvCxnSpPr>
        <p:spPr>
          <a:xfrm flipH="1">
            <a:off x="6753861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999663-7BBE-631D-E88A-DF577FFC3447}"/>
              </a:ext>
            </a:extLst>
          </p:cNvPr>
          <p:cNvCxnSpPr/>
          <p:nvPr userDrawn="1"/>
        </p:nvCxnSpPr>
        <p:spPr>
          <a:xfrm>
            <a:off x="5953761" y="12700"/>
            <a:ext cx="2159635" cy="2159000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A7099-865C-2356-8FB8-F68FC188EE79}"/>
              </a:ext>
            </a:extLst>
          </p:cNvPr>
          <p:cNvCxnSpPr/>
          <p:nvPr userDrawn="1"/>
        </p:nvCxnSpPr>
        <p:spPr>
          <a:xfrm flipH="1">
            <a:off x="3422016" y="2171701"/>
            <a:ext cx="4681855" cy="4700905"/>
          </a:xfrm>
          <a:prstGeom prst="line">
            <a:avLst/>
          </a:prstGeom>
          <a:ln>
            <a:solidFill>
              <a:srgbClr val="223763">
                <a:alpha val="1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21219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0"/>
          <p:cNvSpPr txBox="1">
            <a:spLocks noGrp="1"/>
          </p:cNvSpPr>
          <p:nvPr>
            <p:ph type="title"/>
          </p:nvPr>
        </p:nvSpPr>
        <p:spPr>
          <a:xfrm>
            <a:off x="559033" y="44950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eorgia"/>
              <a:buNone/>
              <a:defRPr sz="2800" b="1" i="0" u="none" strike="noStrike" cap="none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00"/>
          <p:cNvSpPr txBox="1">
            <a:spLocks noGrp="1"/>
          </p:cNvSpPr>
          <p:nvPr>
            <p:ph type="body" idx="1"/>
          </p:nvPr>
        </p:nvSpPr>
        <p:spPr>
          <a:xfrm>
            <a:off x="559033" y="187191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None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–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Georgia"/>
              <a:buChar char="»"/>
              <a:defRPr sz="2000" b="0" i="0" u="none" strike="noStrike" cap="non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eorgia"/>
              <a:buChar char="•"/>
              <a:defRPr sz="20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2" name="Google Shape;92;p100"/>
          <p:cNvSpPr txBox="1">
            <a:spLocks noGrp="1"/>
          </p:cNvSpPr>
          <p:nvPr>
            <p:ph type="dt" idx="10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93" name="Google Shape;93;p100"/>
          <p:cNvSpPr txBox="1">
            <a:spLocks noGrp="1"/>
          </p:cNvSpPr>
          <p:nvPr>
            <p:ph type="ftr" idx="11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76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Georgia"/>
        <a:defRPr sz="1400" b="0" i="0" u="none" strike="noStrike" cap="none">
          <a:solidFill>
            <a:srgbClr val="000000"/>
          </a:solidFill>
          <a:latin typeface="Georgia"/>
          <a:ea typeface="Georgia"/>
          <a:cs typeface="Georgia"/>
          <a:sym typeface="Georgia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hyperlink" Target="https://www.facebook.com/CafeF/posts/pfbid0DuehWkUZwgWULGXik9BDJECsLP546br7NnhgD9EhTn3hKh5s8W4d5b1o44xBycR8l" TargetMode="External"/><Relationship Id="rId7" Type="http://schemas.openxmlformats.org/officeDocument/2006/relationships/image" Target="../media/image4.png"/><Relationship Id="rId12" Type="http://schemas.openxmlformats.org/officeDocument/2006/relationships/chart" Target="../charts/chart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USConsulateHCMC/posts/pfbid02C2f9SVzRqiysXT7UU23Hg6i4bPF279tEmWgt9naE74FTGivNCq1Q279nXR6Go8DRl" TargetMode="External"/><Relationship Id="rId11" Type="http://schemas.openxmlformats.org/officeDocument/2006/relationships/chart" Target="../charts/chart4.xml"/><Relationship Id="rId5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10" Type="http://schemas.openxmlformats.org/officeDocument/2006/relationships/chart" Target="../charts/chart3.xml"/><Relationship Id="rId4" Type="http://schemas.openxmlformats.org/officeDocument/2006/relationships/hyperlink" Target="https://www.dnse.com.vn/senses/tin-tuc/nguoc-dong-co-phieu-vinhomes-vhm-tang-kich-tran-trong-ngay-thi-truong-ruc-lua-35231127" TargetMode="External"/><Relationship Id="rId9" Type="http://schemas.openxmlformats.org/officeDocument/2006/relationships/chart" Target="../charts/chart2.xml"/></Relationships>
</file>

<file path=ppt/slides/_rels/slide2.xml.rels><?xml version="1.0" encoding="UTF-8"?><Relationships xmlns="http://schemas.openxmlformats.org/package/2006/relationships"><Relationship Id="rId8" Type="http://schemas.openxmlformats.org/officeDocument/2006/relationships/hyperlink" Target="https://nguoiquansat.vn/tien-phong-san-xuat-thep-ray-duong-sat-tai-viet-nam-hoa-phat-hpg-duoc-huong-dac-quyen-hiem-co-suot-10-nam-295316.html" TargetMode="External"/><Relationship Id="rId3" Type="http://schemas.openxmlformats.org/officeDocument/2006/relationships/chart" Target="../charts/chart6.xml"/><Relationship Id="rId7" Type="http://schemas.openxmlformats.org/officeDocument/2006/relationships/hyperlink" Target="https://www.dnse.com.vn/senses/tin-tuc/nguoc-dong-co-phieu-vinhomes-vhm-tang-kich-tran-trong-ngay-thi-truong-ruc-lua-35231127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facebook.com/CafeF/posts/pfbid0DuehWkUZwgWULGXik9BDJECsLP546br7NnhgD9EhTn3hKh5s8W4d5b1o44xBycR8l" TargetMode="External"/><Relationship Id="rId5" Type="http://schemas.openxmlformats.org/officeDocument/2006/relationships/chart" Target="../charts/chart8.xml"/><Relationship Id="rId10" Type="http://schemas.openxmlformats.org/officeDocument/2006/relationships/hyperlink" Target="https://www.facebook.com/USConsulateHCMC/posts/pfbid02C2f9SVzRqiysXT7UU23Hg6i4bPF279tEmWgt9naE74FTGivNCq1Q279nXR6Go8DRl" TargetMode="External"/><Relationship Id="rId4" Type="http://schemas.openxmlformats.org/officeDocument/2006/relationships/chart" Target="../charts/chart7.xml"/><Relationship Id="rId9" Type="http://schemas.openxmlformats.org/officeDocument/2006/relationships/hyperlink" Target="https://cafef.vn/chuyen-gia-fiingroup-chi-ten-15-co-phieu-co-co-hoi-tai-dinh-gia-nho-game-ipo-ban-von-va-tai-cau-truc-188260530224642797.chn" TargetMode="Externa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chart" Target="../charts/chart14.xml"/><Relationship Id="rId3" Type="http://schemas.openxmlformats.org/officeDocument/2006/relationships/chart" Target="../charts/chart9.xml"/><Relationship Id="rId7" Type="http://schemas.openxmlformats.org/officeDocument/2006/relationships/chart" Target="../charts/chart13.xml"/><Relationship Id="rId12" Type="http://schemas.openxmlformats.org/officeDocument/2006/relationships/chart" Target="../charts/chart1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2.xml"/><Relationship Id="rId11" Type="http://schemas.openxmlformats.org/officeDocument/2006/relationships/chart" Target="../charts/chart17.xml"/><Relationship Id="rId5" Type="http://schemas.openxmlformats.org/officeDocument/2006/relationships/chart" Target="../charts/chart11.xml"/><Relationship Id="rId10" Type="http://schemas.openxmlformats.org/officeDocument/2006/relationships/chart" Target="../charts/chart16.xml"/><Relationship Id="rId4" Type="http://schemas.openxmlformats.org/officeDocument/2006/relationships/chart" Target="../charts/chart10.xml"/><Relationship Id="rId9" Type="http://schemas.openxmlformats.org/officeDocument/2006/relationships/chart" Target="../charts/chart15.xml"/></Relationships>
</file>

<file path=ppt/slides/_rels/slide4.xml.rels><?xml version="1.0" encoding="UTF-8"?><Relationships xmlns="http://schemas.openxmlformats.org/package/2006/relationships"><Relationship Id="rId8" Type="http://schemas.openxmlformats.org/officeDocument/2006/relationships/chart" Target="../charts/chart21.xml"/><Relationship Id="rId3" Type="http://schemas.openxmlformats.org/officeDocument/2006/relationships/image" Target="../media/image5.png"/><Relationship Id="rId7" Type="http://schemas.openxmlformats.org/officeDocument/2006/relationships/chart" Target="../charts/chart20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chart" Target="../charts/chart19.xml"/><Relationship Id="rId5" Type="http://schemas.openxmlformats.org/officeDocument/2006/relationships/image" Target="../media/image6.png"/><Relationship Id="rId10" Type="http://schemas.openxmlformats.org/officeDocument/2006/relationships/chart" Target="../charts/chart23.xml"/><Relationship Id="rId4" Type="http://schemas.microsoft.com/office/2007/relationships/hdphoto" Target="../media/hdphoto1.wdp"/><Relationship Id="rId9" Type="http://schemas.openxmlformats.org/officeDocument/2006/relationships/chart" Target="../charts/chart22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hyperlink" Target="http://facebook.com/100262481679319_1662626715291297" TargetMode="External"/><Relationship Id="rId7" Type="http://schemas.openxmlformats.org/officeDocument/2006/relationships/hyperlink" Target="https://chuyendongthitruong.vn/masan-mat-6000-ty-von-hoa-sau-hon-1-thang-321520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thuongtruong24h.vn/khi-an-ninh-chuoi-cung-ung-tro-thanh-uu-tien-vonfram-ngoai-trung-quoc-duoc-tai-dinh-gia-ra-sao-a156439.html" TargetMode="External"/><Relationship Id="rId5" Type="http://schemas.openxmlformats.org/officeDocument/2006/relationships/hyperlink" Target="https://thuongtruong24h.vn/cuoc-dua-dam-bao-nguon-cung-khoang-san-chien-luoc-dang-tai-dinh-gia-nganh-vonfram-a156433.html" TargetMode="External"/><Relationship Id="rId4" Type="http://schemas.openxmlformats.org/officeDocument/2006/relationships/hyperlink" Target="https://vnfinance.vn/hon-1000-nhan-vien-cua-masan-consumer-sap-duoc-mua-co-phieu-esop-voi-gia-10000-dong-cp-72487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7F2B6-85CA-CBE0-FABB-022DE7528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B0296E-3CCC-0261-5074-9749AB82EBD8}"/>
              </a:ext>
            </a:extLst>
          </p:cNvPr>
          <p:cNvSpPr/>
          <p:nvPr/>
        </p:nvSpPr>
        <p:spPr>
          <a:xfrm>
            <a:off x="4283848" y="1380875"/>
            <a:ext cx="1529597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lang="en-US" sz="9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D11758-997A-DA3A-15CF-729988FC5CD8}"/>
              </a:ext>
            </a:extLst>
          </p:cNvPr>
          <p:cNvSpPr/>
          <p:nvPr/>
        </p:nvSpPr>
        <p:spPr>
          <a:xfrm>
            <a:off x="4227141" y="3405213"/>
            <a:ext cx="16855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Sắc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thái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1200" b="1" spc="-11" dirty="0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200" b="1" spc="-11" dirty="0" err="1">
                <a:solidFill>
                  <a:srgbClr val="00457C"/>
                </a:solidFill>
                <a:latin typeface="Georgia" panose="020F0502020204030204" pitchFamily="34" charset="0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endParaRPr lang="en-US" sz="1200" b="1" spc="-11" dirty="0">
              <a:solidFill>
                <a:srgbClr val="00457C"/>
              </a:solidFill>
              <a:latin typeface="Georgia" panose="020F0502020204030204" pitchFamily="34" charset="0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7AB8AAB-83BF-B93A-B257-B0C1F19C2E95}"/>
              </a:ext>
            </a:extLst>
          </p:cNvPr>
          <p:cNvSpPr/>
          <p:nvPr/>
        </p:nvSpPr>
        <p:spPr>
          <a:xfrm>
            <a:off x="4200459" y="1333577"/>
            <a:ext cx="3695754" cy="5218052"/>
          </a:xfrm>
          <a:prstGeom prst="roundRect">
            <a:avLst>
              <a:gd name="adj" fmla="val 2677"/>
            </a:avLst>
          </a:prstGeom>
          <a:noFill/>
          <a:ln w="12700">
            <a:solidFill>
              <a:schemeClr val="bg2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386893-620D-D15E-F822-8F47E8079880}"/>
              </a:ext>
            </a:extLst>
          </p:cNvPr>
          <p:cNvCxnSpPr>
            <a:cxnSpLocks/>
          </p:cNvCxnSpPr>
          <p:nvPr/>
        </p:nvCxnSpPr>
        <p:spPr>
          <a:xfrm>
            <a:off x="4291621" y="3353535"/>
            <a:ext cx="348530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214D81A-D234-5D5B-7386-259F4FE2D02C}"/>
              </a:ext>
            </a:extLst>
          </p:cNvPr>
          <p:cNvCxnSpPr>
            <a:cxnSpLocks/>
          </p:cNvCxnSpPr>
          <p:nvPr/>
        </p:nvCxnSpPr>
        <p:spPr>
          <a:xfrm>
            <a:off x="4291621" y="4984564"/>
            <a:ext cx="344893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3510;p235">
            <a:extLst>
              <a:ext uri="{FF2B5EF4-FFF2-40B4-BE49-F238E27FC236}">
                <a16:creationId xmlns:a16="http://schemas.microsoft.com/office/drawing/2014/main" id="{BECC039F-BAA9-B647-6B21-269A4506D211}"/>
              </a:ext>
            </a:extLst>
          </p:cNvPr>
          <p:cNvSpPr/>
          <p:nvPr/>
        </p:nvSpPr>
        <p:spPr>
          <a:xfrm>
            <a:off x="5437535" y="105669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ĐỐI THỦ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01041A-4078-F215-F2EE-2A7CAF4E0DA5}"/>
              </a:ext>
            </a:extLst>
          </p:cNvPr>
          <p:cNvSpPr/>
          <p:nvPr/>
        </p:nvSpPr>
        <p:spPr>
          <a:xfrm>
            <a:off x="9282538" y="971748"/>
            <a:ext cx="1292771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 defTabSz="1097280" fontAlgn="base">
              <a:spcBef>
                <a:spcPts val="720"/>
              </a:spcBef>
              <a:spcAft>
                <a:spcPct val="0"/>
              </a:spcAft>
            </a:pPr>
            <a:r>
              <a:rPr lang="en-US" b="1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ĐÚC KẾT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AB080E-C9AF-30C0-6EE5-761E596765AB}"/>
              </a:ext>
            </a:extLst>
          </p:cNvPr>
          <p:cNvSpPr/>
          <p:nvPr/>
        </p:nvSpPr>
        <p:spPr>
          <a:xfrm>
            <a:off x="7974517" y="1333576"/>
            <a:ext cx="3941134" cy="5218052"/>
          </a:xfrm>
          <a:prstGeom prst="rect">
            <a:avLst/>
          </a:prstGeom>
          <a:noFill/>
          <a:ln w="3175">
            <a:solidFill>
              <a:srgbClr val="0045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vi-VN" sz="1000" b="1" spc="-13" dirty="0">
                <a:solidFill>
                  <a:srgbClr val="163B66"/>
                </a:solidFill>
              </a:rPr>
              <a:t>Masan </a:t>
            </a:r>
            <a:r>
              <a:rPr lang="en-US" sz="1000" b="1" spc="-13" dirty="0" err="1">
                <a:solidFill>
                  <a:srgbClr val="163B66"/>
                </a:solidFill>
              </a:rPr>
              <a:t>cho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hoạt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hướng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người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dùng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dịch</a:t>
            </a:r>
            <a:r>
              <a:rPr lang="en-US" sz="1000" b="1" spc="-13" dirty="0">
                <a:solidFill>
                  <a:srgbClr val="163B66"/>
                </a:solidFill>
              </a:rPr>
              <a:t> Phúc Long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nhãn</a:t>
            </a:r>
            <a:r>
              <a:rPr lang="en-US" sz="1000" b="1" spc="-13" dirty="0">
                <a:solidFill>
                  <a:srgbClr val="163B66"/>
                </a:solidFill>
              </a:rPr>
              <a:t> Masan Consumer,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đòn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bẩy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mở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rộng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chúng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ngoài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đầu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tư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duy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nhịp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nội</a:t>
            </a:r>
            <a:r>
              <a:rPr lang="en-US" sz="1000" b="1" spc="-13" dirty="0">
                <a:solidFill>
                  <a:srgbClr val="163B66"/>
                </a:solidFill>
              </a:rPr>
              <a:t> dung </a:t>
            </a:r>
            <a:r>
              <a:rPr lang="en-US" sz="1000" b="1" spc="-13" dirty="0" err="1">
                <a:solidFill>
                  <a:srgbClr val="163B66"/>
                </a:solidFill>
              </a:rPr>
              <a:t>thương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hiệu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đều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đặn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biến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thành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hình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ảnh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ổn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thay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vì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tăng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nhất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endParaRPr lang="vi-VN" sz="1000" b="1" spc="-13" dirty="0">
              <a:solidFill>
                <a:srgbClr val="163B66"/>
              </a:solidFill>
            </a:endParaRPr>
          </a:p>
          <a:p>
            <a:pPr marL="171450" indent="-171450" algn="just" defTabSz="1097280" fontAlgn="base">
              <a:lnSpc>
                <a:spcPct val="200000"/>
              </a:lnSpc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1000" b="1" spc="-13" dirty="0">
                <a:solidFill>
                  <a:srgbClr val="163B66"/>
                </a:solidFill>
              </a:rPr>
              <a:t>Song </a:t>
            </a:r>
            <a:r>
              <a:rPr lang="en-US" sz="1000" b="1" spc="-13" dirty="0" err="1">
                <a:solidFill>
                  <a:srgbClr val="163B66"/>
                </a:solidFill>
              </a:rPr>
              <a:t>song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cần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xử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sớm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nóng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tập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phần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tiêu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cực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tuần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này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gồm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tin "</a:t>
            </a:r>
            <a:r>
              <a:rPr lang="en-US" sz="1000" b="1" spc="-13" dirty="0" err="1">
                <a:solidFill>
                  <a:srgbClr val="163B66"/>
                </a:solidFill>
              </a:rPr>
              <a:t>mất</a:t>
            </a:r>
            <a:r>
              <a:rPr lang="en-US" sz="1000" b="1" spc="-13" dirty="0">
                <a:solidFill>
                  <a:srgbClr val="163B66"/>
                </a:solidFill>
              </a:rPr>
              <a:t> 6.000 </a:t>
            </a:r>
            <a:r>
              <a:rPr lang="en-US" sz="1000" b="1" spc="-13" dirty="0" err="1">
                <a:solidFill>
                  <a:srgbClr val="163B66"/>
                </a:solidFill>
              </a:rPr>
              <a:t>tỷ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vốn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hóa</a:t>
            </a:r>
            <a:r>
              <a:rPr lang="en-US" sz="1000" b="1" spc="-13" dirty="0">
                <a:solidFill>
                  <a:srgbClr val="163B66"/>
                </a:solidFill>
              </a:rPr>
              <a:t>"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luận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quanh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đợt</a:t>
            </a:r>
            <a:r>
              <a:rPr lang="en-US" sz="1000" b="1" spc="-13" dirty="0">
                <a:solidFill>
                  <a:srgbClr val="163B66"/>
                </a:solidFill>
              </a:rPr>
              <a:t> ESOP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thấp</a:t>
            </a:r>
            <a:r>
              <a:rPr lang="en-US" sz="1000" b="1" spc="-13" dirty="0">
                <a:solidFill>
                  <a:srgbClr val="163B66"/>
                </a:solidFill>
              </a:rPr>
              <a:t>. Masan </a:t>
            </a:r>
            <a:r>
              <a:rPr lang="en-US" sz="1000" b="1" spc="-13" dirty="0" err="1">
                <a:solidFill>
                  <a:srgbClr val="163B66"/>
                </a:solidFill>
              </a:rPr>
              <a:t>nên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truyền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thông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minh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bạch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khoảng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so </a:t>
            </a:r>
            <a:r>
              <a:rPr lang="en-US" sz="1000" b="1" spc="-13" dirty="0" err="1">
                <a:solidFill>
                  <a:srgbClr val="163B66"/>
                </a:solidFill>
              </a:rPr>
              <a:t>với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trị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tài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sản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và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lợi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ích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của</a:t>
            </a:r>
            <a:r>
              <a:rPr lang="en-US" sz="1000" b="1" spc="-13" dirty="0">
                <a:solidFill>
                  <a:srgbClr val="163B66"/>
                </a:solidFill>
              </a:rPr>
              <a:t> ESOP, </a:t>
            </a:r>
            <a:r>
              <a:rPr lang="en-US" sz="1000" b="1" spc="-13" dirty="0" err="1">
                <a:solidFill>
                  <a:srgbClr val="163B66"/>
                </a:solidFill>
              </a:rPr>
              <a:t>đồng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thời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khuếch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các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điểm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sáng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có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thật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như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việc</a:t>
            </a:r>
            <a:r>
              <a:rPr lang="en-US" sz="1000" b="1" spc="-13" dirty="0">
                <a:solidFill>
                  <a:srgbClr val="163B66"/>
                </a:solidFill>
              </a:rPr>
              <a:t> MSR </a:t>
            </a:r>
            <a:r>
              <a:rPr lang="en-US" sz="1000" b="1" spc="-13" dirty="0" err="1">
                <a:solidFill>
                  <a:srgbClr val="163B66"/>
                </a:solidFill>
              </a:rPr>
              <a:t>được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tái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định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nhờ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vị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thế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vonfram</a:t>
            </a:r>
            <a:r>
              <a:rPr lang="en-US" sz="1000" b="1" spc="-13" dirty="0">
                <a:solidFill>
                  <a:srgbClr val="163B66"/>
                </a:solidFill>
              </a:rPr>
              <a:t>, </a:t>
            </a:r>
            <a:r>
              <a:rPr lang="en-US" sz="1000" b="1" spc="-13" dirty="0" err="1">
                <a:solidFill>
                  <a:srgbClr val="163B66"/>
                </a:solidFill>
              </a:rPr>
              <a:t>để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câu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chuyện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nền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tảng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đủ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sức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lấn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át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tâm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lý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sốt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ruột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về</a:t>
            </a:r>
            <a:r>
              <a:rPr lang="en-US" sz="1000" b="1" spc="-13" dirty="0">
                <a:solidFill>
                  <a:srgbClr val="163B66"/>
                </a:solidFill>
              </a:rPr>
              <a:t> </a:t>
            </a:r>
            <a:r>
              <a:rPr lang="en-US" sz="1000" b="1" spc="-13" dirty="0" err="1">
                <a:solidFill>
                  <a:srgbClr val="163B66"/>
                </a:solidFill>
              </a:rPr>
              <a:t>giá</a:t>
            </a:r>
            <a:endParaRPr lang="vi-VN" sz="1000" b="1" spc="-13" dirty="0">
              <a:solidFill>
                <a:srgbClr val="163B66"/>
              </a:solidFill>
            </a:endParaRPr>
          </a:p>
        </p:txBody>
      </p:sp>
      <p:sp>
        <p:nvSpPr>
          <p:cNvPr id="15" name="Rounded Rectangle 3">
            <a:extLst>
              <a:ext uri="{FF2B5EF4-FFF2-40B4-BE49-F238E27FC236}">
                <a16:creationId xmlns:a16="http://schemas.microsoft.com/office/drawing/2014/main" id="{52E44557-5162-A283-A7B7-6D10FA71F620}"/>
              </a:ext>
            </a:extLst>
          </p:cNvPr>
          <p:cNvSpPr/>
          <p:nvPr/>
        </p:nvSpPr>
        <p:spPr>
          <a:xfrm>
            <a:off x="183003" y="1333576"/>
            <a:ext cx="3805816" cy="5218053"/>
          </a:xfrm>
          <a:prstGeom prst="roundRect">
            <a:avLst>
              <a:gd name="adj" fmla="val 2677"/>
            </a:avLst>
          </a:prstGeom>
          <a:noFill/>
          <a:ln w="12700">
            <a:solidFill>
              <a:srgbClr val="00457C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79993" tIns="89999" rIns="179993" bIns="89999" rtlCol="0" anchor="ctr"/>
          <a:lstStyle/>
          <a:p>
            <a:pPr algn="ctr" defTabSz="906295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E7E6E6">
                  <a:lumMod val="50000"/>
                </a:srgbClr>
              </a:solidFill>
              <a:latin typeface="Georgia" panose="00000500000000000000" pitchFamily="2" charset="0"/>
              <a:cs typeface="Georgia" panose="020F050202020403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097CBE-7F0D-0C50-2FDB-CE38F3DF0E1D}"/>
              </a:ext>
            </a:extLst>
          </p:cNvPr>
          <p:cNvSpPr/>
          <p:nvPr/>
        </p:nvSpPr>
        <p:spPr>
          <a:xfrm>
            <a:off x="211320" y="1352761"/>
            <a:ext cx="2276195" cy="10849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Tổng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quan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  <a:endParaRPr kumimoji="0" lang="en-US" sz="105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algn="just"/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Từ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28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/</a:t>
            </a:r>
            <a:r>
              <a:rPr kumimoji="0" lang="vi-VN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05 </a:t>
            </a:r>
            <a:r>
              <a:rPr kumimoji="0" lang="en-US" sz="9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đến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03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/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06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, 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Masan Group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đã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ghi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nhận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3,681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thảo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B0502040204020203" pitchFamily="34" charset="0"/>
                <a:sym typeface="Georgia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Đa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số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là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tin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đề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cập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về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chứng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khoán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cổ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phiếu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.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</a:p>
          <a:p>
            <a:pPr algn="just"/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tích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10</a:t>
            </a:r>
            <a:r>
              <a:rPr lang="en-US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%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thảo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luận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tiêu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cực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chiếm</a:t>
            </a:r>
            <a:r>
              <a:rPr lang="en-US" sz="900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 </a:t>
            </a:r>
            <a:r>
              <a:rPr lang="vi-VN" sz="900" b="1" dirty="0">
                <a:solidFill>
                  <a:prstClr val="black"/>
                </a:solidFill>
                <a:latin typeface="Georgia" panose="00000500000000000000" pitchFamily="2" charset="-93"/>
                <a:cs typeface="Georgia" panose="020B0502040204020203" pitchFamily="34" charset="0"/>
              </a:rPr>
              <a:t>5.2%</a:t>
            </a:r>
            <a:endParaRPr kumimoji="0" 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0000500000000000000" pitchFamily="2" charset="-93"/>
              <a:cs typeface="Georgia" panose="020B0502040204020203" pitchFamily="34" charset="0"/>
              <a:sym typeface="Georgia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E0320DC-5A04-4621-7F6C-1EC71C2A995D}"/>
              </a:ext>
            </a:extLst>
          </p:cNvPr>
          <p:cNvCxnSpPr>
            <a:cxnSpLocks/>
          </p:cNvCxnSpPr>
          <p:nvPr/>
        </p:nvCxnSpPr>
        <p:spPr>
          <a:xfrm>
            <a:off x="304225" y="4984564"/>
            <a:ext cx="3585792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821F79-10BB-A891-2541-95FEE0E6B7A0}"/>
              </a:ext>
            </a:extLst>
          </p:cNvPr>
          <p:cNvCxnSpPr>
            <a:cxnSpLocks/>
          </p:cNvCxnSpPr>
          <p:nvPr/>
        </p:nvCxnSpPr>
        <p:spPr>
          <a:xfrm>
            <a:off x="225383" y="3364769"/>
            <a:ext cx="366463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14D0153-8FD8-E057-2097-B297AEDC4B80}"/>
              </a:ext>
            </a:extLst>
          </p:cNvPr>
          <p:cNvSpPr/>
          <p:nvPr/>
        </p:nvSpPr>
        <p:spPr>
          <a:xfrm>
            <a:off x="211320" y="3427438"/>
            <a:ext cx="1552938" cy="1050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Nền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tảng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 </a:t>
            </a:r>
          </a:p>
          <a:p>
            <a:pPr algn="just">
              <a:lnSpc>
                <a:spcPct val="150000"/>
              </a:lnSpc>
            </a:pPr>
            <a:endParaRPr lang="en-US" sz="7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Chiếm </a:t>
            </a:r>
            <a:r>
              <a:rPr lang="vi-VN" sz="9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47%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t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ổng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thảo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luận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,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Facebook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là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kênh truyền thông thu hút nhiều thảo luận nhất</a:t>
            </a:r>
            <a:endParaRPr lang="en-US" sz="900" spc="-11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4638C91-7B22-C23D-65CC-635CC77F4E72}"/>
              </a:ext>
            </a:extLst>
          </p:cNvPr>
          <p:cNvSpPr txBox="1"/>
          <p:nvPr/>
        </p:nvSpPr>
        <p:spPr>
          <a:xfrm>
            <a:off x="2102320" y="3972598"/>
            <a:ext cx="64322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algn="ctr"/>
            <a:r>
              <a:rPr lang="en-US" sz="900" b="1" dirty="0">
                <a:latin typeface="Georgia" panose="00000500000000000000" pitchFamily="2" charset="-93"/>
                <a:cs typeface="Georgia" panose="020B0604020202020204" pitchFamily="34" charset="0"/>
              </a:rPr>
              <a:t> 3,681 </a:t>
            </a:r>
          </a:p>
          <a:p>
            <a:pPr algn="ctr"/>
            <a:r>
              <a:rPr lang="en-US" sz="600" b="1" dirty="0">
                <a:latin typeface="Georgia" panose="00000500000000000000" pitchFamily="2" charset="-93"/>
                <a:cs typeface="Georgia" panose="020B0604020202020204" pitchFamily="34" charset="0"/>
              </a:rPr>
              <a:t>THẢO LUẬN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88D6A-517F-3211-CAF1-2F2DE40F514C}"/>
              </a:ext>
            </a:extLst>
          </p:cNvPr>
          <p:cNvSpPr/>
          <p:nvPr/>
        </p:nvSpPr>
        <p:spPr>
          <a:xfrm>
            <a:off x="179071" y="5209151"/>
            <a:ext cx="2691288" cy="819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:</a:t>
            </a:r>
          </a:p>
          <a:p>
            <a:pPr algn="just">
              <a:lnSpc>
                <a:spcPct val="150000"/>
              </a:lnSpc>
            </a:pPr>
            <a:endParaRPr lang="en-US" sz="900" b="1" spc="-11" dirty="0">
              <a:solidFill>
                <a:srgbClr val="1B3866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  <a:p>
            <a:pPr algn="just">
              <a:defRPr/>
            </a:pPr>
            <a:r>
              <a:rPr lang="en-US" sz="900" spc="-11" dirty="0" err="1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Nội</a:t>
            </a:r>
            <a:r>
              <a:rPr lang="en-US" sz="900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 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dung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đáng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chú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ý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trong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900" spc="-11" dirty="0" err="1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tuần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3"/>
              </a:rPr>
              <a:t>Masan mất 6.000 tỷ vốn hóa sau hơn 1 tháng</a:t>
            </a:r>
            <a:endParaRPr lang="en-US" sz="900" spc="-11" dirty="0">
              <a:solidFill>
                <a:schemeClr val="tx1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</p:txBody>
      </p:sp>
      <p:sp>
        <p:nvSpPr>
          <p:cNvPr id="22" name="Google Shape;3510;p235">
            <a:extLst>
              <a:ext uri="{FF2B5EF4-FFF2-40B4-BE49-F238E27FC236}">
                <a16:creationId xmlns:a16="http://schemas.microsoft.com/office/drawing/2014/main" id="{F5071084-56D2-DD91-42B4-C61131358548}"/>
              </a:ext>
            </a:extLst>
          </p:cNvPr>
          <p:cNvSpPr/>
          <p:nvPr/>
        </p:nvSpPr>
        <p:spPr>
          <a:xfrm>
            <a:off x="1519413" y="1051964"/>
            <a:ext cx="1175099" cy="384049"/>
          </a:xfrm>
          <a:prstGeom prst="roundRect">
            <a:avLst>
              <a:gd name="adj" fmla="val 50000"/>
            </a:avLst>
          </a:prstGeom>
          <a:solidFill>
            <a:srgbClr val="00457C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900" dirty="0">
                <a:solidFill>
                  <a:schemeClr val="lt1"/>
                </a:solidFill>
                <a:latin typeface="Georgia" panose="00000500000000000000" pitchFamily="2" charset="-93"/>
                <a:sym typeface="Georgia"/>
              </a:rPr>
              <a:t>MASAN GROUP</a:t>
            </a:r>
            <a:endParaRPr sz="900" dirty="0">
              <a:solidFill>
                <a:schemeClr val="lt1"/>
              </a:solidFill>
              <a:latin typeface="Georgia" panose="00000500000000000000" pitchFamily="2" charset="-93"/>
              <a:sym typeface="Georgia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CCAA61-605B-12DD-4D0C-5348E53DB760}"/>
              </a:ext>
            </a:extLst>
          </p:cNvPr>
          <p:cNvSpPr/>
          <p:nvPr/>
        </p:nvSpPr>
        <p:spPr>
          <a:xfrm>
            <a:off x="4199483" y="4927539"/>
            <a:ext cx="3695754" cy="1396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</a:pP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Bài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đăng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nổi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en-US" sz="1050" b="1" spc="-11" dirty="0" err="1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bật</a:t>
            </a:r>
            <a:r>
              <a:rPr lang="en-US" sz="1050" b="1" spc="-11" dirty="0">
                <a:solidFill>
                  <a:srgbClr val="1B3866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endParaRPr lang="vi-VN" sz="1050" b="1" spc="-11" dirty="0">
              <a:solidFill>
                <a:srgbClr val="1B3866"/>
              </a:solidFill>
              <a:latin typeface="Georgia" pitchFamily="2" charset="0"/>
              <a:ea typeface="Georgia" panose="020F0502020204030204" pitchFamily="34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Vingroup</a:t>
            </a:r>
            <a:r>
              <a:rPr lang="en-US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: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4"/>
              </a:rPr>
              <a:t>Ngược dòng, cổ phiếu Vinhomes (VHM) tăng kịch trần trong ngày thị trường rực lửa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Hòa Phát: </a:t>
            </a:r>
            <a:r>
              <a:rPr lang="vi-VN" sz="900" dirty="0">
                <a:latin typeface="Georgia" pitchFamily="2" charset="0"/>
                <a:cs typeface="Georgia" panose="03000500000000000000" pitchFamily="66" charset="0"/>
                <a:hlinkClick r:id="rId5"/>
              </a:rPr>
              <a:t>Tiên phong sản xuất thép ray đường sắt tại Việt Nam, Hòa Phát (HPG) được hưởng đặc quyền hiếm có suốt 10 năm</a:t>
            </a:r>
            <a:endParaRPr lang="vi-VN" sz="900" dirty="0">
              <a:latin typeface="Georgia" pitchFamily="2" charset="0"/>
              <a:cs typeface="Georgia" panose="03000500000000000000" pitchFamily="66" charset="0"/>
            </a:endParaRPr>
          </a:p>
          <a:p>
            <a:pPr lvl="1">
              <a:spcAft>
                <a:spcPts val="600"/>
              </a:spcAft>
            </a:pPr>
            <a:r>
              <a:rPr lang="vi-VN" sz="900" b="1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</a:rPr>
              <a:t>Vinamilk: </a:t>
            </a:r>
            <a:r>
              <a:rPr lang="vi-VN" sz="900" spc="-11" dirty="0">
                <a:solidFill>
                  <a:schemeClr val="tx1"/>
                </a:solidFill>
                <a:latin typeface="Georgia" pitchFamily="2" charset="0"/>
                <a:ea typeface="Georgia" panose="020F0502020204030204" pitchFamily="34" charset="0"/>
                <a:cs typeface="Georgia" panose="03000500000000000000" pitchFamily="66" charset="0"/>
                <a:hlinkClick r:id="rId6"/>
              </a:rPr>
              <a:t>Một minh chứng đáng yêu cho sự hợp tác nông nghiệp giữa Hoa Kỳ và Việt Nam.</a:t>
            </a:r>
            <a:endParaRPr lang="vi-VN" sz="900" u="sng" dirty="0">
              <a:solidFill>
                <a:srgbClr val="0000FF"/>
              </a:solidFill>
              <a:latin typeface="Georgia" pitchFamily="2" charset="0"/>
              <a:cs typeface="Georgia" panose="03000500000000000000" pitchFamily="66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A2925EF-C351-8867-325C-B5B0012CE4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90589" y="5513475"/>
            <a:ext cx="899427" cy="562141"/>
          </a:xfrm>
          <a:prstGeom prst="rect">
            <a:avLst/>
          </a:prstGeom>
        </p:spPr>
      </p:pic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8136797-3BCD-895D-0667-E6522BB1A1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303754"/>
              </p:ext>
            </p:extLst>
          </p:nvPr>
        </p:nvGraphicFramePr>
        <p:xfrm>
          <a:off x="2423932" y="1436013"/>
          <a:ext cx="1516912" cy="17827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6" name="Chart 25">
            <a:extLst>
              <a:ext uri="{FF2B5EF4-FFF2-40B4-BE49-F238E27FC236}">
                <a16:creationId xmlns:a16="http://schemas.microsoft.com/office/drawing/2014/main" id="{68513B43-EF52-52E3-D8D8-3A28AD29FD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3554915"/>
              </p:ext>
            </p:extLst>
          </p:nvPr>
        </p:nvGraphicFramePr>
        <p:xfrm>
          <a:off x="1424187" y="3452783"/>
          <a:ext cx="2540649" cy="14747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1754DA27-5378-0B50-958C-CB210A4A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83733366"/>
              </p:ext>
            </p:extLst>
          </p:nvPr>
        </p:nvGraphicFramePr>
        <p:xfrm>
          <a:off x="4354166" y="1480090"/>
          <a:ext cx="3386388" cy="17269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108A834D-8468-A5B5-8A11-2A26B0936A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4068772"/>
              </p:ext>
            </p:extLst>
          </p:nvPr>
        </p:nvGraphicFramePr>
        <p:xfrm>
          <a:off x="4080228" y="3578740"/>
          <a:ext cx="3850273" cy="1405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2BE9C312-8CC7-E79D-F63B-E7F1344379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5299925"/>
              </p:ext>
            </p:extLst>
          </p:nvPr>
        </p:nvGraphicFramePr>
        <p:xfrm>
          <a:off x="304225" y="2648080"/>
          <a:ext cx="2239924" cy="628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1" name="object 3">
            <a:extLst>
              <a:ext uri="{FF2B5EF4-FFF2-40B4-BE49-F238E27FC236}">
                <a16:creationId xmlns:a16="http://schemas.microsoft.com/office/drawing/2014/main" id="{4D9E6CA2-7EA6-EF75-887C-0EBA33C44ABA}"/>
              </a:ext>
            </a:extLst>
          </p:cNvPr>
          <p:cNvSpPr txBox="1">
            <a:spLocks/>
          </p:cNvSpPr>
          <p:nvPr/>
        </p:nvSpPr>
        <p:spPr>
          <a:xfrm>
            <a:off x="225383" y="39794"/>
            <a:ext cx="9715728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defTabSz="914377">
              <a:spcBef>
                <a:spcPts val="565"/>
              </a:spcBef>
              <a:buClrTx/>
            </a:pPr>
            <a:r>
              <a:rPr lang="en-US" sz="2400" spc="131" dirty="0">
                <a:solidFill>
                  <a:srgbClr val="00457C"/>
                </a:solidFill>
                <a:latin typeface="Georgia" panose="00000700000000000000" pitchFamily="2" charset="-93"/>
                <a:cs typeface="Georgia"/>
              </a:rPr>
              <a:t>TÓM TẮT BÁO CÁO</a:t>
            </a:r>
            <a:endParaRPr lang="en-US" sz="2400" dirty="0">
              <a:solidFill>
                <a:srgbClr val="00457C"/>
              </a:solidFill>
              <a:latin typeface="Georgia" panose="00000700000000000000" pitchFamily="2" charset="-93"/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52904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40D71-E255-A4C1-0BCA-2D5C88615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F080570-801E-7B7D-E4A3-64A1FC0BF3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2621988"/>
              </p:ext>
            </p:extLst>
          </p:nvPr>
        </p:nvGraphicFramePr>
        <p:xfrm>
          <a:off x="730593" y="1169373"/>
          <a:ext cx="4685119" cy="2089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B0327076-85D5-10DA-B8E1-B1359422648F}"/>
              </a:ext>
            </a:extLst>
          </p:cNvPr>
          <p:cNvGrpSpPr/>
          <p:nvPr/>
        </p:nvGrpSpPr>
        <p:grpSpPr>
          <a:xfrm>
            <a:off x="2193285" y="2039542"/>
            <a:ext cx="1483769" cy="1697659"/>
            <a:chOff x="11108378" y="3596109"/>
            <a:chExt cx="1483769" cy="1697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55A4AEF-7E4F-F212-FF91-C5489800E8B9}"/>
                </a:ext>
              </a:extLst>
            </p:cNvPr>
            <p:cNvSpPr txBox="1"/>
            <p:nvPr/>
          </p:nvSpPr>
          <p:spPr>
            <a:xfrm>
              <a:off x="11305305" y="3596109"/>
              <a:ext cx="1089913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1200" b="1" dirty="0">
                  <a:latin typeface="Georgia" panose="00000500000000000000" pitchFamily="2" charset="-93"/>
                  <a:cs typeface="Georgia" panose="020B0604020202020204" pitchFamily="34" charset="0"/>
                </a:rPr>
                <a:t>46,634</a:t>
              </a:r>
            </a:p>
            <a:p>
              <a:pPr algn="ctr"/>
              <a:r>
                <a:rPr lang="en-US" sz="900" b="1" dirty="0">
                  <a:latin typeface="Georgia" panose="00000500000000000000" pitchFamily="2" charset="-93"/>
                  <a:cs typeface="Georgia" panose="020B0604020202020204" pitchFamily="34" charset="0"/>
                </a:rPr>
                <a:t>THẢO LUẬN</a:t>
              </a:r>
            </a:p>
          </p:txBody>
        </p:sp>
        <p:sp>
          <p:nvSpPr>
            <p:cNvPr id="8" name="Rounded Rectangle 2">
              <a:extLst>
                <a:ext uri="{FF2B5EF4-FFF2-40B4-BE49-F238E27FC236}">
                  <a16:creationId xmlns:a16="http://schemas.microsoft.com/office/drawing/2014/main" id="{461BA442-ECCA-9067-E3CA-43FF3D1758B2}"/>
                </a:ext>
              </a:extLst>
            </p:cNvPr>
            <p:cNvSpPr/>
            <p:nvPr/>
          </p:nvSpPr>
          <p:spPr>
            <a:xfrm>
              <a:off x="11108378" y="5029187"/>
              <a:ext cx="1483769" cy="264581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0045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2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8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/05 – 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03</a:t>
              </a:r>
              <a:r>
                <a:rPr lang="vi-VN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/0</a:t>
              </a:r>
              <a:r>
                <a:rPr lang="en-US" sz="1200" b="1" dirty="0">
                  <a:solidFill>
                    <a:srgbClr val="00447C"/>
                  </a:solidFill>
                  <a:latin typeface="Georgia" panose="00000500000000000000" pitchFamily="2" charset="-93"/>
                </a:rPr>
                <a:t>6</a:t>
              </a:r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0D8E8E0-CC8D-AE7C-D4DA-FBEAA3EE100A}"/>
              </a:ext>
            </a:extLst>
          </p:cNvPr>
          <p:cNvCxnSpPr>
            <a:cxnSpLocks/>
          </p:cNvCxnSpPr>
          <p:nvPr/>
        </p:nvCxnSpPr>
        <p:spPr>
          <a:xfrm>
            <a:off x="6225476" y="93133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0FDA180B-751E-23A2-DE90-A3F5552385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8962008"/>
              </p:ext>
            </p:extLst>
          </p:nvPr>
        </p:nvGraphicFramePr>
        <p:xfrm>
          <a:off x="127910" y="3995279"/>
          <a:ext cx="5890487" cy="27805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C35B3436-31E0-3004-8F44-F0C7C47DAC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9448013"/>
              </p:ext>
            </p:extLst>
          </p:nvPr>
        </p:nvGraphicFramePr>
        <p:xfrm>
          <a:off x="6096000" y="878318"/>
          <a:ext cx="5791200" cy="27265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D41F0033-A1FE-2B62-8CCB-6B830BE4830F}"/>
              </a:ext>
            </a:extLst>
          </p:cNvPr>
          <p:cNvSpPr txBox="1"/>
          <p:nvPr/>
        </p:nvSpPr>
        <p:spPr>
          <a:xfrm>
            <a:off x="6173605" y="3547953"/>
            <a:ext cx="5890485" cy="329583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MSN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gần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như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: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này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vốn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cổ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phiếu</a:t>
            </a:r>
            <a:r>
              <a:rPr lang="en-US" sz="1000" dirty="0">
                <a:latin typeface="+mj-lt"/>
              </a:rPr>
              <a:t> ESOP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vonfram</a:t>
            </a:r>
            <a:r>
              <a:rPr lang="en-US" sz="1000" dirty="0">
                <a:latin typeface="+mj-lt"/>
              </a:rPr>
              <a:t>/MSR (</a:t>
            </a:r>
            <a:r>
              <a:rPr lang="en-US" sz="1000" dirty="0" err="1">
                <a:latin typeface="+mj-lt"/>
              </a:rPr>
              <a:t>mỏ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Núi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Pháo</a:t>
            </a:r>
            <a:r>
              <a:rPr lang="en-US" sz="1000" dirty="0">
                <a:latin typeface="+mj-lt"/>
              </a:rPr>
              <a:t>)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định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giá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thành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tài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lược</a:t>
            </a:r>
            <a:r>
              <a:rPr lang="en-US" sz="1000" dirty="0">
                <a:latin typeface="+mj-lt"/>
              </a:rPr>
              <a:t>" </a:t>
            </a:r>
            <a:r>
              <a:rPr lang="vi-VN" sz="1000" dirty="0">
                <a:latin typeface="+mj-lt"/>
              </a:rPr>
              <a:t>(</a:t>
            </a:r>
            <a:r>
              <a:rPr lang="vi-VN" sz="1000" dirty="0">
                <a:latin typeface="+mj-lt"/>
                <a:hlinkClick r:id="rId6"/>
              </a:rPr>
              <a:t>URL</a:t>
            </a:r>
            <a:r>
              <a:rPr lang="vi-VN" sz="1000" dirty="0">
                <a:latin typeface="+mj-lt"/>
              </a:rPr>
              <a:t>)</a:t>
            </a: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Vingroup </a:t>
            </a:r>
            <a:r>
              <a:rPr lang="en-US" sz="1000" dirty="0" err="1">
                <a:latin typeface="+mj-lt"/>
              </a:rPr>
              <a:t>dẫn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thảo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luận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toàn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nhóm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tâm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điểm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nối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chính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cho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mua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Vinhomes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bằng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vàng</a:t>
            </a:r>
            <a:r>
              <a:rPr lang="en-US" sz="1000" dirty="0">
                <a:latin typeface="+mj-lt"/>
              </a:rPr>
              <a:t> (CEO Nguyễn Thu Hằng </a:t>
            </a:r>
            <a:r>
              <a:rPr lang="en-US" sz="1000" dirty="0" err="1">
                <a:latin typeface="+mj-lt"/>
              </a:rPr>
              <a:t>lên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tiếng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trấn</a:t>
            </a:r>
            <a:r>
              <a:rPr lang="en-US" sz="1000" dirty="0">
                <a:latin typeface="+mj-lt"/>
              </a:rPr>
              <a:t> an), </a:t>
            </a:r>
            <a:r>
              <a:rPr lang="en-US" sz="1000" dirty="0" err="1">
                <a:latin typeface="+mj-lt"/>
              </a:rPr>
              <a:t>bên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cạnh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lập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hãng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phim</a:t>
            </a:r>
            <a:r>
              <a:rPr lang="en-US" sz="1000" dirty="0">
                <a:latin typeface="+mj-lt"/>
              </a:rPr>
              <a:t> V-Film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quanh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hệ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phú</a:t>
            </a:r>
            <a:r>
              <a:rPr lang="en-US" sz="1000" dirty="0">
                <a:latin typeface="+mj-lt"/>
              </a:rPr>
              <a:t> Phạm Nhật Vượng (</a:t>
            </a:r>
            <a:r>
              <a:rPr lang="en-US" sz="1000" dirty="0">
                <a:latin typeface="+mj-lt"/>
                <a:hlinkClick r:id="rId7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Hòa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Phát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nhận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tuyến</a:t>
            </a:r>
            <a:r>
              <a:rPr lang="en-US" sz="1000" dirty="0">
                <a:latin typeface="+mj-lt"/>
              </a:rPr>
              <a:t> tin </a:t>
            </a:r>
            <a:r>
              <a:rPr lang="en-US" sz="1000" dirty="0" err="1">
                <a:latin typeface="+mj-lt"/>
              </a:rPr>
              <a:t>tích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cực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tiên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phong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ray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trong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nước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được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hưởng</a:t>
            </a:r>
            <a:r>
              <a:rPr lang="en-US" sz="1000" dirty="0">
                <a:latin typeface="+mj-lt"/>
              </a:rPr>
              <a:t> "</a:t>
            </a:r>
            <a:r>
              <a:rPr lang="en-US" sz="1000" dirty="0" err="1">
                <a:latin typeface="+mj-lt"/>
              </a:rPr>
              <a:t>đặc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quyền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hiếm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có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suốt</a:t>
            </a:r>
            <a:r>
              <a:rPr lang="en-US" sz="1000" dirty="0">
                <a:latin typeface="+mj-lt"/>
              </a:rPr>
              <a:t> 10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, </a:t>
            </a:r>
            <a:r>
              <a:rPr lang="en-US" sz="1000" dirty="0" err="1">
                <a:latin typeface="+mj-lt"/>
              </a:rPr>
              <a:t>sẵn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sàng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tham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án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sắt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cao</a:t>
            </a:r>
            <a:r>
              <a:rPr lang="en-US" sz="1000" dirty="0">
                <a:latin typeface="+mj-lt"/>
              </a:rPr>
              <a:t> 67 </a:t>
            </a:r>
            <a:r>
              <a:rPr lang="en-US" sz="1000" dirty="0" err="1">
                <a:latin typeface="+mj-lt"/>
              </a:rPr>
              <a:t>tỷ</a:t>
            </a:r>
            <a:r>
              <a:rPr lang="en-US" sz="1000" dirty="0">
                <a:latin typeface="+mj-lt"/>
              </a:rPr>
              <a:t> USD;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dấu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mốc</a:t>
            </a:r>
            <a:r>
              <a:rPr lang="en-US" sz="1000" dirty="0">
                <a:latin typeface="+mj-lt"/>
              </a:rPr>
              <a:t> Việt Nam </a:t>
            </a:r>
            <a:r>
              <a:rPr lang="en-US" sz="1000" dirty="0" err="1">
                <a:latin typeface="+mj-lt"/>
              </a:rPr>
              <a:t>lần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đầu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lọt</a:t>
            </a:r>
            <a:r>
              <a:rPr lang="en-US" sz="1000" dirty="0">
                <a:latin typeface="+mj-lt"/>
              </a:rPr>
              <a:t> Top 10 </a:t>
            </a:r>
            <a:r>
              <a:rPr lang="en-US" sz="1000" dirty="0" err="1">
                <a:latin typeface="+mj-lt"/>
              </a:rPr>
              <a:t>cường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quốc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sản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xuất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thép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giới</a:t>
            </a:r>
            <a:r>
              <a:rPr lang="en-US" sz="1000" dirty="0">
                <a:latin typeface="+mj-lt"/>
              </a:rPr>
              <a:t> (</a:t>
            </a:r>
            <a:r>
              <a:rPr lang="en-US" sz="1000" dirty="0">
                <a:latin typeface="+mj-lt"/>
                <a:hlinkClick r:id="rId8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>
                <a:latin typeface="+mj-lt"/>
              </a:rPr>
              <a:t>MWG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sự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nổi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Điện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Xanh </a:t>
            </a:r>
            <a:r>
              <a:rPr lang="en-US" sz="1000" dirty="0" err="1">
                <a:latin typeface="+mj-lt"/>
              </a:rPr>
              <a:t>tiếp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tục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câu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chuyện</a:t>
            </a:r>
            <a:r>
              <a:rPr lang="en-US" sz="1000" dirty="0">
                <a:latin typeface="+mj-lt"/>
              </a:rPr>
              <a:t> IPO, </a:t>
            </a:r>
            <a:r>
              <a:rPr lang="en-US" sz="1000" dirty="0" err="1">
                <a:latin typeface="+mj-lt"/>
              </a:rPr>
              <a:t>cùng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cuộc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bộ</a:t>
            </a:r>
            <a:r>
              <a:rPr lang="en-US" sz="1000" dirty="0">
                <a:latin typeface="+mj-lt"/>
              </a:rPr>
              <a:t> X-Leader 2026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các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nội</a:t>
            </a:r>
            <a:r>
              <a:rPr lang="en-US" sz="1000" dirty="0">
                <a:latin typeface="+mj-lt"/>
              </a:rPr>
              <a:t> dung </a:t>
            </a:r>
            <a:r>
              <a:rPr lang="en-US" sz="1000" dirty="0" err="1">
                <a:latin typeface="+mj-lt"/>
              </a:rPr>
              <a:t>Bách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Hóa</a:t>
            </a:r>
            <a:r>
              <a:rPr lang="en-US" sz="1000" dirty="0">
                <a:latin typeface="+mj-lt"/>
              </a:rPr>
              <a:t> Xanh (</a:t>
            </a:r>
            <a:r>
              <a:rPr lang="en-US" sz="1000" dirty="0">
                <a:latin typeface="+mj-lt"/>
                <a:hlinkClick r:id="rId9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  <a:p>
            <a:pPr marL="171450" indent="-1714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bật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với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động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kinh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doanh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khi</a:t>
            </a:r>
            <a:r>
              <a:rPr lang="en-US" sz="1000" dirty="0">
                <a:latin typeface="+mj-lt"/>
              </a:rPr>
              <a:t> Tây Ninh </a:t>
            </a:r>
            <a:r>
              <a:rPr lang="en-US" sz="1000" dirty="0" err="1">
                <a:latin typeface="+mj-lt"/>
              </a:rPr>
              <a:t>ủng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hộ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Vinamilk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mở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rộng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trang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sớm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khai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máy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chế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biến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vi-VN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và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hình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ảnh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thương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hiệu</a:t>
            </a:r>
            <a:r>
              <a:rPr lang="en-US" sz="1000" dirty="0">
                <a:latin typeface="+mj-lt"/>
              </a:rPr>
              <a:t> "50 </a:t>
            </a:r>
            <a:r>
              <a:rPr lang="en-US" sz="1000" dirty="0" err="1">
                <a:latin typeface="+mj-lt"/>
              </a:rPr>
              <a:t>năm</a:t>
            </a:r>
            <a:r>
              <a:rPr lang="en-US" sz="1000" dirty="0">
                <a:latin typeface="+mj-lt"/>
              </a:rPr>
              <a:t>" </a:t>
            </a:r>
            <a:r>
              <a:rPr lang="en-US" sz="1000" dirty="0" err="1">
                <a:latin typeface="+mj-lt"/>
              </a:rPr>
              <a:t>tại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triển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lãm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ngành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sữa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lớn</a:t>
            </a:r>
            <a:r>
              <a:rPr lang="en-US" sz="1000" dirty="0">
                <a:latin typeface="+mj-lt"/>
              </a:rPr>
              <a:t> </a:t>
            </a:r>
            <a:r>
              <a:rPr lang="en-US" sz="1000" dirty="0" err="1">
                <a:latin typeface="+mj-lt"/>
              </a:rPr>
              <a:t>nhất</a:t>
            </a:r>
            <a:r>
              <a:rPr lang="en-US" sz="1000" dirty="0">
                <a:latin typeface="+mj-lt"/>
              </a:rPr>
              <a:t> Việt Nam (</a:t>
            </a:r>
            <a:r>
              <a:rPr lang="en-US" sz="1000" dirty="0">
                <a:latin typeface="+mj-lt"/>
                <a:hlinkClick r:id="rId10"/>
              </a:rPr>
              <a:t>URL</a:t>
            </a:r>
            <a:r>
              <a:rPr lang="en-US" sz="1000" dirty="0">
                <a:latin typeface="+mj-lt"/>
              </a:rPr>
              <a:t>).</a:t>
            </a:r>
            <a:endParaRPr lang="vi-VN" sz="1000" dirty="0">
              <a:latin typeface="+mj-lt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28493691-3302-FD39-C703-FA441BC45C84}"/>
              </a:ext>
            </a:extLst>
          </p:cNvPr>
          <p:cNvSpPr txBox="1">
            <a:spLocks/>
          </p:cNvSpPr>
          <p:nvPr/>
        </p:nvSpPr>
        <p:spPr>
          <a:xfrm>
            <a:off x="175034" y="14208"/>
            <a:ext cx="12016966" cy="810091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TỔNG QUAN THẢO LUẬN 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  <a:p>
            <a:pPr marL="12700" defTabSz="914377">
              <a:spcBef>
                <a:spcPts val="255"/>
              </a:spcBef>
              <a:buClrTx/>
              <a:defRPr/>
            </a:pP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Masan và các đối thủ ghi nhận tổng cộng </a:t>
            </a:r>
            <a:r>
              <a:rPr lang="vi-VN" sz="1400" spc="-11" dirty="0">
                <a:solidFill>
                  <a:srgbClr val="00457C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46,634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 </a:t>
            </a:r>
            <a:r>
              <a:rPr lang="vi-VN" sz="1200" b="1" dirty="0">
                <a:latin typeface="Georgia" panose="00000500000000000000" pitchFamily="2" charset="-93"/>
                <a:cs typeface="Georgia" panose="020B0604020202020204" pitchFamily="34" charset="0"/>
              </a:rPr>
              <a:t> </a:t>
            </a:r>
            <a:r>
              <a:rPr kumimoji="0" lang="vi-VN" sz="1400" b="0" i="0" u="none" strike="noStrike" kern="0" cap="none" spc="-1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thảo luận. </a:t>
            </a:r>
          </a:p>
        </p:txBody>
      </p:sp>
    </p:spTree>
    <p:extLst>
      <p:ext uri="{BB962C8B-B14F-4D97-AF65-F5344CB8AC3E}">
        <p14:creationId xmlns:p14="http://schemas.microsoft.com/office/powerpoint/2010/main" val="2930877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FB799E0-7011-D944-B980-D3EFDC160710}"/>
              </a:ext>
            </a:extLst>
          </p:cNvPr>
          <p:cNvSpPr txBox="1">
            <a:spLocks/>
          </p:cNvSpPr>
          <p:nvPr/>
        </p:nvSpPr>
        <p:spPr>
          <a:xfrm>
            <a:off x="175033" y="69399"/>
            <a:ext cx="11878439" cy="556175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400" b="1" i="0" u="none" strike="noStrike" kern="0" cap="none" spc="131" normalizeH="0" baseline="0" noProof="0" dirty="0">
                <a:ln>
                  <a:noFill/>
                </a:ln>
                <a:solidFill>
                  <a:srgbClr val="00457C"/>
                </a:solidFill>
                <a:effectLst/>
                <a:uLnTx/>
                <a:uFillTx/>
                <a:latin typeface="Georgia" pitchFamily="2" charset="0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CHỈ SỐ SỨC KHỎE VÀ KÊNH THẢO LUẬN CỦA ĐỐI THỦ</a:t>
            </a: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00457C"/>
              </a:solidFill>
              <a:effectLst/>
              <a:uLnTx/>
              <a:uFillTx/>
              <a:latin typeface="Georgia" pitchFamily="2" charset="0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78A80C-26A3-7CB0-C28C-573E7581F275}"/>
              </a:ext>
            </a:extLst>
          </p:cNvPr>
          <p:cNvSpPr txBox="1"/>
          <p:nvPr/>
        </p:nvSpPr>
        <p:spPr>
          <a:xfrm>
            <a:off x="137439" y="6627168"/>
            <a:ext cx="329413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NSR </a:t>
            </a:r>
            <a:r>
              <a:rPr lang="vi-VN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(%) </a:t>
            </a:r>
            <a:r>
              <a:rPr lang="en-US" sz="800" i="1" dirty="0">
                <a:solidFill>
                  <a:schemeClr val="bg1">
                    <a:lumMod val="50000"/>
                  </a:schemeClr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= (Tích cực – Tiêu cực)/(Tích cực +Tiêu cực)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9EE62E-7827-D3E4-6A07-871F3AA12646}"/>
              </a:ext>
            </a:extLst>
          </p:cNvPr>
          <p:cNvSpPr/>
          <p:nvPr/>
        </p:nvSpPr>
        <p:spPr>
          <a:xfrm>
            <a:off x="120486" y="1224988"/>
            <a:ext cx="3850276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SẮC THÁI THẢO LUẬN VÀ CHỈ SỐ SỨC KHỎE CỦA CÁC THƯƠNG HIỆU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3A62A8-9EE5-DEE3-FBDD-DC7EB1C4A9DD}"/>
              </a:ext>
            </a:extLst>
          </p:cNvPr>
          <p:cNvSpPr/>
          <p:nvPr/>
        </p:nvSpPr>
        <p:spPr>
          <a:xfrm>
            <a:off x="6935026" y="1096876"/>
            <a:ext cx="3684462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CHỈ SỐ SỨC KHỎE THEO CHỦ ĐỀ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2657B72-8699-356E-2290-D94BB76E0FF0}"/>
              </a:ext>
            </a:extLst>
          </p:cNvPr>
          <p:cNvSpPr/>
          <p:nvPr/>
        </p:nvSpPr>
        <p:spPr>
          <a:xfrm>
            <a:off x="6935026" y="3899586"/>
            <a:ext cx="2621927" cy="256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097280" fontAlgn="base">
              <a:lnSpc>
                <a:spcPct val="150000"/>
              </a:lnSpc>
              <a:spcBef>
                <a:spcPts val="720"/>
              </a:spcBef>
              <a:spcAft>
                <a:spcPct val="0"/>
              </a:spcAft>
            </a:pPr>
            <a:r>
              <a:rPr lang="en-US" sz="800" b="1" spc="-11" dirty="0">
                <a:solidFill>
                  <a:schemeClr val="tx1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TỐP NGUỒN THẢO LUẬN NỔI BẬT</a:t>
            </a:r>
            <a:endParaRPr lang="en-US" sz="800" dirty="0">
              <a:solidFill>
                <a:schemeClr val="tx1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12396E-A614-C99D-BC0A-34532ED4F2CD}"/>
              </a:ext>
            </a:extLst>
          </p:cNvPr>
          <p:cNvCxnSpPr>
            <a:cxnSpLocks/>
          </p:cNvCxnSpPr>
          <p:nvPr/>
        </p:nvCxnSpPr>
        <p:spPr>
          <a:xfrm flipV="1">
            <a:off x="-11954" y="3786576"/>
            <a:ext cx="12203954" cy="124137"/>
          </a:xfrm>
          <a:prstGeom prst="line">
            <a:avLst/>
          </a:prstGeom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D1E1ECF-0B99-74D0-5C9F-38BD48935C87}"/>
              </a:ext>
            </a:extLst>
          </p:cNvPr>
          <p:cNvCxnSpPr>
            <a:cxnSpLocks/>
          </p:cNvCxnSpPr>
          <p:nvPr/>
        </p:nvCxnSpPr>
        <p:spPr>
          <a:xfrm>
            <a:off x="3970762" y="936253"/>
            <a:ext cx="0" cy="5926667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6ED56983-756B-C26F-B3EB-6FCD1A48D24D}"/>
              </a:ext>
            </a:extLst>
          </p:cNvPr>
          <p:cNvSpPr/>
          <p:nvPr/>
        </p:nvSpPr>
        <p:spPr>
          <a:xfrm>
            <a:off x="4234235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8808FA-8DB3-15C3-CA6D-EC47875137DC}"/>
              </a:ext>
            </a:extLst>
          </p:cNvPr>
          <p:cNvSpPr/>
          <p:nvPr/>
        </p:nvSpPr>
        <p:spPr>
          <a:xfrm>
            <a:off x="635406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FF237B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HÒA PHÁT</a:t>
            </a:r>
            <a:endParaRPr lang="en-US" sz="1000" b="1" spc="-11" dirty="0">
              <a:solidFill>
                <a:srgbClr val="FF237B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4649FE6-9D45-5139-D3A2-11F29266FEC5}"/>
              </a:ext>
            </a:extLst>
          </p:cNvPr>
          <p:cNvSpPr/>
          <p:nvPr/>
        </p:nvSpPr>
        <p:spPr>
          <a:xfrm>
            <a:off x="8104796" y="4346094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50000"/>
              </a:lnSpc>
              <a:defRPr/>
            </a:pPr>
            <a:r>
              <a:rPr lang="vi-VN" sz="700" b="1" spc="-11" dirty="0">
                <a:solidFill>
                  <a:srgbClr val="AED8AF"/>
                </a:solidFill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</a:rPr>
              <a:t>MWG</a:t>
            </a:r>
            <a:endParaRPr lang="en-US" sz="1000" b="1" spc="-11" dirty="0">
              <a:solidFill>
                <a:srgbClr val="AED8AF"/>
              </a:solidFill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77BFDA6-B91E-C79B-F916-B4B2600C5A70}"/>
              </a:ext>
            </a:extLst>
          </p:cNvPr>
          <p:cNvSpPr/>
          <p:nvPr/>
        </p:nvSpPr>
        <p:spPr>
          <a:xfrm>
            <a:off x="10327682" y="4334670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51" name="Chart 50">
            <a:extLst>
              <a:ext uri="{FF2B5EF4-FFF2-40B4-BE49-F238E27FC236}">
                <a16:creationId xmlns:a16="http://schemas.microsoft.com/office/drawing/2014/main" id="{79704315-7B89-A1DA-DB17-632313161D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95726"/>
              </p:ext>
            </p:extLst>
          </p:nvPr>
        </p:nvGraphicFramePr>
        <p:xfrm>
          <a:off x="3987448" y="1822882"/>
          <a:ext cx="2637758" cy="20611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Rectangle 51">
            <a:extLst>
              <a:ext uri="{FF2B5EF4-FFF2-40B4-BE49-F238E27FC236}">
                <a16:creationId xmlns:a16="http://schemas.microsoft.com/office/drawing/2014/main" id="{0F7B8A23-4FD5-255F-4A74-B3E82A5D0357}"/>
              </a:ext>
            </a:extLst>
          </p:cNvPr>
          <p:cNvSpPr/>
          <p:nvPr/>
        </p:nvSpPr>
        <p:spPr>
          <a:xfrm>
            <a:off x="4055982" y="1472775"/>
            <a:ext cx="1920777" cy="2383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EC9123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VINGROUP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EC9123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DF258FC-AF9D-9EA4-3D09-9FD67249029C}"/>
              </a:ext>
            </a:extLst>
          </p:cNvPr>
          <p:cNvSpPr/>
          <p:nvPr/>
        </p:nvSpPr>
        <p:spPr>
          <a:xfrm>
            <a:off x="646576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FF237B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HÒA PHÁT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FF237B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3034E74-EA6E-3431-719E-C882F8646E8B}"/>
              </a:ext>
            </a:extLst>
          </p:cNvPr>
          <p:cNvSpPr/>
          <p:nvPr/>
        </p:nvSpPr>
        <p:spPr>
          <a:xfrm>
            <a:off x="8216499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rgbClr val="AED8AF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MWG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AED8AF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D4E12B2-1BB1-67D8-12DA-11F70B0D32AA}"/>
              </a:ext>
            </a:extLst>
          </p:cNvPr>
          <p:cNvSpPr/>
          <p:nvPr/>
        </p:nvSpPr>
        <p:spPr>
          <a:xfrm>
            <a:off x="10439385" y="1471537"/>
            <a:ext cx="1920777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vi-VN" sz="700" b="1" i="0" u="none" strike="noStrike" kern="0" cap="none" spc="-11" normalizeH="0" baseline="0" noProof="0" dirty="0">
                <a:ln>
                  <a:noFill/>
                </a:ln>
                <a:solidFill>
                  <a:schemeClr val="bg2">
                    <a:lumMod val="60000"/>
                    <a:lumOff val="40000"/>
                  </a:schemeClr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VINAMILK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chemeClr val="bg2">
                  <a:lumMod val="60000"/>
                  <a:lumOff val="40000"/>
                </a:schemeClr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9A77C6-FAFF-097B-E2B5-6DE471C18F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842287"/>
              </p:ext>
            </p:extLst>
          </p:nvPr>
        </p:nvGraphicFramePr>
        <p:xfrm>
          <a:off x="6047156" y="1744844"/>
          <a:ext cx="2871355" cy="1995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750841-8342-5FAD-36A6-EF15E74AAB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7404744"/>
              </p:ext>
            </p:extLst>
          </p:nvPr>
        </p:nvGraphicFramePr>
        <p:xfrm>
          <a:off x="8216499" y="1822882"/>
          <a:ext cx="2326943" cy="19636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BA3B1D4-2FCF-3D91-E105-8DED5F4E1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1454308"/>
              </p:ext>
            </p:extLst>
          </p:nvPr>
        </p:nvGraphicFramePr>
        <p:xfrm>
          <a:off x="10137276" y="1824402"/>
          <a:ext cx="2637758" cy="1955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DFE27E3-7ECE-82C3-89FC-7C1B8B5FB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5869060"/>
              </p:ext>
            </p:extLst>
          </p:nvPr>
        </p:nvGraphicFramePr>
        <p:xfrm>
          <a:off x="31910" y="1224988"/>
          <a:ext cx="3850273" cy="2543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F4D03C9B-87BD-01FD-676C-B0ECEF5945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2327044"/>
              </p:ext>
            </p:extLst>
          </p:nvPr>
        </p:nvGraphicFramePr>
        <p:xfrm>
          <a:off x="4177950" y="4588050"/>
          <a:ext cx="233687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D690FAF0-234F-5BEE-15D9-92B4469135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344536"/>
              </p:ext>
            </p:extLst>
          </p:nvPr>
        </p:nvGraphicFramePr>
        <p:xfrm>
          <a:off x="6239139" y="4588050"/>
          <a:ext cx="1958783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54245448-4F4F-D474-D246-24FCF60101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41316"/>
              </p:ext>
            </p:extLst>
          </p:nvPr>
        </p:nvGraphicFramePr>
        <p:xfrm>
          <a:off x="8122712" y="4588050"/>
          <a:ext cx="2336875" cy="2039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77FBAB6A-5D5D-F203-38D9-F29B58A85C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9015649"/>
              </p:ext>
            </p:extLst>
          </p:nvPr>
        </p:nvGraphicFramePr>
        <p:xfrm>
          <a:off x="9942916" y="4588050"/>
          <a:ext cx="2054725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85A7F0A-E7DE-9485-1815-096992BBC5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564054"/>
              </p:ext>
            </p:extLst>
          </p:nvPr>
        </p:nvGraphicFramePr>
        <p:xfrm>
          <a:off x="0" y="3577646"/>
          <a:ext cx="3832569" cy="33771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4368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4B32E-B4AF-974E-6BE4-C6735A75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3CD052-53F0-9F08-A718-D34DE6015383}"/>
              </a:ext>
            </a:extLst>
          </p:cNvPr>
          <p:cNvSpPr txBox="1"/>
          <p:nvPr/>
        </p:nvSpPr>
        <p:spPr>
          <a:xfrm>
            <a:off x="6557034" y="3199072"/>
            <a:ext cx="1865964" cy="276999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NSR </a:t>
            </a:r>
            <a:r>
              <a:rPr kumimoji="0" lang="vi-VN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(%) 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=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(Tích cực – Tiêu cực)/(Tích cực +Tiêu </a:t>
            </a:r>
            <a:r>
              <a:rPr kumimoji="0" lang="en-US" sz="600" i="1" u="none" strike="noStrike" kern="0" cap="none" spc="0" normalizeH="0" baseline="0" noProof="0" dirty="0" err="1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cực</a:t>
            </a:r>
            <a:r>
              <a:rPr kumimoji="0" lang="en-US" sz="600" i="1" u="none" strike="noStrike" kern="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Georgia" panose="00000500000000000000" pitchFamily="2" charset="-93"/>
                <a:cs typeface="Georgia"/>
                <a:sym typeface="Georgia"/>
              </a:rPr>
              <a:t>)</a:t>
            </a:r>
            <a:endParaRPr kumimoji="0" lang="en-US" sz="600" b="1" i="1" u="none" strike="noStrike" kern="0" cap="none" spc="0" normalizeH="0" baseline="0" noProof="0" dirty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Georgia" panose="00000500000000000000" pitchFamily="2" charset="-93"/>
              <a:cs typeface="Georgia"/>
              <a:sym typeface="Georgia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D1D1F3-600F-171C-68C2-F11B1B41CB85}"/>
              </a:ext>
            </a:extLst>
          </p:cNvPr>
          <p:cNvGrpSpPr/>
          <p:nvPr/>
        </p:nvGrpSpPr>
        <p:grpSpPr>
          <a:xfrm>
            <a:off x="8422998" y="1206217"/>
            <a:ext cx="3575826" cy="2022585"/>
            <a:chOff x="5585652" y="4615694"/>
            <a:chExt cx="3866441" cy="15685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ACD5E7-56CF-DE83-D05B-145849B89BD8}"/>
                </a:ext>
              </a:extLst>
            </p:cNvPr>
            <p:cNvSpPr/>
            <p:nvPr/>
          </p:nvSpPr>
          <p:spPr>
            <a:xfrm>
              <a:off x="5632126" y="4856851"/>
              <a:ext cx="3819967" cy="6086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Masan (MSN) phát hành 14,4 triệu cổ phiếu ESOP giá 10.000 đồng, gần 300 nhân viên hưởng lợi lớn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MSNer chuẩn bị tuần đầu tháng 6 rực rỡ cùng Tím chưa nào ?  - MCH - MSN – MSR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Nhịp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này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Quang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tao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lead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nhé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  <a:sym typeface="Georgia"/>
                </a:rPr>
                <a:t>  - MSN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cs typeface="Georgia" panose="020F0502020204030204" pitchFamily="34" charset="0"/>
                <a:sym typeface="Georgia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E7BC9EC-5C63-3FA5-3663-44F97E1B61A0}"/>
                </a:ext>
              </a:extLst>
            </p:cNvPr>
            <p:cNvSpPr/>
            <p:nvPr/>
          </p:nvSpPr>
          <p:spPr>
            <a:xfrm>
              <a:off x="5869629" y="4615694"/>
              <a:ext cx="3515459" cy="141825"/>
            </a:xfrm>
            <a:prstGeom prst="rect">
              <a:avLst/>
            </a:prstGeom>
            <a:solidFill>
              <a:srgbClr val="00B05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–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POSITIVE FEEDBACK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F2230C-E611-EF62-43A8-C11AF0083D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7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4626838"/>
              <a:ext cx="182461" cy="14182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D1F0993-A742-FED3-7618-8C50449A875F}"/>
                </a:ext>
              </a:extLst>
            </p:cNvPr>
            <p:cNvSpPr/>
            <p:nvPr/>
          </p:nvSpPr>
          <p:spPr>
            <a:xfrm>
              <a:off x="5585652" y="5742661"/>
              <a:ext cx="3819967" cy="4415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Nhìn chart 4/3 kìa . Giống 100% gãy  - 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 lại giảm Thọ Chế lại có cơ hội lên bài cmnr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🤣🤣 – </a:t>
              </a:r>
              <a:r>
                <a:rPr lang="vi-VN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MSN</a:t>
              </a:r>
              <a:endParaRPr lang="en-US" sz="700" dirty="0">
                <a:latin typeface="Georgia" panose="00000500000000000000" pitchFamily="2" charset="-93"/>
                <a:cs typeface="Georgia" panose="020F0502020204030204" pitchFamily="34" charset="0"/>
              </a:endParaRPr>
            </a:p>
            <a:p>
              <a:pPr marL="116655" lvl="0" indent="-116655" algn="just">
                <a:spcBef>
                  <a:spcPts val="300"/>
                </a:spcBef>
                <a:spcAft>
                  <a:spcPts val="300"/>
                </a:spcAft>
                <a:buFont typeface="Georgia" panose="020B0604020202020204" pitchFamily="34" charset="0"/>
                <a:buChar char="•"/>
                <a:defRPr/>
              </a:pP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Tự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doanh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mua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2tr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là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thấy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</a:t>
              </a:r>
              <a:r>
                <a:rPr lang="en-US" sz="700" dirty="0" err="1">
                  <a:latin typeface="Georgia" panose="00000500000000000000" pitchFamily="2" charset="-93"/>
                  <a:cs typeface="Georgia" panose="020F0502020204030204" pitchFamily="34" charset="0"/>
                </a:rPr>
                <a:t>điềm</a:t>
              </a:r>
              <a:r>
                <a:rPr lang="en-US" sz="700" dirty="0">
                  <a:latin typeface="Georgia" panose="00000500000000000000" pitchFamily="2" charset="-93"/>
                  <a:cs typeface="Georgia" panose="020F0502020204030204" pitchFamily="34" charset="0"/>
                </a:rPr>
                <a:t> r - MSN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E73DCB-8BF3-792F-3E8D-F406B8CC61DF}"/>
                </a:ext>
              </a:extLst>
            </p:cNvPr>
            <p:cNvSpPr/>
            <p:nvPr/>
          </p:nvSpPr>
          <p:spPr>
            <a:xfrm>
              <a:off x="5869629" y="5578388"/>
              <a:ext cx="3515459" cy="141825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Georgia"/>
                <a:buNone/>
                <a:tabLst/>
                <a:defRPr/>
              </a:pP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ea typeface="Georgia" panose="020B0502040204020203" pitchFamily="34" charset="0"/>
                  <a:cs typeface="Georgia" panose="020F0502020204030204" pitchFamily="34" charset="0"/>
                  <a:sym typeface="Georgia"/>
                </a:rPr>
                <a:t>VERBATIMS - </a:t>
              </a:r>
              <a:r>
                <a:rPr kumimoji="0" lang="en-US" sz="7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eorgia" panose="00000500000000000000" pitchFamily="2" charset="-93"/>
                  <a:cs typeface="Georgia"/>
                  <a:sym typeface="Georgia"/>
                </a:rPr>
                <a:t>NEGATIVE FEEDBACK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AD35F9E-FE6E-2BC8-84D1-291E86244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85653" y="5578388"/>
              <a:ext cx="194068" cy="141825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17DAB3B2-940F-0272-2DF1-C5869EF70046}"/>
              </a:ext>
            </a:extLst>
          </p:cNvPr>
          <p:cNvSpPr/>
          <p:nvPr/>
        </p:nvSpPr>
        <p:spPr>
          <a:xfrm>
            <a:off x="6851947" y="4225558"/>
            <a:ext cx="2113985" cy="238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SẮC THÁI THẢO LUẬN THEO CHỦ ĐỀ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FEC79A26-64AC-B88E-DFA2-9901BBB7D3B8}"/>
              </a:ext>
            </a:extLst>
          </p:cNvPr>
          <p:cNvGraphicFramePr/>
          <p:nvPr/>
        </p:nvGraphicFramePr>
        <p:xfrm>
          <a:off x="4996616" y="3983004"/>
          <a:ext cx="1483589" cy="3118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E56B5FED-5A09-3457-160E-BACA7B32E49B}"/>
              </a:ext>
            </a:extLst>
          </p:cNvPr>
          <p:cNvSpPr/>
          <p:nvPr/>
        </p:nvSpPr>
        <p:spPr>
          <a:xfrm>
            <a:off x="9580996" y="4226872"/>
            <a:ext cx="2144183" cy="23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700" b="1" i="0" u="none" strike="noStrike" kern="0" cap="none" spc="-1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anose="00000500000000000000" pitchFamily="2" charset="-93"/>
                <a:ea typeface="Georgia" panose="020F0502020204030204" pitchFamily="34" charset="0"/>
                <a:cs typeface="Georgia" panose="020F0502020204030204" pitchFamily="34" charset="0"/>
                <a:sym typeface="Georgia"/>
              </a:rPr>
              <a:t>TỐP NGUỒN THEO THẢO LUẬN</a:t>
            </a:r>
            <a:endParaRPr kumimoji="0" lang="en-US" sz="1000" b="1" i="0" u="none" strike="noStrike" kern="0" cap="none" spc="-11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anose="00000500000000000000" pitchFamily="2" charset="-93"/>
              <a:ea typeface="Georgia" panose="020F0502020204030204" pitchFamily="34" charset="0"/>
              <a:cs typeface="Georgia" panose="020F0502020204030204" pitchFamily="34" charset="0"/>
              <a:sym typeface="Georgia"/>
            </a:endParaRPr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EAF4EE96-B998-D3F5-0E45-AF528B003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0658776"/>
              </p:ext>
            </p:extLst>
          </p:nvPr>
        </p:nvGraphicFramePr>
        <p:xfrm>
          <a:off x="6590060" y="4607986"/>
          <a:ext cx="2990936" cy="2007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4" name="Chart 23">
            <a:extLst>
              <a:ext uri="{FF2B5EF4-FFF2-40B4-BE49-F238E27FC236}">
                <a16:creationId xmlns:a16="http://schemas.microsoft.com/office/drawing/2014/main" id="{B3574876-8073-9BA8-BD58-8008AF4760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5631042"/>
              </p:ext>
            </p:extLst>
          </p:nvPr>
        </p:nvGraphicFramePr>
        <p:xfrm>
          <a:off x="6145938" y="1009909"/>
          <a:ext cx="2666687" cy="21025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62FBA75-EE53-4514-80C1-06CA4C29CB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967330"/>
              </p:ext>
            </p:extLst>
          </p:nvPr>
        </p:nvGraphicFramePr>
        <p:xfrm>
          <a:off x="9025108" y="4523136"/>
          <a:ext cx="2728292" cy="2077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6" name="TextBox 10">
            <a:extLst>
              <a:ext uri="{FF2B5EF4-FFF2-40B4-BE49-F238E27FC236}">
                <a16:creationId xmlns:a16="http://schemas.microsoft.com/office/drawing/2014/main" id="{A28EA278-DF80-783F-9253-5FF1818CE13C}"/>
              </a:ext>
            </a:extLst>
          </p:cNvPr>
          <p:cNvSpPr txBox="1"/>
          <p:nvPr/>
        </p:nvSpPr>
        <p:spPr>
          <a:xfrm>
            <a:off x="7042409" y="1926952"/>
            <a:ext cx="895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Georgia"/>
                <a:ea typeface="Georgia"/>
                <a:cs typeface="Georgia"/>
              </a:defRPr>
            </a:lvl1pPr>
            <a:lvl2pPr marL="457200" indent="0">
              <a:defRPr sz="1100">
                <a:latin typeface="Georgia"/>
                <a:ea typeface="Georgia"/>
                <a:cs typeface="Georgia"/>
              </a:defRPr>
            </a:lvl2pPr>
            <a:lvl3pPr marL="914400" indent="0">
              <a:defRPr sz="1100">
                <a:latin typeface="Georgia"/>
                <a:ea typeface="Georgia"/>
                <a:cs typeface="Georgia"/>
              </a:defRPr>
            </a:lvl3pPr>
            <a:lvl4pPr marL="1371600" indent="0">
              <a:defRPr sz="1100">
                <a:latin typeface="Georgia"/>
                <a:ea typeface="Georgia"/>
                <a:cs typeface="Georgia"/>
              </a:defRPr>
            </a:lvl4pPr>
            <a:lvl5pPr marL="1828800" indent="0">
              <a:defRPr sz="1100">
                <a:latin typeface="Georgia"/>
                <a:ea typeface="Georgia"/>
                <a:cs typeface="Georgia"/>
              </a:defRPr>
            </a:lvl5pPr>
            <a:lvl6pPr marL="2286000" indent="0">
              <a:defRPr sz="1100">
                <a:latin typeface="Georgia"/>
                <a:ea typeface="Georgia"/>
                <a:cs typeface="Georgia"/>
              </a:defRPr>
            </a:lvl6pPr>
            <a:lvl7pPr marL="2743200" indent="0">
              <a:defRPr sz="1100">
                <a:latin typeface="Georgia"/>
                <a:ea typeface="Georgia"/>
                <a:cs typeface="Georgia"/>
              </a:defRPr>
            </a:lvl7pPr>
            <a:lvl8pPr marL="3200400" indent="0">
              <a:defRPr sz="1100">
                <a:latin typeface="Georgia"/>
                <a:ea typeface="Georgia"/>
                <a:cs typeface="Georgia"/>
              </a:defRPr>
            </a:lvl8pPr>
            <a:lvl9pPr marL="3657600" indent="0">
              <a:defRPr sz="1100">
                <a:latin typeface="Georgia"/>
                <a:ea typeface="Georgia"/>
                <a:cs typeface="Georgia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Georgia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NSR</a:t>
            </a:r>
            <a:r>
              <a:rPr lang="en-US" sz="1000" b="1" dirty="0">
                <a:solidFill>
                  <a:schemeClr val="tx1"/>
                </a:solidFill>
                <a:latin typeface="Georgia" panose="00000500000000000000" pitchFamily="2" charset="-93"/>
                <a:cs typeface="Georgia" panose="020B0604020202020204" pitchFamily="34" charset="0"/>
              </a:rPr>
              <a:t>: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 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3</a:t>
            </a: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2</a:t>
            </a:r>
            <a:r>
              <a:rPr kumimoji="0" lang="vi-VN" sz="1000" b="1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0000500000000000000" pitchFamily="2" charset="-93"/>
                <a:ea typeface="Georgia"/>
                <a:cs typeface="Georgia" panose="020B0604020202020204" pitchFamily="34" charset="0"/>
                <a:sym typeface="Georgia"/>
              </a:rPr>
              <a:t>%</a:t>
            </a: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0000500000000000000" pitchFamily="2" charset="-93"/>
              <a:ea typeface="Georgia"/>
              <a:cs typeface="Georgia" panose="020B0604020202020204" pitchFamily="34" charset="0"/>
              <a:sym typeface="Georgia"/>
            </a:endParaRPr>
          </a:p>
        </p:txBody>
      </p:sp>
      <p:sp>
        <p:nvSpPr>
          <p:cNvPr id="27" name="object 3">
            <a:extLst>
              <a:ext uri="{FF2B5EF4-FFF2-40B4-BE49-F238E27FC236}">
                <a16:creationId xmlns:a16="http://schemas.microsoft.com/office/drawing/2014/main" id="{E1D158F4-88FE-9397-1CA2-EABCA57E95F7}"/>
              </a:ext>
            </a:extLst>
          </p:cNvPr>
          <p:cNvSpPr txBox="1">
            <a:spLocks/>
          </p:cNvSpPr>
          <p:nvPr/>
        </p:nvSpPr>
        <p:spPr>
          <a:xfrm>
            <a:off x="291766" y="225361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MASAN GROUP</a:t>
            </a:r>
          </a:p>
        </p:txBody>
      </p:sp>
      <p:graphicFrame>
        <p:nvGraphicFramePr>
          <p:cNvPr id="29" name="Google Shape;271;p213">
            <a:extLst>
              <a:ext uri="{FF2B5EF4-FFF2-40B4-BE49-F238E27FC236}">
                <a16:creationId xmlns:a16="http://schemas.microsoft.com/office/drawing/2014/main" id="{FC563A3D-1F24-9D94-C422-48E0ECDA52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68898"/>
              </p:ext>
            </p:extLst>
          </p:nvPr>
        </p:nvGraphicFramePr>
        <p:xfrm>
          <a:off x="237188" y="4103144"/>
          <a:ext cx="5174047" cy="2677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320A63-6633-8A7C-43FA-187A86921661}"/>
              </a:ext>
            </a:extLst>
          </p:cNvPr>
          <p:cNvSpPr txBox="1"/>
          <p:nvPr/>
        </p:nvSpPr>
        <p:spPr>
          <a:xfrm>
            <a:off x="175257" y="757492"/>
            <a:ext cx="6160898" cy="33825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câu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chuyện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hẳn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trước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vốn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xoay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quanh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: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chứng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khoán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chỉ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còn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chiếm</a:t>
            </a:r>
            <a:r>
              <a:rPr lang="en-US" sz="1200" dirty="0">
                <a:latin typeface="+mj-lt"/>
              </a:rPr>
              <a:t> 34%, </a:t>
            </a:r>
            <a:r>
              <a:rPr lang="en-US" sz="1200" dirty="0" err="1">
                <a:latin typeface="+mj-lt"/>
              </a:rPr>
              <a:t>trong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khi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nội</a:t>
            </a:r>
            <a:r>
              <a:rPr lang="en-US" sz="1200" dirty="0">
                <a:latin typeface="+mj-lt"/>
              </a:rPr>
              <a:t> dung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quảng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25% </a:t>
            </a:r>
            <a:r>
              <a:rPr lang="en-US" sz="1200" dirty="0" err="1">
                <a:latin typeface="+mj-lt"/>
              </a:rPr>
              <a:t>nhờ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các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hoạt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động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của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sinh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Masan. </a:t>
            </a:r>
            <a:r>
              <a:rPr lang="en-US" sz="1200" dirty="0" err="1">
                <a:latin typeface="+mj-lt"/>
              </a:rPr>
              <a:t>Sắc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trung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áp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đảo</a:t>
            </a:r>
            <a:r>
              <a:rPr lang="en-US" sz="1200" dirty="0">
                <a:latin typeface="+mj-lt"/>
              </a:rPr>
              <a:t> (85%), </a:t>
            </a:r>
            <a:r>
              <a:rPr lang="vi-VN" sz="1200" dirty="0">
                <a:latin typeface="+mj-lt"/>
              </a:rPr>
              <a:t>sức khỏe thương hiệu đạt tỉ lệ </a:t>
            </a:r>
            <a:r>
              <a:rPr lang="en-US" sz="1200" dirty="0">
                <a:latin typeface="+mj-lt"/>
              </a:rPr>
              <a:t>32%; fireant.vn </a:t>
            </a:r>
            <a:r>
              <a:rPr lang="en-US" sz="1200" dirty="0" err="1">
                <a:latin typeface="+mj-lt"/>
              </a:rPr>
              <a:t>tiếp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tục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nguồn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lớn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nhất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tỷ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trọng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giảm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lan </a:t>
            </a:r>
            <a:r>
              <a:rPr lang="en-US" sz="1200" dirty="0" err="1">
                <a:latin typeface="+mj-lt"/>
              </a:rPr>
              <a:t>tỏa</a:t>
            </a:r>
            <a:r>
              <a:rPr lang="en-US" sz="1200" dirty="0">
                <a:latin typeface="+mj-lt"/>
              </a:rPr>
              <a:t> qua </a:t>
            </a:r>
            <a:r>
              <a:rPr lang="en-US" sz="1200" dirty="0" err="1">
                <a:latin typeface="+mj-lt"/>
              </a:rPr>
              <a:t>nhiều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kênh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thay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vì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dồn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hết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đàn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tư</a:t>
            </a:r>
            <a:endParaRPr lang="vi-VN" sz="1200" dirty="0">
              <a:latin typeface="+mj-lt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tích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được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dắt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bởi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hành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ESOP </a:t>
            </a:r>
            <a:r>
              <a:rPr lang="en-US" sz="1200" dirty="0" err="1">
                <a:latin typeface="+mj-lt"/>
              </a:rPr>
              <a:t>và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kỳ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vọng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nhịp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tăng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đầu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tháng</a:t>
            </a:r>
            <a:r>
              <a:rPr lang="en-US" sz="1200" dirty="0">
                <a:latin typeface="+mj-lt"/>
              </a:rPr>
              <a:t> 6; </a:t>
            </a:r>
            <a:r>
              <a:rPr lang="en-US" sz="1200" dirty="0" err="1">
                <a:latin typeface="+mj-lt"/>
              </a:rPr>
              <a:t>phía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cực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nhỏ</a:t>
            </a:r>
            <a:r>
              <a:rPr lang="en-US" sz="1200" dirty="0">
                <a:latin typeface="+mj-lt"/>
              </a:rPr>
              <a:t> (5%) </a:t>
            </a:r>
            <a:r>
              <a:rPr lang="en-US" sz="1200" dirty="0" err="1">
                <a:latin typeface="+mj-lt"/>
              </a:rPr>
              <a:t>nhưng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lặp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lại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nỗi</a:t>
            </a:r>
            <a:r>
              <a:rPr lang="en-US" sz="1200" dirty="0">
                <a:latin typeface="+mj-lt"/>
              </a:rPr>
              <a:t> lo </a:t>
            </a:r>
            <a:r>
              <a:rPr lang="en-US" sz="1200" dirty="0" err="1">
                <a:latin typeface="+mj-lt"/>
              </a:rPr>
              <a:t>cũ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về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cổ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phiếu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xuống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Lượng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lao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dốc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giữa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tuần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rồi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bật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ba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ngày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cuối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cho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thấy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mạch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thảo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luận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vẫn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nhạy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với</a:t>
            </a:r>
            <a:r>
              <a:rPr lang="en-US" sz="1200" dirty="0">
                <a:latin typeface="+mj-lt"/>
              </a:rPr>
              <a:t> tin </a:t>
            </a:r>
            <a:r>
              <a:rPr lang="en-US" sz="1200" dirty="0" err="1">
                <a:latin typeface="+mj-lt"/>
              </a:rPr>
              <a:t>tức</a:t>
            </a:r>
            <a:r>
              <a:rPr lang="en-US" sz="1200" dirty="0">
                <a:latin typeface="+mj-lt"/>
              </a:rPr>
              <a:t>. </a:t>
            </a:r>
            <a:r>
              <a:rPr lang="en-US" sz="1200" dirty="0" err="1">
                <a:latin typeface="+mj-lt"/>
              </a:rPr>
              <a:t>Điểm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mừng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là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tiêu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dùng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đã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nổi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lên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đủ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mạnh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để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hình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ảnh</a:t>
            </a:r>
            <a:r>
              <a:rPr lang="en-US" sz="1200" dirty="0">
                <a:latin typeface="+mj-lt"/>
              </a:rPr>
              <a:t> Masan </a:t>
            </a:r>
            <a:r>
              <a:rPr lang="en-US" sz="1200" dirty="0" err="1">
                <a:latin typeface="+mj-lt"/>
              </a:rPr>
              <a:t>bớt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lệ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thuộc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vào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diễn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biến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bảng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giá</a:t>
            </a:r>
            <a:r>
              <a:rPr lang="en-US" sz="1200" dirty="0">
                <a:latin typeface="+mj-lt"/>
              </a:rPr>
              <a:t>, </a:t>
            </a:r>
            <a:r>
              <a:rPr lang="en-US" sz="1200" dirty="0" err="1">
                <a:latin typeface="+mj-lt"/>
              </a:rPr>
              <a:t>đúng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hướng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thương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hiệu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cần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phát</a:t>
            </a:r>
            <a:r>
              <a:rPr lang="en-US" sz="1200" dirty="0">
                <a:latin typeface="+mj-lt"/>
              </a:rPr>
              <a:t> </a:t>
            </a:r>
            <a:r>
              <a:rPr lang="en-US" sz="1200" dirty="0" err="1">
                <a:latin typeface="+mj-lt"/>
              </a:rPr>
              <a:t>huy</a:t>
            </a:r>
            <a:endParaRPr lang="vi-VN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3367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FA306-1746-A223-5FFF-2432B1CC1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F668D51-C8FB-C451-5360-CCB10A1E23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986007"/>
              </p:ext>
            </p:extLst>
          </p:nvPr>
        </p:nvGraphicFramePr>
        <p:xfrm>
          <a:off x="163685" y="1319092"/>
          <a:ext cx="11864629" cy="451923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62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7684">
                  <a:extLst>
                    <a:ext uri="{9D8B030D-6E8A-4147-A177-3AD203B41FA5}">
                      <a16:colId xmlns:a16="http://schemas.microsoft.com/office/drawing/2014/main" val="2692213912"/>
                    </a:ext>
                  </a:extLst>
                </a:gridCol>
                <a:gridCol w="189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7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71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7939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#\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CHỦ ĐỀ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THẢO LUẬN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NGUỒN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TÍCH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TRUNG LẬP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latin typeface="Georgia" pitchFamily="2" charset="0"/>
                          <a:cs typeface="Georgia" panose="020B0604020202020204" pitchFamily="34" charset="0"/>
                        </a:rPr>
                        <a:t>TIÊU CỰC</a:t>
                      </a:r>
                    </a:p>
                  </a:txBody>
                  <a:tcPr marL="121920" marR="121920" marT="60960" marB="60960" anchor="ctr">
                    <a:solidFill>
                      <a:srgbClr val="0044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1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3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quỹ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ngoại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lớn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(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Smallcap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World Fund, Boardwalk South, VOF…)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và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động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thái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với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cổ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</a:t>
                      </a:r>
                      <a:r>
                        <a:rPr lang="en-US" sz="1100" b="0" dirty="0" err="1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phiếu</a:t>
                      </a:r>
                      <a:r>
                        <a:rPr lang="en-US" sz="1100" b="0" dirty="0">
                          <a:solidFill>
                            <a:srgbClr val="1F4E9B"/>
                          </a:solidFill>
                          <a:latin typeface="+mn-lt"/>
                          <a:hlinkClick r:id="rId3"/>
                        </a:rPr>
                        <a:t> MSN</a:t>
                      </a:r>
                    </a:p>
                  </a:txBody>
                  <a:tcPr marL="73152" marR="73152" marT="36576" marB="36576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29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Giải Mã Băng Cơ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091706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2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Bản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tin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nhanh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chứng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khoán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3/6: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phát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14,4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triệu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ESOP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10.000đ,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gần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300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nhân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viên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4"/>
                        </a:rPr>
                        <a:t>lợi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4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Vnfinance.vn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388331"/>
                  </a:ext>
                </a:extLst>
              </a:tr>
              <a:tr h="743765">
                <a:tc>
                  <a:txBody>
                    <a:bodyPr/>
                    <a:lstStyle/>
                    <a:p>
                      <a:pPr algn="ctr"/>
                      <a:r>
                        <a:rPr lang="vi-VN" sz="1000" b="0" dirty="0">
                          <a:latin typeface="Georgia" pitchFamily="2" charset="0"/>
                          <a:cs typeface="Georgia" panose="020B0604020202020204" pitchFamily="34" charset="0"/>
                        </a:rPr>
                        <a:t>3</a:t>
                      </a:r>
                      <a:endParaRPr lang="en-US" sz="1000" b="0" dirty="0">
                        <a:latin typeface="Georgia" pitchFamily="2" charset="0"/>
                        <a:cs typeface="Georgia" panose="020B0604020202020204" pitchFamily="34" charset="0"/>
                      </a:endParaRP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thành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“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tài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sản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chiến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” – MSR (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mỏ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Núi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Pháo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)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hưởng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lợi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nhuận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quý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kỷ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5"/>
                        </a:rPr>
                        <a:t>lục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5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89776"/>
                  </a:ext>
                </a:extLst>
              </a:tr>
              <a:tr h="671064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4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ninh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chuỗi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cung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ứng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: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vonfram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ngoài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Trung Quốc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được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tái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định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giá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cơ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hội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cho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6"/>
                        </a:rPr>
                        <a:t> MSR</a:t>
                      </a: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+mn-ea"/>
                          <a:cs typeface="Georgia" panose="020B0604020202020204" pitchFamily="34" charset="0"/>
                          <a:sym typeface="Georgia"/>
                        </a:rPr>
                        <a:t>Thuongtruong24h.vn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+mn-e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81288"/>
                  </a:ext>
                </a:extLst>
              </a:tr>
              <a:tr h="908935">
                <a:tc>
                  <a:txBody>
                    <a:bodyPr/>
                    <a:lstStyle/>
                    <a:p>
                      <a:pPr algn="ctr"/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Georgia" pitchFamily="2" charset="0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5</a:t>
                      </a:r>
                    </a:p>
                  </a:txBody>
                  <a:tcPr marL="120856" marR="120856" marT="60428" marB="60428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Masan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mất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6.000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tỷ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vốn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hóa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sau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hơn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một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tháng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–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cổ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phiếu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MSN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tiếp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tục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điều</a:t>
                      </a:r>
                      <a:r>
                        <a:rPr sz="1100" b="0" dirty="0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1F4E9B"/>
                          </a:solidFill>
                          <a:latin typeface="Georgia"/>
                          <a:hlinkClick r:id="rId7"/>
                        </a:rPr>
                        <a:t>chỉnh</a:t>
                      </a:r>
                      <a:endParaRPr sz="1100" b="0" dirty="0">
                        <a:solidFill>
                          <a:srgbClr val="1F4E9B"/>
                        </a:solidFill>
                        <a:latin typeface="Georgia"/>
                        <a:hlinkClick r:id="rId7"/>
                      </a:endParaRPr>
                    </a:p>
                  </a:txBody>
                  <a:tcPr marL="73152" marR="73152" marT="36576" marB="36576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Georgia" pitchFamily="2" charset="77"/>
                          <a:ea typeface="Georgia"/>
                          <a:cs typeface="Georgia" panose="020B0604020202020204" pitchFamily="34" charset="0"/>
                          <a:sym typeface="Georgia"/>
                        </a:rPr>
                        <a:t>1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vi-VN" sz="1000" b="0" i="0" u="none" strike="noStrike" kern="1200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Georgia"/>
                        </a:rPr>
                        <a:t>Chuyendongthitruong.vn</a:t>
                      </a:r>
                      <a:endParaRPr lang="en-US" sz="1000" b="0" i="0" u="none" strike="noStrike" kern="1200" cap="none" dirty="0">
                        <a:solidFill>
                          <a:schemeClr val="tx1"/>
                        </a:solidFill>
                        <a:latin typeface="Georgia" pitchFamily="2" charset="77"/>
                        <a:ea typeface="Georgia"/>
                        <a:cs typeface="Georgia" panose="020B0604020202020204" pitchFamily="34" charset="0"/>
                        <a:sym typeface="Georgia"/>
                      </a:endParaRP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00B05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100</a:t>
                      </a:r>
                      <a:r>
                        <a:rPr lang="en-US" sz="1100" b="1" i="0" u="none" strike="noStrike" dirty="0">
                          <a:solidFill>
                            <a:srgbClr val="7F7F7F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vi-VN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0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Georgia" pitchFamily="2" charset="0"/>
                        </a:rPr>
                        <a:t>%</a:t>
                      </a:r>
                    </a:p>
                  </a:txBody>
                  <a:tcPr marL="7620" marR="7620" marT="7620" marB="0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164118"/>
                  </a:ext>
                </a:extLst>
              </a:tr>
            </a:tbl>
          </a:graphicData>
        </a:graphic>
      </p:graphicFrame>
      <p:sp>
        <p:nvSpPr>
          <p:cNvPr id="10" name="object 3">
            <a:extLst>
              <a:ext uri="{FF2B5EF4-FFF2-40B4-BE49-F238E27FC236}">
                <a16:creationId xmlns:a16="http://schemas.microsoft.com/office/drawing/2014/main" id="{40678A62-0034-BE4E-D5EE-92336B317493}"/>
              </a:ext>
            </a:extLst>
          </p:cNvPr>
          <p:cNvSpPr txBox="1">
            <a:spLocks/>
          </p:cNvSpPr>
          <p:nvPr/>
        </p:nvSpPr>
        <p:spPr>
          <a:xfrm>
            <a:off x="163685" y="336112"/>
            <a:ext cx="9715728" cy="586953"/>
          </a:xfrm>
          <a:prstGeom prst="rect">
            <a:avLst/>
          </a:prstGeom>
        </p:spPr>
        <p:txBody>
          <a:bodyPr vert="horz" wrap="square" lIns="0" tIns="185036" rIns="0" bIns="0" rtlCol="0" anchor="ctr">
            <a:spAutoFit/>
          </a:bodyPr>
          <a:lstStyle>
            <a:lvl1pPr>
              <a:defRPr sz="1450" b="0" i="0">
                <a:solidFill>
                  <a:srgbClr val="163B66"/>
                </a:solidFill>
                <a:latin typeface="Georgia"/>
                <a:ea typeface="Georgia"/>
                <a:cs typeface="Georgia"/>
              </a:defRPr>
            </a:lvl1pPr>
          </a:lstStyle>
          <a:p>
            <a:pPr marL="12700" marR="0" lvl="0" indent="0" algn="l" defTabSz="914377" rtl="0" eaLnBrk="1" fontAlgn="auto" latinLnBrk="0" hangingPunct="1">
              <a:lnSpc>
                <a:spcPct val="100000"/>
              </a:lnSpc>
              <a:spcBef>
                <a:spcPts val="565"/>
              </a:spcBef>
              <a:spcAft>
                <a:spcPts val="0"/>
              </a:spcAft>
              <a:buClrTx/>
              <a:buSzTx/>
              <a:buFont typeface="Georgia"/>
              <a:buNone/>
              <a:tabLst/>
              <a:defRPr/>
            </a:pPr>
            <a:r>
              <a:rPr kumimoji="0" lang="en-US" sz="2600" b="0" i="0" u="none" strike="noStrike" kern="0" cap="none" spc="131" normalizeH="0" baseline="0" noProof="0" dirty="0">
                <a:ln>
                  <a:noFill/>
                </a:ln>
                <a:solidFill>
                  <a:srgbClr val="1B3866"/>
                </a:solidFill>
                <a:effectLst/>
                <a:uLnTx/>
                <a:uFillTx/>
                <a:latin typeface="Georgia" pitchFamily="2" charset="0"/>
                <a:cs typeface="Georgia"/>
                <a:sym typeface="Georgia"/>
              </a:rPr>
              <a:t>CÁC BÀI ĐĂNG NỔI BẬT</a:t>
            </a:r>
            <a:endParaRPr kumimoji="0" lang="en-US" sz="2600" b="0" i="0" u="none" strike="noStrike" kern="0" cap="none" spc="0" normalizeH="0" baseline="0" noProof="0" dirty="0">
              <a:ln>
                <a:noFill/>
              </a:ln>
              <a:solidFill>
                <a:srgbClr val="1B3866"/>
              </a:solidFill>
              <a:effectLst/>
              <a:uLnTx/>
              <a:uFillTx/>
              <a:latin typeface="Georgia" pitchFamily="2" charset="0"/>
              <a:cs typeface="Georgia"/>
              <a:sym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1477798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san">
      <a:dk1>
        <a:srgbClr val="000000"/>
      </a:dk1>
      <a:lt1>
        <a:srgbClr val="FFFFFF"/>
      </a:lt1>
      <a:dk2>
        <a:srgbClr val="00447C"/>
      </a:dk2>
      <a:lt2>
        <a:srgbClr val="A0BBD4"/>
      </a:lt2>
      <a:accent1>
        <a:srgbClr val="5488AD"/>
      </a:accent1>
      <a:accent2>
        <a:srgbClr val="00001F"/>
      </a:accent2>
      <a:accent3>
        <a:srgbClr val="7F7F7F"/>
      </a:accent3>
      <a:accent4>
        <a:srgbClr val="EC9123"/>
      </a:accent4>
      <a:accent5>
        <a:srgbClr val="C61C2C"/>
      </a:accent5>
      <a:accent6>
        <a:srgbClr val="448D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ajorFont>
      <a:minorFont>
        <a:latin typeface="Georgia"/>
        <a:ea typeface="Georgia"/>
        <a:cs typeface="Georgia"/>
        <a:font script="Jpan" typeface="Georgia"/>
        <a:font script="Hang" typeface="Georgia"/>
        <a:font script="Hans" typeface="Georgia"/>
        <a:font script="Hant" typeface="Georgia"/>
        <a:font script="Arab" typeface="Georgia"/>
        <a:font script="Hebr" typeface="Georgia"/>
        <a:font script="Thai" typeface="Georgia"/>
        <a:font script="Ethi" typeface="Georgia"/>
        <a:font script="Beng" typeface="Georgia"/>
        <a:font script="Gujr" typeface="Georgia"/>
        <a:font script="Khmr" typeface="Georgia"/>
        <a:font script="Knda" typeface="Georgia"/>
        <a:font script="Guru" typeface="Georgia"/>
        <a:font script="Cans" typeface="Georgia"/>
        <a:font script="Cher" typeface="Georgia"/>
        <a:font script="Yiii" typeface="Georgia"/>
        <a:font script="Tibt" typeface="Georgia"/>
        <a:font script="Thaa" typeface="Georgia"/>
        <a:font script="Deva" typeface="Georgia"/>
        <a:font script="Telu" typeface="Georgia"/>
        <a:font script="Taml" typeface="Georgia"/>
        <a:font script="Syrc" typeface="Georgia"/>
        <a:font script="Orya" typeface="Georgia"/>
        <a:font script="Mlym" typeface="Georgia"/>
        <a:font script="Laoo" typeface="Georgia"/>
        <a:font script="Sinh" typeface="Georgia"/>
        <a:font script="Mong" typeface="Georgia"/>
        <a:font script="Viet" typeface="Georgia"/>
        <a:font script="Uigh" typeface="Georgia"/>
        <a:font script="Geor" typeface="Georgi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17115</TotalTime>
  <Words>1316</Words>
  <Application>Microsoft Macintosh PowerPoint</Application>
  <PresentationFormat>Widescreen</PresentationFormat>
  <Paragraphs>156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Thu Le Tran Phuong</cp:lastModifiedBy>
  <cp:revision>1</cp:revision>
  <dcterms:created xsi:type="dcterms:W3CDTF">2012-03-21T05:59:50Z</dcterms:created>
  <dcterms:modified xsi:type="dcterms:W3CDTF">2026-06-10T03:12:36Z</dcterms:modified>
</cp:coreProperties>
</file>