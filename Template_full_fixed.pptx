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1"/>
  </p:notesMasterIdLst>
  <p:sldIdLst>
    <p:sldId id="2147481718" r:id="rId2"/>
    <p:sldId id="2147481719" r:id="rId3"/>
    <p:sldId id="2147481720" r:id="rId4"/>
    <p:sldId id="2147481721" r:id="rId5"/>
    <p:sldId id="2147481722" r:id="rId6"/>
    <p:sldId id="2147481723" r:id="rId7"/>
    <p:sldId id="2147481724" r:id="rId8"/>
    <p:sldId id="2147481725" r:id="rId9"/>
    <p:sldId id="2147481726" r:id="rId10"/>
  </p:sldIdLst>
  <p:sldSz cx="12192000" cy="6858000"/>
  <p:notesSz cx="6807200" cy="9939338"/>
  <p:embeddedFontLst>
    <p:embeddedFont>
      <p:font typeface="Georgia" panose="02040502050405020303" pitchFamily="18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304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2" roundtripDataSignature="AMtx7mjhHxuWovewr+DnDubu6oqfqIE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237B"/>
    <a:srgbClr val="00447C"/>
    <a:srgbClr val="96580D"/>
    <a:srgbClr val="AED8AF"/>
    <a:srgbClr val="29552A"/>
    <a:srgbClr val="767778"/>
    <a:srgbClr val="00007F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3C8EB9-6EEE-4A75-BDF9-FAD800443806}">
  <a:tblStyle styleId="{303C8EB9-6EEE-4A75-BDF9-FAD800443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32B33-55AA-4BEC-81F8-80104BE72D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E8"/>
          </a:solidFill>
        </a:fill>
      </a:tcStyle>
    </a:wholeTbl>
    <a:band1H>
      <a:tcTxStyle/>
      <a:tcStyle>
        <a:tcBdr/>
        <a:fill>
          <a:solidFill>
            <a:srgbClr val="CDDA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A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4402" autoAdjust="0"/>
  </p:normalViewPr>
  <p:slideViewPr>
    <p:cSldViewPr snapToGrid="0">
      <p:cViewPr varScale="1">
        <p:scale>
          <a:sx n="92" d="100"/>
          <a:sy n="92" d="100"/>
        </p:scale>
        <p:origin x="680" y="176"/>
      </p:cViewPr>
      <p:guideLst>
        <p:guide pos="384"/>
        <p:guide orient="horz" pos="4080"/>
        <p:guide pos="7296"/>
        <p:guide orient="horz" pos="816"/>
        <p:guide pos="384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55" Type="http://schemas.openxmlformats.org/officeDocument/2006/relationships/theme" Target="theme/theme1.xml"/><Relationship Id="rId3" Type="http://schemas.openxmlformats.org/officeDocument/2006/relationships/slide" Target="slides/slide2.xml"/><Relationship Id="rId15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52" Type="http://customschemas.google.com/relationships/presentationmetadata" Target="metadata"/><Relationship Id="rId10" Type="http://schemas.openxmlformats.org/officeDocument/2006/relationships/slide" Target="slides/slide9.xml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rts/_rels/chart1.xml.rels><?xml version='1.0' encoding='UTF-8' standalone='yes'?>
<Relationships xmlns="http://schemas.openxmlformats.org/package/2006/relationships"/>
</file>

<file path=ppt/charts/_rels/chart2.xml.rels><?xml version='1.0' encoding='UTF-8' standalone='yes'?>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'1.0' encoding='UTF-8' standalone='yes'?>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'1.0' encoding='UTF-8' standalone='yes'?>
<Relationships xmlns="http://schemas.openxmlformats.org/package/2006/relationships"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'1.0' encoding='UTF-8' standalone='yes'?>
<Relationships xmlns="http://schemas.openxmlformats.org/package/2006/relationships"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'1.0' encoding='UTF-8' standalone='yes'?>
<Relationships xmlns="http://schemas.openxmlformats.org/package/2006/relationships"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'1.0' encoding='UTF-8' standalone='yes'?>
<Relationships xmlns="http://schemas.openxmlformats.org/package/2006/relationships"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'1.0' encoding='UTF-8' standalone='yes'?>
<Relationships xmlns="http://schemas.openxmlformats.org/package/2006/relationships"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3.xml.rels><?xml version='1.0' encoding='UTF-8' standalone='yes'?>
<Relationships xmlns="http://schemas.openxmlformats.org/package/2006/relationships"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4.xml.rels><?xml version='1.0' encoding='UTF-8' standalone='yes'?>
<Relationships xmlns="http://schemas.openxmlformats.org/package/2006/relationships"/>
</file>

<file path=ppt/charts/_rels/chart15.xml.rels><?xml version='1.0' encoding='UTF-8' standalone='yes'?>
<Relationships xmlns="http://schemas.openxmlformats.org/package/2006/relationships"/>
</file>

<file path=ppt/charts/_rels/chart16.xml.rels><?xml version='1.0' encoding='UTF-8' standalone='yes'?>
<Relationships xmlns="http://schemas.openxmlformats.org/package/2006/relationships"/>
</file>

<file path=ppt/charts/_rels/chart17.xml.rels><?xml version='1.0' encoding='UTF-8' standalone='yes'?>
<Relationships xmlns="http://schemas.openxmlformats.org/package/2006/relationships"/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21.xml.rels><?xml version='1.0' encoding='UTF-8' standalone='yes'?>
<Relationships xmlns="http://schemas.openxmlformats.org/package/2006/relationships"/>
</file>

<file path=ppt/charts/_rels/chart22.xml.rels><?xml version='1.0' encoding='UTF-8' standalone='yes'?>
<Relationships xmlns="http://schemas.openxmlformats.org/package/2006/relationships"/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543187739301949E-2"/>
          <c:y val="7.905214163354457E-2"/>
          <c:w val="0.98845713735188556"/>
          <c:h val="0.74665217259611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Pivot!$D$4</c:f>
              <c:strCache>
                <c:ptCount val="1"/>
                <c:pt idx="0">
                  <c:v>MSN</c:v>
                </c:pt>
              </c:strCache>
            </c:strRef>
          </c:tx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74097376775975"/>
                      <c:h val="0.181723896930555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5F7-4503-8815-507FAD2F7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531730251985614"/>
                      <c:h val="0.167476629433059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F7-4503-8815-507FAD2F7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Pivot!$E$3:$F$3</c:f>
              <c:strCache>
                <c:ptCount val="2"/>
                <c:pt idx="0">
                  <c:v>21/05 - 27/05</c:v>
                </c:pt>
                <c:pt idx="1">
                  <c:v>28/05 - 03/06</c:v>
                </c:pt>
              </c:strCache>
            </c:strRef>
          </c:cat>
          <c:val>
            <c:numRef>
              <c:f>Pivot!$E$4:$F$4</c:f>
              <c:numCache>
                <c:formatCode>General</c:formatCode>
                <c:ptCount val="2"/>
                <c:pt idx="0">
                  <c:v>1870</c:v>
                </c:pt>
                <c:pt idx="1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7-4503-8815-507FAD2F7F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1986975"/>
        <c:axId val="1961975327"/>
      </c:barChart>
      <c:catAx>
        <c:axId val="196198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961975327"/>
        <c:crosses val="autoZero"/>
        <c:auto val="1"/>
        <c:lblAlgn val="ctr"/>
        <c:lblOffset val="100"/>
        <c:noMultiLvlLbl val="0"/>
      </c:catAx>
      <c:valAx>
        <c:axId val="19619753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1986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[MSN_Competitor_DataWeekly1.xlsx]Pivot!PivotTable2</c:name>
    <c:fmtId val="5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528196929209821"/>
          <c:y val="4.3875054585300888E-2"/>
          <c:w val="0.51778029944317383"/>
          <c:h val="0.89201061056879938"/>
        </c:manualLayout>
      </c:layout>
      <c:doughnutChart>
        <c:varyColors val="1"/>
        <c:ser>
          <c:idx val="0"/>
          <c:order val="0"/>
          <c:tx>
            <c:strRef>
              <c:f>Pivot!$J$5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F6-47CC-AF4D-629B33F6842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6-47CC-AF4D-629B33F6842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F6-47CC-AF4D-629B33F6842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F6-47CC-AF4D-629B33F6842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F6-47CC-AF4D-629B33F6842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2F6-47CC-AF4D-629B33F684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2F6-47CC-AF4D-629B33F6842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2F6-47CC-AF4D-629B33F6842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2F6-47CC-AF4D-629B33F6842F}"/>
              </c:ext>
            </c:extLst>
          </c:dPt>
          <c:dLbls>
            <c:dLbl>
              <c:idx val="4"/>
              <c:layout>
                <c:manualLayout>
                  <c:x val="-0.20994635622630281"/>
                  <c:y val="-9.4727534588772658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F6-47CC-AF4D-629B33F6842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2F6-47CC-AF4D-629B33F6842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2F6-47CC-AF4D-629B33F6842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2F6-47CC-AF4D-629B33F6842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2F6-47CC-AF4D-629B33F6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Pivot!$I$6:$I$14</c:f>
              <c:strCache>
                <c:ptCount val="8"/>
                <c:pt idx="0">
                  <c:v>Facebook</c:v>
                </c:pt>
                <c:pt idx="1">
                  <c:v>Tiktok</c:v>
                </c:pt>
                <c:pt idx="2">
                  <c:v>Social</c:v>
                </c:pt>
                <c:pt idx="3">
                  <c:v>News</c:v>
                </c:pt>
                <c:pt idx="4">
                  <c:v>Youtube</c:v>
                </c:pt>
                <c:pt idx="5">
                  <c:v>Threads</c:v>
                </c:pt>
                <c:pt idx="6">
                  <c:v>Forum</c:v>
                </c:pt>
                <c:pt idx="7">
                  <c:v>Linkedin</c:v>
                </c:pt>
              </c:strCache>
            </c:strRef>
          </c:cat>
          <c:val>
            <c:numRef>
              <c:f>Pivot!$J$6:$J$14</c:f>
              <c:numCache>
                <c:formatCode>0.00%</c:formatCode>
                <c:ptCount val="8"/>
                <c:pt idx="0">
                  <c:v>0.46841938549255624</c:v>
                </c:pt>
                <c:pt idx="1">
                  <c:v>0.25733291099144756</c:v>
                </c:pt>
                <c:pt idx="2">
                  <c:v>0.12226797592651251</c:v>
                </c:pt>
                <c:pt idx="3">
                  <c:v>9.3443142223630024E-2</c:v>
                </c:pt>
                <c:pt idx="4">
                  <c:v>5.4545454545454543E-2</c:v>
                </c:pt>
                <c:pt idx="5">
                  <c:v>3.2942667089008552E-3</c:v>
                </c:pt>
                <c:pt idx="6">
                  <c:v>6.3351282863477985E-4</c:v>
                </c:pt>
                <c:pt idx="7">
                  <c:v>6.3351282863477985E-5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F6-47CC-AF4D-629B33F68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>
          <a:glow>
            <a:schemeClr val="accent1">
              <a:alpha val="32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68126018194563664"/>
          <c:y val="0"/>
          <c:w val="0.3187398180543633"/>
          <c:h val="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087415138523115"/>
          <c:w val="1"/>
          <c:h val="0.67102989579207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ABD-41BD-BD05-BC19A60AB672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ABD-41BD-BD05-BC19A60AB672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ABD-41BD-BD05-BC19A60AB672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ABD-41BD-BD05-BC19A60AB672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Pivot!$E$5:$E$8</c:f>
              <c:numCache>
                <c:formatCode>General</c:formatCode>
                <c:ptCount val="4"/>
                <c:pt idx="0">
                  <c:v>25520</c:v>
                </c:pt>
                <c:pt idx="1">
                  <c:v>6939</c:v>
                </c:pt>
                <c:pt idx="2">
                  <c:v>5327</c:v>
                </c:pt>
                <c:pt idx="3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9ABD-41BD-BD05-BC19A60AB672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ABD-41BD-BD05-BC19A60AB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ABD-41BD-BD05-BC19A60AB672}"/>
              </c:ext>
            </c:extLst>
          </c:dPt>
          <c:dPt>
            <c:idx val="2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ABD-41BD-BD05-BC19A60AB67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Pivot!$F$5:$F$8</c:f>
              <c:numCache>
                <c:formatCode>General</c:formatCode>
                <c:ptCount val="4"/>
                <c:pt idx="0">
                  <c:v>25582</c:v>
                </c:pt>
                <c:pt idx="1">
                  <c:v>6126</c:v>
                </c:pt>
                <c:pt idx="2">
                  <c:v>5978</c:v>
                </c:pt>
                <c:pt idx="3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ABD-41BD-BD05-BC19A60AB6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525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3564163350448897"/>
          <c:y val="3.1857652762239605E-2"/>
          <c:w val="0.26435836649551081"/>
          <c:h val="0.23029279670537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1" i="0" u="none" strike="noStrike" kern="1200" baseline="0">
              <a:solidFill>
                <a:schemeClr val="bg1">
                  <a:lumMod val="50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Pivot_Sentiment!$B$16:$B$20</c:f>
              <c:numCache>
                <c:formatCode>0%</c:formatCode>
                <c:ptCount val="5"/>
                <c:pt idx="0">
                  <c:v>9.9701168160825859E-2</c:v>
                </c:pt>
                <c:pt idx="1">
                  <c:v>0.16491650886555345</c:v>
                </c:pt>
                <c:pt idx="2">
                  <c:v>0.14429530201342283</c:v>
                </c:pt>
                <c:pt idx="3">
                  <c:v>0.23367088607594938</c:v>
                </c:pt>
                <c:pt idx="4">
                  <c:v>0.19412027294177667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D-43D2-8453-95D59651844A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Pivot_Sentiment!$C$16:$C$20</c:f>
              <c:numCache>
                <c:formatCode>0%</c:formatCode>
                <c:ptCount val="5"/>
                <c:pt idx="0">
                  <c:v>0.84841075794621024</c:v>
                </c:pt>
                <c:pt idx="1">
                  <c:v>0.7743157169908762</c:v>
                </c:pt>
                <c:pt idx="2">
                  <c:v>0.83260955388866953</c:v>
                </c:pt>
                <c:pt idx="3">
                  <c:v>0.71088607594936704</c:v>
                </c:pt>
                <c:pt idx="4">
                  <c:v>0.75103628595115113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D-43D2-8453-95D59651844A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Pivot_Sentiment!$D$16:$D$20</c:f>
              <c:numCache>
                <c:formatCode>0%</c:formatCode>
                <c:ptCount val="5"/>
                <c:pt idx="0">
                  <c:v>5.1888073892963869E-2</c:v>
                </c:pt>
                <c:pt idx="1">
                  <c:v>6.0767774143570319E-2</c:v>
                </c:pt>
                <c:pt idx="2">
                  <c:v>2.3095144097907621E-2</c:v>
                </c:pt>
                <c:pt idx="3">
                  <c:v>5.5443037974683543E-2</c:v>
                </c:pt>
                <c:pt idx="4">
                  <c:v>5.4843441107072254E-2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Pivot_Sentiment!$E$16:$E$20</c:f>
              <c:numCache>
                <c:formatCode>0%</c:formatCode>
                <c:ptCount val="5"/>
                <c:pt idx="0">
                  <c:v>0.31541218637992829</c:v>
                </c:pt>
                <c:pt idx="1">
                  <c:v>0.4614797864225782</c:v>
                </c:pt>
                <c:pt idx="2">
                  <c:v>0.72405660377358494</c:v>
                </c:pt>
                <c:pt idx="3">
                  <c:v>0.61646234676007017</c:v>
                </c:pt>
                <c:pt idx="4">
                  <c:v>0.55942622950819665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143614645385835E-2"/>
          <c:y val="0"/>
          <c:w val="0.87896726944661885"/>
          <c:h val="0.768249746676120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Pivot_Sentiment!$B$16</c:f>
              <c:numCache>
                <c:formatCode>0%</c:formatCode>
                <c:ptCount val="1"/>
                <c:pt idx="0">
                  <c:v>9.9701168160825859E-2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7CA-B9AE-D9A473CC0B8B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Pivot_Sentiment!$C$16</c:f>
              <c:numCache>
                <c:formatCode>0%</c:formatCode>
                <c:ptCount val="1"/>
                <c:pt idx="0">
                  <c:v>0.84841075794621024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7CA-B9AE-D9A473CC0B8B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Pivot_Sentiment!$D$16</c:f>
              <c:numCache>
                <c:formatCode>0%</c:formatCode>
                <c:ptCount val="1"/>
                <c:pt idx="0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C-47CA-B9AE-D9A473CC0B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49389151"/>
        <c:axId val="1149395871"/>
      </c:barChart>
      <c:catAx>
        <c:axId val="11493891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95871"/>
        <c:crosses val="autoZero"/>
        <c:auto val="1"/>
        <c:lblAlgn val="ctr"/>
        <c:lblOffset val="100"/>
        <c:noMultiLvlLbl val="0"/>
      </c:catAx>
      <c:valAx>
        <c:axId val="1149395871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4938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18846543705721"/>
          <c:y val="7.5118467420920806E-2"/>
          <c:w val="0.67858475707962984"/>
          <c:h val="0.88828457864964716"/>
        </c:manualLayout>
      </c:layout>
      <c:doughnutChart>
        <c:varyColors val="1"/>
        <c:ser>
          <c:idx val="1"/>
          <c:order val="0"/>
          <c:tx>
            <c:strRef>
              <c:f>Pivot!$F$3</c:f>
              <c:strCache>
                <c:ptCount val="1"/>
                <c:pt idx="0">
                  <c:v>21/05 - 27/05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0044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B4-45C1-A158-F3E99A9CFF9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B4-45C1-A158-F3E99A9CFF97}"/>
              </c:ext>
            </c:extLst>
          </c:dPt>
          <c:dPt>
            <c:idx val="2"/>
            <c:bubble3D val="0"/>
            <c:spPr>
              <a:solidFill>
                <a:srgbClr val="FF23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B4-45C1-A158-F3E99A9CFF97}"/>
              </c:ext>
            </c:extLst>
          </c:dPt>
          <c:dPt>
            <c:idx val="3"/>
            <c:bubble3D val="0"/>
            <c:spPr>
              <a:solidFill>
                <a:srgbClr val="AED8A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B4-45C1-A158-F3E99A9CFF97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B4-45C1-A158-F3E99A9CFF97}"/>
              </c:ext>
            </c:extLst>
          </c:dPt>
          <c:dLbls>
            <c:dLbl>
              <c:idx val="2"/>
              <c:layout>
                <c:manualLayout>
                  <c:x val="-0.10300698872323205"/>
                  <c:y val="-9.72531256685554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ysClr val="windowText" lastClr="000000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4-45C1-A158-F3E99A9CFF9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B4-45C1-A158-F3E99A9CF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B4-45C1-A158-F3E99A9CF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itchFamily="2" charset="0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[MSN_Competitor_DataWeekly1.xlsx]Pivot!PivotTable5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dirty="0">
                <a:solidFill>
                  <a:srgbClr val="00447C"/>
                </a:solidFill>
                <a:latin typeface="Georgia" panose="00000500000000000000" pitchFamily="2" charset="-93"/>
              </a:rPr>
              <a:t>ĐƯỜNG BIỂU DIỄN THẢO LUẬN</a:t>
            </a:r>
            <a:r>
              <a:rPr lang="en-US" sz="1000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MASAN VÀ CÁC ĐỐI THỦ</a:t>
            </a:r>
            <a:endParaRPr lang="en-US" sz="1000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15428133202099739"/>
          <c:y val="1.3310766900279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55857877285872E-2"/>
          <c:y val="0.23952151585434586"/>
          <c:w val="0.92369274175598903"/>
          <c:h val="0.63720742548815312"/>
        </c:manualLayout>
      </c:layout>
      <c:lineChart>
        <c:grouping val="standard"/>
        <c:varyColors val="0"/>
        <c:ser>
          <c:idx val="0"/>
          <c:order val="0"/>
          <c:tx>
            <c:strRef>
              <c:f>Pivot!$X$3:$X$4</c:f>
              <c:strCache>
                <c:ptCount val="1"/>
                <c:pt idx="0">
                  <c:v>MSN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Pivot!$X$5:$X$12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C2-4138-914A-FF74F3ECE05C}"/>
            </c:ext>
          </c:extLst>
        </c:ser>
        <c:ser>
          <c:idx val="1"/>
          <c:order val="1"/>
          <c:tx>
            <c:strRef>
              <c:f>Pivot!$Y$3:$Y$4</c:f>
              <c:strCache>
                <c:ptCount val="1"/>
                <c:pt idx="0">
                  <c:v>Hòa Phát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Pivot!$Y$5:$Y$12</c:f>
              <c:numCache>
                <c:formatCode>General</c:formatCode>
                <c:ptCount val="7"/>
                <c:pt idx="0">
                  <c:v>889</c:v>
                </c:pt>
                <c:pt idx="1">
                  <c:v>910</c:v>
                </c:pt>
                <c:pt idx="2">
                  <c:v>464</c:v>
                </c:pt>
                <c:pt idx="3">
                  <c:v>569</c:v>
                </c:pt>
                <c:pt idx="4">
                  <c:v>739</c:v>
                </c:pt>
                <c:pt idx="5">
                  <c:v>1164</c:v>
                </c:pt>
                <c:pt idx="6">
                  <c:v>1391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C2-4138-914A-FF74F3ECE05C}"/>
            </c:ext>
          </c:extLst>
        </c:ser>
        <c:ser>
          <c:idx val="2"/>
          <c:order val="2"/>
          <c:tx>
            <c:strRef>
              <c:f>Pivot!$Z$3:$Z$4</c:f>
              <c:strCache>
                <c:ptCount val="1"/>
                <c:pt idx="0">
                  <c:v>MWG</c:v>
                </c:pt>
              </c:strCache>
            </c:strRef>
          </c:tx>
          <c:spPr>
            <a:ln w="28575" cap="rnd">
              <a:solidFill>
                <a:srgbClr val="FF237B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Pivot!$Z$5:$Z$12</c:f>
              <c:numCache>
                <c:formatCode>General</c:formatCode>
                <c:ptCount val="7"/>
                <c:pt idx="0">
                  <c:v>665</c:v>
                </c:pt>
                <c:pt idx="1">
                  <c:v>1059</c:v>
                </c:pt>
                <c:pt idx="2">
                  <c:v>564</c:v>
                </c:pt>
                <c:pt idx="3">
                  <c:v>749</c:v>
                </c:pt>
                <c:pt idx="4">
                  <c:v>987</c:v>
                </c:pt>
                <c:pt idx="5">
                  <c:v>961</c:v>
                </c:pt>
                <c:pt idx="6">
                  <c:v>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C2-4138-914A-FF74F3ECE05C}"/>
            </c:ext>
          </c:extLst>
        </c:ser>
        <c:ser>
          <c:idx val="3"/>
          <c:order val="3"/>
          <c:tx>
            <c:strRef>
              <c:f>Pivot!$AA$3:$AA$4</c:f>
              <c:strCache>
                <c:ptCount val="1"/>
                <c:pt idx="0">
                  <c:v>Vinamilk</c:v>
                </c:pt>
              </c:strCache>
            </c:strRef>
          </c:tx>
          <c:spPr>
            <a:ln w="28575" cap="rnd">
              <a:solidFill>
                <a:srgbClr val="AED8AF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Pivot!$AA$5:$AA$12</c:f>
              <c:numCache>
                <c:formatCode>General</c:formatCode>
                <c:ptCount val="7"/>
                <c:pt idx="0">
                  <c:v>1126</c:v>
                </c:pt>
                <c:pt idx="1">
                  <c:v>620</c:v>
                </c:pt>
                <c:pt idx="2">
                  <c:v>528</c:v>
                </c:pt>
                <c:pt idx="3">
                  <c:v>491</c:v>
                </c:pt>
                <c:pt idx="4">
                  <c:v>970</c:v>
                </c:pt>
                <c:pt idx="5">
                  <c:v>774</c:v>
                </c:pt>
                <c:pt idx="6">
                  <c:v>758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BC2-4138-914A-FF74F3ECE05C}"/>
            </c:ext>
          </c:extLst>
        </c:ser>
        <c:ser>
          <c:idx val="4"/>
          <c:order val="4"/>
          <c:tx>
            <c:strRef>
              <c:f>Pivot!$AB$3:$AB$4</c:f>
              <c:strCache>
                <c:ptCount val="1"/>
                <c:pt idx="0">
                  <c:v>Vingroup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Pivot!$AB$5:$AB$12</c:f>
              <c:numCache>
                <c:formatCode>General</c:formatCode>
                <c:ptCount val="7"/>
                <c:pt idx="0">
                  <c:v>5205</c:v>
                </c:pt>
                <c:pt idx="1">
                  <c:v>3620</c:v>
                </c:pt>
                <c:pt idx="2">
                  <c:v>2659</c:v>
                </c:pt>
                <c:pt idx="3">
                  <c:v>1999</c:v>
                </c:pt>
                <c:pt idx="4">
                  <c:v>3693</c:v>
                </c:pt>
                <c:pt idx="5">
                  <c:v>3283</c:v>
                </c:pt>
                <c:pt idx="6">
                  <c:v>5123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BC2-4138-914A-FF74F3ECE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014488"/>
        <c:axId val="333018968"/>
      </c:lineChart>
      <c:dateAx>
        <c:axId val="333014488"/>
        <c:scaling>
          <c:orientation val="minMax"/>
        </c:scaling>
        <c:delete val="0"/>
        <c:axPos val="b"/>
        <c:numFmt formatCode="d/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8968"/>
        <c:crosses val="autoZero"/>
        <c:auto val="0"/>
        <c:lblOffset val="100"/>
        <c:baseTimeUnit val="days"/>
      </c:dateAx>
      <c:valAx>
        <c:axId val="333018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4488"/>
        <c:crossesAt val="43466"/>
        <c:crossBetween val="between"/>
      </c:valAx>
      <c:spPr>
        <a:noFill/>
        <a:ln w="3175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3.6377132545931751E-2"/>
          <c:y val="0.113933273896245"/>
          <c:w val="0.96362287192892537"/>
          <c:h val="0.101797102783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1"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0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b="1" dirty="0">
                <a:solidFill>
                  <a:srgbClr val="00447C"/>
                </a:solidFill>
                <a:latin typeface="Georgia" panose="00000500000000000000" pitchFamily="2" charset="-93"/>
              </a:rPr>
              <a:t>TỔNG</a:t>
            </a:r>
            <a:r>
              <a:rPr lang="en-US" sz="1000" b="1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THẢO LUẬN TRONG TUẦN</a:t>
            </a:r>
            <a:endParaRPr lang="en-US" sz="1000" b="1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31304855078752802"/>
          <c:y val="2.43556873642844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435626467744151E-2"/>
          <c:y val="0.16361157078140037"/>
          <c:w val="0.88214689261451995"/>
          <c:h val="0.67914570662293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176-44B7-B057-DA77B07136A9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176-44B7-B057-DA77B07136A9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176-44B7-B057-DA77B07136A9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176-44B7-B057-DA77B07136A9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176-44B7-B057-DA77B07136A9}"/>
              </c:ext>
            </c:extLst>
          </c:dPt>
          <c:dPt>
            <c:idx val="5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B-9176-44B7-B057-DA77B07136A9}"/>
              </c:ext>
            </c:extLst>
          </c:dPt>
          <c:dLbls>
            <c:dLbl>
              <c:idx val="0"/>
              <c:layout>
                <c:manualLayout>
                  <c:x val="0"/>
                  <c:y val="8.65264075870714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76-44B7-B057-DA77B07136A9}"/>
                </c:ext>
              </c:extLst>
            </c:dLbl>
            <c:dLbl>
              <c:idx val="4"/>
              <c:layout>
                <c:manualLayout>
                  <c:x val="0"/>
                  <c:y val="1.6699810603985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Pivot!$E$4:$E$8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9176-44B7-B057-DA77B07136A9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4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176-44B7-B057-DA77B07136A9}"/>
              </c:ext>
            </c:extLst>
          </c:dPt>
          <c:dPt>
            <c:idx val="1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176-44B7-B057-DA77B07136A9}"/>
              </c:ext>
            </c:extLst>
          </c:dPt>
          <c:dPt>
            <c:idx val="2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176-44B7-B057-DA77B07136A9}"/>
              </c:ext>
            </c:extLst>
          </c:dPt>
          <c:dPt>
            <c:idx val="3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176-44B7-B057-DA77B07136A9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9176-44B7-B057-DA77B07136A9}"/>
              </c:ext>
            </c:extLst>
          </c:dPt>
          <c:dLbls>
            <c:dLbl>
              <c:idx val="1"/>
              <c:layout>
                <c:manualLayout>
                  <c:x val="2.412280701754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3681</c:v>
                </c:pt>
                <c:pt idx="1">
                  <c:v>25582</c:v>
                </c:pt>
                <c:pt idx="2">
                  <c:v>6126</c:v>
                </c:pt>
                <c:pt idx="3">
                  <c:v>5978</c:v>
                </c:pt>
                <c:pt idx="4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176-44B7-B057-DA77B0713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252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022033430031767"/>
          <c:y val="0.14969271779065585"/>
          <c:w val="0.2332775590551181"/>
          <c:h val="0.165188196998035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5.9964037213665861E-2</c:v>
                </c:pt>
                <c:pt idx="1">
                  <c:v>1.4932374325697757E-2</c:v>
                </c:pt>
                <c:pt idx="2">
                  <c:v>1.4385114533656478E-2</c:v>
                </c:pt>
                <c:pt idx="3">
                  <c:v>4.6907982174966773E-3</c:v>
                </c:pt>
                <c:pt idx="4">
                  <c:v>1.7825033226487375E-2</c:v>
                </c:pt>
                <c:pt idx="5">
                  <c:v>8.2088968806191852E-4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E-4792-A742-64F1C83DF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0.3198342584629818</c:v>
                </c:pt>
                <c:pt idx="1">
                  <c:v>0.31385349073567353</c:v>
                </c:pt>
                <c:pt idx="2">
                  <c:v>9.2174184973809706E-2</c:v>
                </c:pt>
                <c:pt idx="3">
                  <c:v>0.10472207020561332</c:v>
                </c:pt>
                <c:pt idx="4">
                  <c:v>2.0756782112422798E-2</c:v>
                </c:pt>
                <c:pt idx="5">
                  <c:v>2.1890391681651162E-3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E-4792-A742-64F1C83DF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2.529122038933625E-2</c:v>
                </c:pt>
                <c:pt idx="1">
                  <c:v>2.2281291533109218E-3</c:v>
                </c:pt>
                <c:pt idx="2">
                  <c:v>4.6907982174966773E-3</c:v>
                </c:pt>
                <c:pt idx="3">
                  <c:v>1.1726995543741693E-4</c:v>
                </c:pt>
                <c:pt idx="4">
                  <c:v>1.4854194355406144E-3</c:v>
                </c:pt>
                <c:pt idx="5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E-4792-A742-64F1C83DFC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5E-4792-A742-64F1C83DF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5E-4792-A742-64F1C83DF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D5E-4792-A742-64F1C83DFC12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D5E-4792-A742-64F1C83DFC12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D5E-4792-A742-64F1C83DFC12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D5E-4792-A742-64F1C83DFC1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0.40508951606598387</c:v>
                </c:pt>
                <c:pt idx="1">
                  <c:v>0.33101399421468219</c:v>
                </c:pt>
                <c:pt idx="2">
                  <c:v>0.11125009772496286</c:v>
                </c:pt>
                <c:pt idx="3">
                  <c:v>0.10953013837854741</c:v>
                </c:pt>
                <c:pt idx="4">
                  <c:v>4.0067234774450788E-2</c:v>
                </c:pt>
                <c:pt idx="5">
                  <c:v>3.0490188413728404E-3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D5E-4792-A742-64F1C83DF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8.1619327456741761E-2</c:v>
                </c:pt>
                <c:pt idx="1">
                  <c:v>4.3095004897159644E-2</c:v>
                </c:pt>
                <c:pt idx="2">
                  <c:v>9.6310806398955274E-3</c:v>
                </c:pt>
                <c:pt idx="3">
                  <c:v>6.0398302317988904E-3</c:v>
                </c:pt>
                <c:pt idx="4">
                  <c:v>8.1619327456741752E-4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1-4438-8552-6D473E269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0.49624551093698988</c:v>
                </c:pt>
                <c:pt idx="1">
                  <c:v>0.24763303950375448</c:v>
                </c:pt>
                <c:pt idx="2">
                  <c:v>4.2115572967678747E-2</c:v>
                </c:pt>
                <c:pt idx="3">
                  <c:v>8.1619327456741754E-3</c:v>
                </c:pt>
                <c:pt idx="4">
                  <c:v>9.7943192948090111E-4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1-4438-8552-6D473E269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5.8439438459027097E-2</c:v>
                </c:pt>
                <c:pt idx="1">
                  <c:v>2.7750571335292198E-3</c:v>
                </c:pt>
                <c:pt idx="2">
                  <c:v>0</c:v>
                </c:pt>
                <c:pt idx="3">
                  <c:v>1.3059092393078681E-3</c:v>
                </c:pt>
                <c:pt idx="4">
                  <c:v>0</c:v>
                </c:pt>
                <c:pt idx="5">
                  <c:v>1.6323865491348351E-4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51-4438-8552-6D473E2693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51-4438-8552-6D473E2693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751-4438-8552-6D473E2693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751-4438-8552-6D473E26933A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51-4438-8552-6D473E26933A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751-4438-8552-6D473E26933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751-4438-8552-6D473E26933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0.6363042768527587</c:v>
                </c:pt>
                <c:pt idx="1">
                  <c:v>0.29350310153444337</c:v>
                </c:pt>
                <c:pt idx="2">
                  <c:v>5.1746653607574272E-2</c:v>
                </c:pt>
                <c:pt idx="3">
                  <c:v>1.5507672216780934E-2</c:v>
                </c:pt>
                <c:pt idx="4">
                  <c:v>1.7956252040483187E-3</c:v>
                </c:pt>
                <c:pt idx="5">
                  <c:v>1.1426705843943846E-3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51-4438-8552-6D473E269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83407371817879"/>
          <c:y val="1.3387982573938254E-2"/>
          <c:w val="0.49316592628182127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9.7524255603880894E-2</c:v>
                </c:pt>
                <c:pt idx="1">
                  <c:v>5.4533288725326194E-2</c:v>
                </c:pt>
                <c:pt idx="2">
                  <c:v>1.6728002676480429E-2</c:v>
                </c:pt>
                <c:pt idx="3">
                  <c:v>1.1040481766477083E-2</c:v>
                </c:pt>
                <c:pt idx="4">
                  <c:v>3.6801605888256944E-3</c:v>
                </c:pt>
                <c:pt idx="6">
                  <c:v>4.1937513105472847E-4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B-47F1-B50C-D5DC29C6C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0.3947808631649381</c:v>
                </c:pt>
                <c:pt idx="1">
                  <c:v>0.14754098360655737</c:v>
                </c:pt>
                <c:pt idx="2">
                  <c:v>0.18233522917363668</c:v>
                </c:pt>
                <c:pt idx="3">
                  <c:v>4.1150886584141851E-2</c:v>
                </c:pt>
                <c:pt idx="4">
                  <c:v>1.7898962863834057E-2</c:v>
                </c:pt>
                <c:pt idx="5">
                  <c:v>1.6728002676480428E-4</c:v>
                </c:pt>
                <c:pt idx="6">
                  <c:v>1.0484378276368212E-3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B-47F1-B50C-D5DC29C6C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2.8437604550016728E-2</c:v>
                </c:pt>
                <c:pt idx="1">
                  <c:v>3.6801605888256944E-3</c:v>
                </c:pt>
                <c:pt idx="2">
                  <c:v>3.3456005352960856E-4</c:v>
                </c:pt>
                <c:pt idx="3">
                  <c:v>1.6728002676480428E-4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5B-47F1-B50C-D5DC29C6C7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5B-47F1-B50C-D5DC29C6C7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43905200943901"/>
                      <c:h val="0.153993159220636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5B-47F1-B50C-D5DC29C6C7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5B-47F1-B50C-D5DC29C6C707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E5B-47F1-B50C-D5DC29C6C707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E5B-47F1-B50C-D5DC29C6C707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E5B-47F1-B50C-D5DC29C6C70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Sheet1!$E$2:$E$8</c:f>
              <c:numCache>
                <c:formatCode>0.00%</c:formatCode>
                <c:ptCount val="7"/>
                <c:pt idx="0">
                  <c:v>0.52074272331883575</c:v>
                </c:pt>
                <c:pt idx="1">
                  <c:v>0.20575443292070927</c:v>
                </c:pt>
                <c:pt idx="2">
                  <c:v>0.1993977919036467</c:v>
                </c:pt>
                <c:pt idx="3">
                  <c:v>5.2358648377383743E-2</c:v>
                </c:pt>
                <c:pt idx="4">
                  <c:v>2.1579123452659752E-2</c:v>
                </c:pt>
                <c:pt idx="5">
                  <c:v>1.6728002676480428E-4</c:v>
                </c:pt>
                <c:pt idx="6">
                  <c:v>1.4678129586915495E-3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E5B-47F1-B50C-D5DC29C6C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0.22327700778431744</c:v>
                </c:pt>
                <c:pt idx="1">
                  <c:v>8.9424719954433268E-2</c:v>
                </c:pt>
                <c:pt idx="2">
                  <c:v>2.6580596164799696E-2</c:v>
                </c:pt>
                <c:pt idx="3">
                  <c:v>1.0252515663565597E-2</c:v>
                </c:pt>
                <c:pt idx="4">
                  <c:v>1.12018226694513E-2</c:v>
                </c:pt>
                <c:pt idx="5">
                  <c:v>3.9870894247199546E-3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4BC-A66C-9D867DAB1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0.43876969812037214</c:v>
                </c:pt>
                <c:pt idx="1">
                  <c:v>0.10024681982153029</c:v>
                </c:pt>
                <c:pt idx="2">
                  <c:v>3.0567685589519649E-2</c:v>
                </c:pt>
                <c:pt idx="3">
                  <c:v>2.6580596164799696E-2</c:v>
                </c:pt>
                <c:pt idx="4">
                  <c:v>6.8350104423770645E-3</c:v>
                </c:pt>
                <c:pt idx="5">
                  <c:v>4.3668122270742356E-3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4BC-A66C-9D867DAB1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2.5061704955382572E-2</c:v>
                </c:pt>
                <c:pt idx="1">
                  <c:v>5.6958420353142201E-4</c:v>
                </c:pt>
                <c:pt idx="2">
                  <c:v>1.3290298082399847E-3</c:v>
                </c:pt>
                <c:pt idx="3">
                  <c:v>9.4930700588570342E-4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4BC-A66C-9D867DAB11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27-44BC-A66C-9D867DAB11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27-44BC-A66C-9D867DAB11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27-44BC-A66C-9D867DAB11C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627-44BC-A66C-9D867DAB11CE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627-44BC-A66C-9D867DAB11CE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627-44BC-A66C-9D867DAB11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0.68710841086007213</c:v>
                </c:pt>
                <c:pt idx="1">
                  <c:v>0.19024112397949497</c:v>
                </c:pt>
                <c:pt idx="2">
                  <c:v>5.847731156255933E-2</c:v>
                </c:pt>
                <c:pt idx="3">
                  <c:v>3.7782418834251E-2</c:v>
                </c:pt>
                <c:pt idx="4">
                  <c:v>1.8036833111828365E-2</c:v>
                </c:pt>
                <c:pt idx="5">
                  <c:v>8.3539016517941902E-3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27-44BC-A66C-9D867DAB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6E-4DC8-93B1-38A7C0E56C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6E-4DC8-93B1-38A7C0E56C2A}"/>
                </c:ext>
              </c:extLst>
            </c:dLbl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Pivot_Sentiment!$B$17:$B$20</c:f>
              <c:numCache>
                <c:formatCode>0%</c:formatCode>
                <c:ptCount val="4"/>
                <c:pt idx="0">
                  <c:v>0.16491650886555345</c:v>
                </c:pt>
                <c:pt idx="1">
                  <c:v>0.14429530201342283</c:v>
                </c:pt>
                <c:pt idx="2">
                  <c:v>0.23367088607594938</c:v>
                </c:pt>
                <c:pt idx="3">
                  <c:v>0.19412027294177667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007-41D6-AC58-EB33B4DFFE3C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Pivot_Sentiment!$C$17:$C$20</c:f>
              <c:numCache>
                <c:formatCode>0%</c:formatCode>
                <c:ptCount val="4"/>
                <c:pt idx="0">
                  <c:v>0.7743157169908762</c:v>
                </c:pt>
                <c:pt idx="1">
                  <c:v>0.83260955388866953</c:v>
                </c:pt>
                <c:pt idx="2">
                  <c:v>0.71088607594936704</c:v>
                </c:pt>
                <c:pt idx="3">
                  <c:v>0.75103628595115113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007-41D6-AC58-EB33B4DFFE3C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Pivot_Sentiment!$D$17:$D$20</c:f>
              <c:numCache>
                <c:formatCode>0%</c:formatCode>
                <c:ptCount val="4"/>
                <c:pt idx="0">
                  <c:v>6.0767774143570319E-2</c:v>
                </c:pt>
                <c:pt idx="1">
                  <c:v>2.3095144097907621E-2</c:v>
                </c:pt>
                <c:pt idx="2">
                  <c:v>5.5443037974683543E-2</c:v>
                </c:pt>
                <c:pt idx="3">
                  <c:v>5.4843441107072254E-2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Pivot_Sentiment!$E$17:$E$20</c:f>
              <c:numCache>
                <c:formatCode>0%</c:formatCode>
                <c:ptCount val="4"/>
                <c:pt idx="0">
                  <c:v>0.4614797864225782</c:v>
                </c:pt>
                <c:pt idx="1">
                  <c:v>0.72405660377358494</c:v>
                </c:pt>
                <c:pt idx="2">
                  <c:v>0.61646234676007017</c:v>
                </c:pt>
                <c:pt idx="3">
                  <c:v>0.55942622950819665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[MSN_Competitor_DataWeekly1.xlsx]Pivot!PivotTable4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239229740572352"/>
          <c:y val="1.3387982573938254E-2"/>
          <c:w val="0.50552169029152183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Pivot!$E$49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Pivot!$D$50:$D$55</c:f>
              <c:strCache>
                <c:ptCount val="5"/>
                <c:pt idx="0">
                  <c:v>thoibao.de</c:v>
                </c:pt>
                <c:pt idx="1">
                  <c:v>Quỹ Vì tương lai xanh - For Green Future Foundation</c:v>
                </c:pt>
                <c:pt idx="2">
                  <c:v>fireant.vn</c:v>
                </c:pt>
                <c:pt idx="3">
                  <c:v>voybuzz</c:v>
                </c:pt>
                <c:pt idx="4">
                  <c:v>tintuctuoi247</c:v>
                </c:pt>
              </c:strCache>
            </c:strRef>
          </c:cat>
          <c:val>
            <c:numRef>
              <c:f>Pivot!$E$50:$E$55</c:f>
              <c:numCache>
                <c:formatCode>General</c:formatCode>
                <c:ptCount val="5"/>
                <c:pt idx="0">
                  <c:v>2767</c:v>
                </c:pt>
                <c:pt idx="1">
                  <c:v>2414</c:v>
                </c:pt>
                <c:pt idx="2">
                  <c:v>1390</c:v>
                </c:pt>
                <c:pt idx="3">
                  <c:v>820</c:v>
                </c:pt>
                <c:pt idx="4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7-4051-ACBF-8EBBB97F1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[MSN_Competitor_DataWeekly1.xlsx]Pivot!PivotTable8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333745494013375"/>
          <c:y val="1.3387982573938254E-2"/>
          <c:w val="0.33054095323473814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Pivot!$H$49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237B"/>
            </a:solidFill>
          </c:spPr>
          <c:invertIfNegative val="0"/>
          <c:dLbls>
            <c:spPr>
              <a:solidFill>
                <a:srgbClr val="FF237B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Pivot!$G$50:$G$55</c:f>
              <c:strCache>
                <c:ptCount val="5"/>
                <c:pt idx="0">
                  <c:v>fireant.vn</c:v>
                </c:pt>
                <c:pt idx="1">
                  <c:v>baomoi.com</c:v>
                </c:pt>
                <c:pt idx="2">
                  <c:v>Tin Lề Dân</c:v>
                </c:pt>
                <c:pt idx="3">
                  <c:v>Đại lộ Sông Hồng - Thành Phố Ven Sông - Chia Sẻ Thông Tin</c:v>
                </c:pt>
                <c:pt idx="4">
                  <c:v>Chứng Khoán Lướt Sóng Thần</c:v>
                </c:pt>
              </c:strCache>
            </c:strRef>
          </c:cat>
          <c:val>
            <c:numRef>
              <c:f>Pivot!$H$50:$H$55</c:f>
              <c:numCache>
                <c:formatCode>General</c:formatCode>
                <c:ptCount val="5"/>
                <c:pt idx="0">
                  <c:v>845</c:v>
                </c:pt>
                <c:pt idx="1">
                  <c:v>199</c:v>
                </c:pt>
                <c:pt idx="2">
                  <c:v>183</c:v>
                </c:pt>
                <c:pt idx="3">
                  <c:v>124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1-4081-BF48-3BBA4C60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[MSN_Competitor_DataWeekly1.xlsx]Pivot!PivotTable9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3290548274939827"/>
          <c:y val="3.2358209587499985E-2"/>
          <c:w val="0.3547113131853436"/>
          <c:h val="0.99272568500882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Pivot!$K$49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ED8A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Pivot!$J$50:$J$55</c:f>
              <c:strCache>
                <c:ptCount val="5"/>
                <c:pt idx="0">
                  <c:v>fireant.vn</c:v>
                </c:pt>
                <c:pt idx="1">
                  <c:v>quoctoan68c1</c:v>
                </c:pt>
                <c:pt idx="2">
                  <c:v>X-Leader</c:v>
                </c:pt>
                <c:pt idx="3">
                  <c:v>phung_ssi</c:v>
                </c:pt>
                <c:pt idx="4">
                  <c:v>mike210404</c:v>
                </c:pt>
              </c:strCache>
            </c:strRef>
          </c:cat>
          <c:val>
            <c:numRef>
              <c:f>Pivot!$K$50:$K$55</c:f>
              <c:numCache>
                <c:formatCode>General</c:formatCode>
                <c:ptCount val="5"/>
                <c:pt idx="0">
                  <c:v>525</c:v>
                </c:pt>
                <c:pt idx="1">
                  <c:v>469</c:v>
                </c:pt>
                <c:pt idx="2">
                  <c:v>192</c:v>
                </c:pt>
                <c:pt idx="3">
                  <c:v>118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1-4A71-AF33-F70E2F923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[MSN_Competitor_DataWeekly1.xlsx]Pivot!PivotTable10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917380671379382"/>
          <c:y val="1.3387982573938254E-2"/>
          <c:w val="0.414877416685931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Pivot!$N$49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invertIfNegative val="0"/>
          <c:dLbls>
            <c:dLbl>
              <c:idx val="0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99-43FF-86F4-B4A771B1C3A8}"/>
                </c:ext>
              </c:extLst>
            </c:dLbl>
            <c:dLbl>
              <c:idx val="1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D99-43FF-86F4-B4A771B1C3A8}"/>
                </c:ext>
              </c:extLst>
            </c:dLbl>
            <c:dLbl>
              <c:idx val="2"/>
              <c:layout>
                <c:manualLayout>
                  <c:x val="6.180875786297323E-3"/>
                  <c:y val="4.8139203176629732E-7"/>
                </c:manualLayout>
              </c:layout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99-43FF-86F4-B4A771B1C3A8}"/>
                </c:ext>
              </c:extLst>
            </c:dLbl>
            <c:dLbl>
              <c:idx val="3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D99-43FF-86F4-B4A771B1C3A8}"/>
                </c:ext>
              </c:extLst>
            </c:dLbl>
            <c:dLbl>
              <c:idx val="4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99-43FF-86F4-B4A771B1C3A8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Pivot!$M$50:$M$55</c:f>
              <c:strCache>
                <c:ptCount val="5"/>
                <c:pt idx="0">
                  <c:v>fireant.vn</c:v>
                </c:pt>
                <c:pt idx="1">
                  <c:v>CHỨNG KHOÁN TÍM</c:v>
                </c:pt>
                <c:pt idx="2">
                  <c:v>Hồ Như Gấm</c:v>
                </c:pt>
                <c:pt idx="3">
                  <c:v>shopee.vn</c:v>
                </c:pt>
                <c:pt idx="4">
                  <c:v>Hương Nguyễn</c:v>
                </c:pt>
              </c:strCache>
            </c:strRef>
          </c:cat>
          <c:val>
            <c:numRef>
              <c:f>Pivot!$N$50:$N$55</c:f>
              <c:numCache>
                <c:formatCode>General</c:formatCode>
                <c:ptCount val="5"/>
                <c:pt idx="0">
                  <c:v>382</c:v>
                </c:pt>
                <c:pt idx="1">
                  <c:v>308</c:v>
                </c:pt>
                <c:pt idx="2">
                  <c:v>167</c:v>
                </c:pt>
                <c:pt idx="3">
                  <c:v>138</c:v>
                </c:pt>
                <c:pt idx="4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9-41BA-B8A5-ECAE3F384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vi-VN" sz="840" b="1" i="0" u="none" strike="noStrike" kern="1200" spc="0" baseline="0" dirty="0" smtClean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r>
              <a:rPr lang="vi-VN" sz="840" b="1" i="0" u="none" strike="noStrike" kern="1200" spc="0" baseline="0" dirty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rPr>
              <a:t>TỶ LỆ THẢO LUẬN THEO KÊNH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vi-VN" sz="840" b="1" i="0" u="none" strike="noStrike" kern="1200" spc="0" baseline="0" dirty="0" smtClean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764450424767304E-2"/>
          <c:y val="0.16782911982925486"/>
          <c:w val="0.92709850755459333"/>
          <c:h val="0.655137677784269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Sheet1!$B$2:$B$6</c:f>
              <c:numCache>
                <c:formatCode>0%;\-0%;""</c:formatCode>
                <c:ptCount val="5"/>
                <c:pt idx="0">
                  <c:v>0.58842705786471072</c:v>
                </c:pt>
                <c:pt idx="1">
                  <c:v>0.52954619653934054</c:v>
                </c:pt>
                <c:pt idx="2">
                  <c:v>0.33188357310137168</c:v>
                </c:pt>
                <c:pt idx="3">
                  <c:v>0.74843364344028862</c:v>
                </c:pt>
                <c:pt idx="4">
                  <c:v>0.51731686341959193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7-49BC-9585-A8A3B3A4C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Sheet1!$C$2:$C$6</c:f>
              <c:numCache>
                <c:formatCode>0%;\-0%;""</c:formatCode>
                <c:ptCount val="5"/>
                <c:pt idx="0">
                  <c:v>8.1771257810377612E-2</c:v>
                </c:pt>
                <c:pt idx="1">
                  <c:v>0.13450865164871043</c:v>
                </c:pt>
                <c:pt idx="2">
                  <c:v>5.8548009367681501E-2</c:v>
                </c:pt>
                <c:pt idx="3">
                  <c:v>4.2528953863679511E-2</c:v>
                </c:pt>
                <c:pt idx="4">
                  <c:v>4.1357204284262372E-2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7-49BC-9585-A8A3B3A4C9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Sheet1!$D$2:$D$6</c:f>
              <c:numCache>
                <c:formatCode>0%;\-0%;""</c:formatCode>
                <c:ptCount val="5"/>
                <c:pt idx="0">
                  <c:v>5.4333061668024991E-4</c:v>
                </c:pt>
                <c:pt idx="1">
                  <c:v>1.3059092393078681E-3</c:v>
                </c:pt>
                <c:pt idx="2">
                  <c:v>0</c:v>
                </c:pt>
                <c:pt idx="3">
                  <c:v>1.8986140117714068E-4</c:v>
                </c:pt>
                <c:pt idx="4">
                  <c:v>8.9516065983894933E-3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7-49BC-9585-A8A3B3A4C9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Sheet1!$E$2:$E$6</c:f>
              <c:numCache>
                <c:formatCode>0%;\-0%;""</c:formatCode>
                <c:ptCount val="5"/>
                <c:pt idx="0">
                  <c:v>0.13474599293670197</c:v>
                </c:pt>
                <c:pt idx="1">
                  <c:v>0.10692131896833171</c:v>
                </c:pt>
                <c:pt idx="2">
                  <c:v>0.48695215791234525</c:v>
                </c:pt>
                <c:pt idx="3">
                  <c:v>3.7402696031896714E-2</c:v>
                </c:pt>
                <c:pt idx="4">
                  <c:v>0.28422328199515284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7-49BC-9585-A8A3B3A4C9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Sheet1!$F$2:$F$6</c:f>
              <c:numCache>
                <c:formatCode>0%;\-0%;""</c:formatCode>
                <c:ptCount val="5"/>
                <c:pt idx="0">
                  <c:v>2.7166530834012495E-4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7-49BC-9585-A8A3B3A4C9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Sheet1!$G$2:$G$6</c:f>
              <c:numCache>
                <c:formatCode>0%;\-0%;""</c:formatCode>
                <c:ptCount val="5"/>
                <c:pt idx="0">
                  <c:v>0.15512089106221136</c:v>
                </c:pt>
                <c:pt idx="1">
                  <c:v>0.13597779954293177</c:v>
                </c:pt>
                <c:pt idx="2">
                  <c:v>8.7989294078287053E-2</c:v>
                </c:pt>
                <c:pt idx="3">
                  <c:v>7.2337193848490605E-2</c:v>
                </c:pt>
                <c:pt idx="4">
                  <c:v>5.3865999530920181E-2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7-49BC-9585-A8A3B3A4C9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Threads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Sheet1!$H$2:$H$6</c:f>
              <c:numCache>
                <c:formatCode>0%;\-0%;""</c:formatCode>
                <c:ptCount val="5"/>
                <c:pt idx="0">
                  <c:v>7.3349633251833741E-3</c:v>
                </c:pt>
                <c:pt idx="1">
                  <c:v>1.9588638589618022E-3</c:v>
                </c:pt>
                <c:pt idx="2">
                  <c:v>2.1746403479424555E-3</c:v>
                </c:pt>
                <c:pt idx="3">
                  <c:v>4.3668122270742356E-3</c:v>
                </c:pt>
                <c:pt idx="4">
                  <c:v>1.8763192869986709E-3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87-49BC-9585-A8A3B3A4C9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Sheet1!$I$2:$I$6</c:f>
              <c:numCache>
                <c:formatCode>0%;\-0%;""</c:formatCode>
                <c:ptCount val="5"/>
                <c:pt idx="0">
                  <c:v>3.1784841075794622E-2</c:v>
                </c:pt>
                <c:pt idx="1">
                  <c:v>8.9781260202415933E-2</c:v>
                </c:pt>
                <c:pt idx="2">
                  <c:v>3.2452325192372032E-2</c:v>
                </c:pt>
                <c:pt idx="3">
                  <c:v>6.8539965824947785E-2</c:v>
                </c:pt>
                <c:pt idx="4">
                  <c:v>9.2369634899538741E-2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187-49BC-9585-A8A3B3A4C90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Sheet1!$J$2:$J$6</c:f>
              <c:numCache>
                <c:formatCode>0%;\-0%;""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2.6200873362445413E-2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8-4DBD-9B1B-11B76EB160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15992"/>
        <c:axId val="74221392"/>
      </c:barChart>
      <c:catAx>
        <c:axId val="7421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74221392"/>
        <c:crosses val="autoZero"/>
        <c:auto val="1"/>
        <c:lblAlgn val="ctr"/>
        <c:lblOffset val="100"/>
        <c:noMultiLvlLbl val="0"/>
      </c:catAx>
      <c:valAx>
        <c:axId val="74221392"/>
        <c:scaling>
          <c:orientation val="minMax"/>
        </c:scaling>
        <c:delete val="1"/>
        <c:axPos val="l"/>
        <c:numFmt formatCode="0%;\-0%;&quot;&quot;" sourceLinked="1"/>
        <c:majorTickMark val="none"/>
        <c:minorTickMark val="none"/>
        <c:tickLblPos val="nextTo"/>
        <c:crossAx val="7421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700" b="0" i="0" u="none" strike="noStrike" kern="1200" baseline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2594134898547E-2"/>
          <c:y val="0.24190525464873688"/>
          <c:w val="0.8766217419438771"/>
          <c:h val="0.488594787899921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8CA0-46FD-BF3B-EC32DF007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Gốc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8CA0-46FD-BF3B-EC32DF00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5559471"/>
        <c:axId val="995559951"/>
      </c:barChart>
      <c:catAx>
        <c:axId val="99555947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vi-VN" sz="700" b="1" i="0" u="none" strike="noStrike" kern="1200" spc="-11" baseline="0" dirty="0" smtClean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defRPr>
                </a:pPr>
                <a:r>
                  <a:rPr lang="vi-VN" sz="700" b="1" i="0" u="none" strike="noStrike" kern="1200" spc="-11" baseline="0" dirty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rPr>
                  <a:t>THẢO LUẬN TIÊU CỰC KHÔNG CÒN HIỂN THỊ</a:t>
                </a:r>
              </a:p>
            </c:rich>
          </c:tx>
          <c:layout>
            <c:manualLayout>
              <c:xMode val="edge"/>
              <c:yMode val="edge"/>
              <c:x val="0.15541838069707986"/>
              <c:y val="0.11524979872663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vi-VN" sz="700" b="1" i="0" u="none" strike="noStrike" kern="1200" spc="-11" baseline="0" dirty="0" smtClean="0">
                  <a:solidFill>
                    <a:srgbClr val="1B3866"/>
                  </a:solidFill>
                  <a:latin typeface="Georgia" panose="00000700000000000000" pitchFamily="2" charset="-93"/>
                  <a:ea typeface="Georgia" panose="020F0502020204030204" pitchFamily="34" charset="0"/>
                  <a:cs typeface="Georgia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995559951"/>
        <c:crosses val="autoZero"/>
        <c:auto val="1"/>
        <c:lblAlgn val="ctr"/>
        <c:lblOffset val="100"/>
        <c:noMultiLvlLbl val="0"/>
      </c:catAx>
      <c:valAx>
        <c:axId val="995559951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99555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47456809129751"/>
          <c:y val="0.77222644232190185"/>
          <c:w val="0.57894268560901962"/>
          <c:h val="6.0589662187876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Georgia" panose="020B0004020202020204" pitchFamily="34" charset="0"/>
        </a:defRPr>
      </a:pPr>
      <a:endParaRPr lang="en-US"/>
    </a:p>
  </c:tx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877009738757374"/>
          <c:y val="1.3387982573938254E-2"/>
          <c:w val="0.5412299026124263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4.0749796251018745E-2</c:v>
                </c:pt>
                <c:pt idx="1">
                  <c:v>2.2004889975550123E-2</c:v>
                </c:pt>
                <c:pt idx="2">
                  <c:v>1.0051616408584624E-2</c:v>
                </c:pt>
                <c:pt idx="3">
                  <c:v>2.5536538983971745E-2</c:v>
                </c:pt>
                <c:pt idx="4">
                  <c:v>2.7166530834012495E-4</c:v>
                </c:pt>
                <c:pt idx="5">
                  <c:v>1.0866612333604998E-3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B-4DC7-99A4-0F9F89D4A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0.25292040206465632</c:v>
                </c:pt>
                <c:pt idx="1">
                  <c:v>0.22819885900570497</c:v>
                </c:pt>
                <c:pt idx="2">
                  <c:v>0.18337408312958436</c:v>
                </c:pt>
                <c:pt idx="3">
                  <c:v>0.13148600923662049</c:v>
                </c:pt>
                <c:pt idx="4">
                  <c:v>2.7166530834012496E-2</c:v>
                </c:pt>
                <c:pt idx="5">
                  <c:v>2.526487367563162E-2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B-4DC7-99A4-0F9F89D4AC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 formatCode="0.00%">
                  <c:v>4.5911437109481118E-2</c:v>
                </c:pt>
                <c:pt idx="2" formatCode="0.00%">
                  <c:v>5.4333061668024991E-4</c:v>
                </c:pt>
                <c:pt idx="3" formatCode="0.00%">
                  <c:v>5.1616408584623744E-3</c:v>
                </c:pt>
                <c:pt idx="5" formatCode="0.00%">
                  <c:v>2.7166530834012495E-4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B-4DC7-99A4-0F9F89D4AC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0.33958163542515618</c:v>
                </c:pt>
                <c:pt idx="1">
                  <c:v>0.25020374898125508</c:v>
                </c:pt>
                <c:pt idx="2">
                  <c:v>0.19396903015484923</c:v>
                </c:pt>
                <c:pt idx="3">
                  <c:v>0.1621841890790546</c:v>
                </c:pt>
                <c:pt idx="4">
                  <c:v>2.7438196142352621E-2</c:v>
                </c:pt>
                <c:pt idx="5">
                  <c:v>2.6623200217332246E-2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AB-4DC7-99A4-0F9F89D4A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[MSN_Competitor_DataWeekly1.xlsx]Pivot_Sentiment!PivotTable12</c:name>
    <c:fmtId val="64"/>
  </c:pivotSource>
  <c:chart>
    <c:title>
      <c:tx>
        <c:rich>
          <a:bodyPr/>
          <a:lstStyle/>
          <a:p>
            <a:pPr>
              <a:defRPr sz="700" b="0">
                <a:solidFill>
                  <a:srgbClr val="00703A"/>
                </a:solidFill>
                <a:latin typeface="Georgia" panose="00000700000000000000" pitchFamily="2" charset="-93"/>
              </a:defRPr>
            </a:pPr>
            <a:r>
              <a:rPr lang="en-US" sz="700" b="0" dirty="0">
                <a:solidFill>
                  <a:srgbClr val="00703A"/>
                </a:solidFill>
                <a:latin typeface="Georgia" panose="00000700000000000000" pitchFamily="2" charset="-93"/>
              </a:rPr>
              <a:t>SẮC</a:t>
            </a:r>
            <a:r>
              <a:rPr lang="en-US" sz="700" b="0" baseline="0" dirty="0">
                <a:solidFill>
                  <a:srgbClr val="00703A"/>
                </a:solidFill>
                <a:latin typeface="Georgia" panose="00000700000000000000" pitchFamily="2" charset="-93"/>
              </a:rPr>
              <a:t> THÁI THẢO LUẬN</a:t>
            </a:r>
            <a:endParaRPr lang="en-US" sz="700" b="0" dirty="0">
              <a:solidFill>
                <a:srgbClr val="00703A"/>
              </a:solidFill>
              <a:latin typeface="Georgia" panose="00000700000000000000" pitchFamily="2" charset="-93"/>
            </a:endParaRPr>
          </a:p>
        </c:rich>
      </c:tx>
      <c:layout>
        <c:manualLayout>
          <c:xMode val="edge"/>
          <c:yMode val="edge"/>
          <c:x val="0.28674868854124985"/>
          <c:y val="4.228124686398232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40703127138656"/>
          <c:y val="0.15179776151949956"/>
          <c:w val="0.52659605881583982"/>
          <c:h val="0.67289433553184119"/>
        </c:manualLayout>
      </c:layout>
      <c:doughnutChart>
        <c:varyColors val="1"/>
        <c:ser>
          <c:idx val="0"/>
          <c:order val="0"/>
          <c:tx>
            <c:strRef>
              <c:f>Pivot_Sentiment!$B$26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E2BF-43E2-8D73-51A45E2617D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E2BF-43E2-8D73-51A45E2617D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2BF-43E2-8D73-51A45E2617D6}"/>
              </c:ext>
            </c:extLst>
          </c:dPt>
          <c:dLbls>
            <c:dLbl>
              <c:idx val="0"/>
              <c:layout>
                <c:manualLayout>
                  <c:x val="4.7624636862143924E-3"/>
                  <c:y val="-2.76838299264037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BF-43E2-8D73-51A45E2617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en-US" sz="1100" b="1" i="0" u="none" strike="noStrike" cap="none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 panose="020B0604020202020204" pitchFamily="34" charset="0"/>
                    <a:sym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Pivot_Sentiment!$A$27:$A$30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Pivot_Sentiment!$B$27:$B$30</c:f>
              <c:numCache>
                <c:formatCode>0%</c:formatCode>
                <c:ptCount val="3"/>
                <c:pt idx="0">
                  <c:v>9.9701168160825859E-2</c:v>
                </c:pt>
                <c:pt idx="1">
                  <c:v>0.84841075794621024</c:v>
                </c:pt>
                <c:pt idx="2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F-43E2-8D73-51A45E26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7"/>
        <c:extLst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5291483402439057"/>
          <c:y val="0.8807426280101609"/>
          <c:w val="0.6193666523292759"/>
          <c:h val="8.7248232772294321E-2"/>
        </c:manualLayout>
      </c:layout>
      <c:overlay val="0"/>
      <c:txPr>
        <a:bodyPr/>
        <a:lstStyle/>
        <a:p>
          <a:pPr>
            <a:defRPr sz="700">
              <a:latin typeface="Georgia" panose="00000500000000000000" pitchFamily="2" charset="-93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>
          <a:solidFill>
            <a:schemeClr val="tx1"/>
          </a:solidFill>
          <a:latin typeface="Georgia"/>
          <a:ea typeface="Georgia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[MSN_Competitor_DataWeekly1.xlsx]Pivot!PivotTable7</c:name>
    <c:fmtId val="57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3855341000267454"/>
          <c:y val="1.3387982573938254E-2"/>
          <c:w val="0.46144658999732546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Pivot!$A$50:$A$56</c:f>
              <c:strCache>
                <c:ptCount val="6"/>
                <c:pt idx="0">
                  <c:v>fireant.vn</c:v>
                </c:pt>
                <c:pt idx="1">
                  <c:v>TOP Comments</c:v>
                </c:pt>
                <c:pt idx="2">
                  <c:v>baomoi.com</c:v>
                </c:pt>
                <c:pt idx="3">
                  <c:v>Thông Tô</c:v>
                </c:pt>
                <c:pt idx="4">
                  <c:v>votuananh</c:v>
                </c:pt>
                <c:pt idx="5">
                  <c:v>nhu_ribi_91</c:v>
                </c:pt>
              </c:strCache>
            </c:strRef>
          </c:cat>
          <c:val>
            <c:numRef>
              <c:f>Pivot!$B$50:$B$56</c:f>
              <c:numCache>
                <c:formatCode>General</c:formatCode>
                <c:ptCount val="6"/>
                <c:pt idx="0">
                  <c:v>571</c:v>
                </c:pt>
                <c:pt idx="1">
                  <c:v>42</c:v>
                </c:pt>
                <c:pt idx="2">
                  <c:v>38</c:v>
                </c:pt>
                <c:pt idx="3">
                  <c:v>36</c:v>
                </c:pt>
                <c:pt idx="4">
                  <c:v>35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8-4E6E-9E24-695F64C70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B0004020202020204" pitchFamily="34" charset="0"/>
                <a:ea typeface="Georgia"/>
                <a:cs typeface="Georgia"/>
              </a:defRPr>
            </a:pPr>
            <a:r>
              <a:rPr lang="en-US" sz="1000" b="1" dirty="0">
                <a:latin typeface="Georgia" panose="00000500000000000000" pitchFamily="2" charset="0"/>
              </a:rPr>
              <a:t>XU</a:t>
            </a:r>
            <a:r>
              <a:rPr lang="en-US" sz="1000" b="1" baseline="0" dirty="0">
                <a:latin typeface="Georgia" panose="00000500000000000000" pitchFamily="2" charset="0"/>
              </a:rPr>
              <a:t> HƯỚNG THẢO LUẬN CỦA THƯƠNG HIỆU</a:t>
            </a:r>
            <a:endParaRPr lang="en-US" sz="1000" b="1" dirty="0">
              <a:latin typeface="Georgia" panose="00000500000000000000" pitchFamily="2" charset="0"/>
            </a:endParaRPr>
          </a:p>
        </c:rich>
      </c:tx>
      <c:layout>
        <c:manualLayout>
          <c:xMode val="edge"/>
          <c:yMode val="edge"/>
          <c:x val="0.19944785695110928"/>
          <c:y val="6.78763015784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B0004020202020204" pitchFamily="34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248110149043678E-2"/>
          <c:y val="0.24559831956761258"/>
          <c:w val="0.95075188985095638"/>
          <c:h val="0.488795406429581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Masan Consumer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eorgia" panose="00000500000000000000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m/d/yyyy</c:formatCode>
                <c:ptCount val="7"/>
                <c:pt idx="0">
                  <c:v>46170</c:v>
                </c:pt>
                <c:pt idx="1">
                  <c:v>46171</c:v>
                </c:pt>
                <c:pt idx="2">
                  <c:v>46172</c:v>
                </c:pt>
                <c:pt idx="3">
                  <c:v>46173</c:v>
                </c:pt>
                <c:pt idx="4">
                  <c:v>46174</c:v>
                </c:pt>
                <c:pt idx="5">
                  <c:v>46175</c:v>
                </c:pt>
                <c:pt idx="6">
                  <c:v>46176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8-40F1-ADE5-335C00790F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531567"/>
        <c:axId val="852286879"/>
      </c:lineChart>
      <c:dateAx>
        <c:axId val="18531567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0"/>
                <a:ea typeface="Georgia"/>
                <a:cs typeface="Georgia"/>
              </a:defRPr>
            </a:pPr>
            <a:endParaRPr lang="en-US"/>
          </a:p>
        </c:txPr>
        <c:crossAx val="852286879"/>
        <c:crosses val="autoZero"/>
        <c:auto val="1"/>
        <c:lblOffset val="100"/>
        <c:baseTimeUnit val="days"/>
      </c:dateAx>
      <c:valAx>
        <c:axId val="85228687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3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Georgia" panose="020B0004020202020204" pitchFamily="34" charset="0"/>
        </a:defRPr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7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FC8FE-8F1E-4C8D-07B9-00F0378F9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B50B2-96C8-1D3C-0DDD-6B5610183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F5F44-1D1F-6217-2925-3FC24557E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781A0-28E1-5A3E-18DE-CF98523CD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0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3463-96AC-E563-DA0B-FD84C3F3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71744-A44C-EAE5-1902-B80A26C82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8E6E67-AD5E-BB15-8C07-4A4FE8906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8B776-7A7D-C9A4-8BC1-A0140298B6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502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FA-4677-ECE0-B208-F919933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EE1D-72EB-26A9-3D59-DD5ED1BC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29FC6-DFF8-6DF9-673B-ABE55A9E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CBB2-3E08-1DD6-9082-2D4D46675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4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BA3F3-24B5-19C0-0C52-7008947A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FF4F1-34DE-159C-7C79-5462B3AF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F1F6F-0520-B174-7D0B-2CE1D0ECC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39BCA-FA29-6568-BAC0-066DD2A64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702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3F39-F1DE-B983-F236-D3B65C0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D9D1-EB31-252F-E105-EDF0D27A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23182-3F5B-60E5-4662-252DA64F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75B-56FE-82A9-0D13-FDFDE33A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2:notes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3" name="Google Shape;633;p2:notes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orgia"/>
              <a:buNone/>
              <a:tabLst/>
              <a:defRPr/>
            </a:pPr>
            <a:fld id="{00000000-1234-1234-1234-123412341234}" type="slidenum"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Georgia"/>
                <a:buNone/>
                <a:tabLst/>
                <a:defRPr/>
              </a:pPr>
              <a:t>6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73310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9D55-86CC-C690-0BE3-B5730865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74E76-A7AB-F16B-4B7F-E5C33F9FD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ABA49-7732-39A9-A61E-49EB8F344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37BF9-093B-9C88-57E1-4E75D59807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09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F2B-74DE-C4C1-0CFF-A37C078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11D4-4DE7-1136-BF26-96C82266A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8158-CE29-4DCE-6334-8BFDEF8A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C74-CBE1-AEF2-9CEE-F8068DB7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1FB9-6A79-3224-EBAE-97BE789C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C7B1-692C-8369-6B83-A675B2E3B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D72CC-3E38-7B32-6639-304A504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4386-5577-9301-770D-13EEFE48D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3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6C3CB4E6-225D-CDC2-9CE2-0A989E03BAD6}"/>
              </a:ext>
            </a:extLst>
          </p:cNvPr>
          <p:cNvSpPr/>
          <p:nvPr userDrawn="1"/>
        </p:nvSpPr>
        <p:spPr>
          <a:xfrm>
            <a:off x="121836" y="889464"/>
            <a:ext cx="11833013" cy="0"/>
          </a:xfrm>
          <a:custGeom>
            <a:avLst/>
            <a:gdLst/>
            <a:ahLst/>
            <a:cxnLst/>
            <a:rect l="l" t="t" r="r" b="b"/>
            <a:pathLst>
              <a:path w="8874760">
                <a:moveTo>
                  <a:pt x="0" y="0"/>
                </a:moveTo>
                <a:lnTo>
                  <a:pt x="8874282" y="0"/>
                </a:lnTo>
              </a:path>
            </a:pathLst>
          </a:custGeom>
          <a:ln w="76199">
            <a:solidFill>
              <a:srgbClr val="163B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8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5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eorgia"/>
              <a:buNone/>
              <a:defRPr sz="1600" b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8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8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9"/>
          <p:cNvSpPr txBox="1"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Georgia"/>
              <a:buNone/>
              <a:defRPr sz="4000" b="1" cap="none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66" lvl="2" indent="-228594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54" lvl="3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943" lvl="4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131" lvl="5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320" lvl="6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509" lvl="7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697" lvl="8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0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p190"/>
          <p:cNvSpPr txBox="1">
            <a:spLocks noGrp="1"/>
          </p:cNvSpPr>
          <p:nvPr>
            <p:ph type="body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19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1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1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1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1"/>
          <p:cNvSpPr txBox="1">
            <a:spLocks noGrp="1"/>
          </p:cNvSpPr>
          <p:nvPr>
            <p:ph type="body" idx="3"/>
          </p:nvPr>
        </p:nvSpPr>
        <p:spPr>
          <a:xfrm>
            <a:off x="6193374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1"/>
          <p:cNvSpPr txBox="1">
            <a:spLocks noGrp="1"/>
          </p:cNvSpPr>
          <p:nvPr>
            <p:ph type="body" idx="4"/>
          </p:nvPr>
        </p:nvSpPr>
        <p:spPr>
          <a:xfrm>
            <a:off x="6193374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rgbClr val="00457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2590801"/>
            <a:ext cx="4181507" cy="16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4800"/>
            <a:ext cx="3628571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3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3"/>
          <p:cNvSpPr txBox="1">
            <a:spLocks noGrp="1"/>
          </p:cNvSpPr>
          <p:nvPr>
            <p:ph type="body" idx="1"/>
          </p:nvPr>
        </p:nvSpPr>
        <p:spPr>
          <a:xfrm>
            <a:off x="4766735" y="273057"/>
            <a:ext cx="681566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40639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193"/>
          <p:cNvSpPr txBox="1">
            <a:spLocks noGrp="1"/>
          </p:cNvSpPr>
          <p:nvPr>
            <p:ph type="body" idx="2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9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4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94"/>
          <p:cNvSpPr txBox="1">
            <a:spLocks noGrp="1"/>
          </p:cNvSpPr>
          <p:nvPr>
            <p:ph type="body" idx="1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9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5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5"/>
          <p:cNvSpPr txBox="1">
            <a:spLocks noGrp="1"/>
          </p:cNvSpPr>
          <p:nvPr>
            <p:ph type="body" idx="1"/>
          </p:nvPr>
        </p:nvSpPr>
        <p:spPr>
          <a:xfrm rot="5400000">
            <a:off x="3782453" y="-135150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6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6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92AFF-D785-1B1C-83AA-CD72AE47B4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xfrm>
            <a:off x="11963736" y="13076008"/>
            <a:ext cx="44403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Georgia"/>
                <a:cs typeface="Georgia"/>
                <a:sym typeface="Georgia"/>
              </a:defRPr>
            </a:lvl1pPr>
            <a:lvl2pPr marL="0" marR="0" indent="457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0" marR="0" indent="914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0" marR="0" indent="1371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0" marR="0" indent="18288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0" marR="0" indent="22860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0" marR="0" indent="2743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0" marR="0" indent="3200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0" marR="0" indent="3657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fld id="{86CB4B4D-7CA3-9044-876B-883B54F8677D}" type="slidenum">
              <a:rPr lang="en-VN" smtClean="0"/>
              <a:pPr/>
              <a:t>‹#›</a:t>
            </a:fld>
            <a:endParaRPr lang="en-V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3984CA-EC91-BCD3-571C-132676CA334F}"/>
              </a:ext>
            </a:extLst>
          </p:cNvPr>
          <p:cNvCxnSpPr/>
          <p:nvPr userDrawn="1"/>
        </p:nvCxnSpPr>
        <p:spPr>
          <a:xfrm>
            <a:off x="9285606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0D7A87-2F14-44FD-9340-C314F794C56B}"/>
              </a:ext>
            </a:extLst>
          </p:cNvPr>
          <p:cNvCxnSpPr/>
          <p:nvPr userDrawn="1"/>
        </p:nvCxnSpPr>
        <p:spPr>
          <a:xfrm flipH="1">
            <a:off x="6753861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999663-7BBE-631D-E88A-DF577FFC3447}"/>
              </a:ext>
            </a:extLst>
          </p:cNvPr>
          <p:cNvCxnSpPr/>
          <p:nvPr userDrawn="1"/>
        </p:nvCxnSpPr>
        <p:spPr>
          <a:xfrm>
            <a:off x="5953761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A7099-865C-2356-8FB8-F68FC188EE79}"/>
              </a:ext>
            </a:extLst>
          </p:cNvPr>
          <p:cNvCxnSpPr/>
          <p:nvPr userDrawn="1"/>
        </p:nvCxnSpPr>
        <p:spPr>
          <a:xfrm flipH="1">
            <a:off x="3422016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 sz="28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00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" name="Google Shape;92;p10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www.facebook.com/CafeF/posts/pfbid0DuehWkUZwgWULGXik9BDJECsLP546br7NnhgD9EhTn3hKh5s8W4d5b1o44xBycR8l" TargetMode="External"/><Relationship Id="rId7" Type="http://schemas.openxmlformats.org/officeDocument/2006/relationships/image" Target="../media/image6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USConsulateHCMC/posts/pfbid02C2f9SVzRqiysXT7UU23Hg6i4bPF279tEmWgt9naE74FTGivNCq1Q279nXR6Go8DRl" TargetMode="External"/><Relationship Id="rId11" Type="http://schemas.openxmlformats.org/officeDocument/2006/relationships/chart" Target="../charts/chart4.xml"/><Relationship Id="rId5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10" Type="http://schemas.openxmlformats.org/officeDocument/2006/relationships/chart" Target="../charts/chart3.xml"/><Relationship Id="rId4" Type="http://schemas.openxmlformats.org/officeDocument/2006/relationships/hyperlink" Target="https://www.dnse.com.vn/senses/tin-tuc/nguoc-dong-co-phieu-vinhomes-vhm-tang-kich-tran-trong-ngay-thi-truong-ruc-lua-35231127" TargetMode="External"/><Relationship Id="rId9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3" Type="http://schemas.openxmlformats.org/officeDocument/2006/relationships/chart" Target="../charts/chart6.xml"/><Relationship Id="rId7" Type="http://schemas.openxmlformats.org/officeDocument/2006/relationships/hyperlink" Target="https://www.dnse.com.vn/senses/tin-tuc/nguoc-dong-co-phieu-vinhomes-vhm-tang-kich-tran-trong-ngay-thi-truong-ruc-lua-3523112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CafeF/posts/pfbid0DuehWkUZwgWULGXik9BDJECsLP546br7NnhgD9EhTn3hKh5s8W4d5b1o44xBycR8l" TargetMode="External"/><Relationship Id="rId5" Type="http://schemas.openxmlformats.org/officeDocument/2006/relationships/chart" Target="../charts/chart8.xml"/><Relationship Id="rId10" Type="http://schemas.openxmlformats.org/officeDocument/2006/relationships/hyperlink" Target="https://www.facebook.com/USConsulateHCMC/posts/pfbid02C2f9SVzRqiysXT7UU23Hg6i4bPF279tEmWgt9naE74FTGivNCq1Q279nXR6Go8DRl" TargetMode="External"/><Relationship Id="rId4" Type="http://schemas.openxmlformats.org/officeDocument/2006/relationships/chart" Target="../charts/chart7.xml"/><Relationship Id="rId9" Type="http://schemas.openxmlformats.org/officeDocument/2006/relationships/hyperlink" Target="https://cafef.vn/chuyen-gia-fiingroup-chi-ten-15-co-phieu-co-co-hoi-tai-dinh-gia-nho-game-ipo-ban-von-va-tai-cau-truc-188260530224642797.chn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12" Type="http://schemas.openxmlformats.org/officeDocument/2006/relationships/chart" Target="../charts/chart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7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9.xml"/><Relationship Id="rId5" Type="http://schemas.openxmlformats.org/officeDocument/2006/relationships/image" Target="../media/image8.png"/><Relationship Id="rId10" Type="http://schemas.openxmlformats.org/officeDocument/2006/relationships/chart" Target="../charts/chart23.xml"/><Relationship Id="rId4" Type="http://schemas.microsoft.com/office/2007/relationships/hdphoto" Target="../media/hdphoto1.wdp"/><Relationship Id="rId9" Type="http://schemas.openxmlformats.org/officeDocument/2006/relationships/chart" Target="../charts/char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facebook.com/100262481679319_1662626715291297" TargetMode="External"/><Relationship Id="rId7" Type="http://schemas.openxmlformats.org/officeDocument/2006/relationships/hyperlink" Target="https://chuyendongthitruong.vn/masan-mat-6000-ty-von-hoa-sau-hon-1-thang-321520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huongtruong24h.vn/khi-an-ninh-chuoi-cung-ung-tro-thanh-uu-tien-vonfram-ngoai-trung-quoc-duoc-tai-dinh-gia-ra-sao-a156439.html" TargetMode="External"/><Relationship Id="rId5" Type="http://schemas.openxmlformats.org/officeDocument/2006/relationships/hyperlink" Target="https://thuongtruong24h.vn/cuoc-dua-dam-bao-nguon-cung-khoang-san-chien-luoc-dang-tai-dinh-gia-nganh-vonfram-a156433.html" TargetMode="External"/><Relationship Id="rId4" Type="http://schemas.openxmlformats.org/officeDocument/2006/relationships/hyperlink" Target="https://vnfinance.vn/hon-1000-nhan-vien-cua-masan-consumer-sap-duoc-mua-co-phieu-esop-voi-gia-10000-dong-cp-7248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C11A8-A71C-2CC2-5E51-E464B710A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484F7-B363-E846-0DEA-8BF8AA3E0C6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13464" y="2317260"/>
            <a:ext cx="6812906" cy="12658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1B3866"/>
                </a:solidFill>
                <a:latin typeface="Georgia" pitchFamily="2" charset="0"/>
                <a:cs typeface="Georgia" panose="03000500000000000000" pitchFamily="66" charset="0"/>
              </a:rPr>
              <a:t>THEO DÕI VÀ PHÂN TÍCH THẢO LUẬN MẠNG XÃ HỘI</a:t>
            </a:r>
          </a:p>
        </p:txBody>
      </p:sp>
      <p:grpSp>
        <p:nvGrpSpPr>
          <p:cNvPr id="4" name="Group">
            <a:extLst>
              <a:ext uri="{FF2B5EF4-FFF2-40B4-BE49-F238E27FC236}">
                <a16:creationId xmlns:a16="http://schemas.microsoft.com/office/drawing/2014/main" id="{435580EE-C6A9-57FD-2003-66862BAF8EC7}"/>
              </a:ext>
            </a:extLst>
          </p:cNvPr>
          <p:cNvGrpSpPr/>
          <p:nvPr/>
        </p:nvGrpSpPr>
        <p:grpSpPr>
          <a:xfrm>
            <a:off x="649700" y="256812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4DE4FB82-87D6-70BF-844A-23D24CFA3D43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0368FAA0-81E3-188D-9DF8-B85748464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C1587ACF-2A05-D114-2FED-2B4CECA460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6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4EFA-EB71-2AD0-5ADD-77FDB35B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92BE4F7A-0357-C3CD-0CE7-9034116FA21F}"/>
              </a:ext>
            </a:extLst>
          </p:cNvPr>
          <p:cNvGrpSpPr/>
          <p:nvPr/>
        </p:nvGrpSpPr>
        <p:grpSpPr>
          <a:xfrm>
            <a:off x="289776" y="258607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5E2BF896-DD85-F175-DB76-F5C4FB2BDAF5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325B083D-38CA-2503-6585-DE9D05B10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0CD77409-BDBB-AFD9-F8C0-5C0C8DF562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12" name="Google Shape;3229;p227">
            <a:extLst>
              <a:ext uri="{FF2B5EF4-FFF2-40B4-BE49-F238E27FC236}">
                <a16:creationId xmlns:a16="http://schemas.microsoft.com/office/drawing/2014/main" id="{D9FE9076-9670-B7E2-2D85-5AC16BFF7DDE}"/>
              </a:ext>
            </a:extLst>
          </p:cNvPr>
          <p:cNvSpPr txBox="1">
            <a:spLocks/>
          </p:cNvSpPr>
          <p:nvPr/>
        </p:nvSpPr>
        <p:spPr>
          <a:xfrm>
            <a:off x="1253540" y="2129566"/>
            <a:ext cx="1069564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vi-VN" b="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1.</a:t>
            </a:r>
            <a:endParaRPr lang="en" b="1" dirty="0">
              <a:solidFill>
                <a:srgbClr val="00457C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3" name="Google Shape;3230;p227">
            <a:extLst>
              <a:ext uri="{FF2B5EF4-FFF2-40B4-BE49-F238E27FC236}">
                <a16:creationId xmlns:a16="http://schemas.microsoft.com/office/drawing/2014/main" id="{6C54DD3C-C074-C56F-F7C4-18BF7D0F0604}"/>
              </a:ext>
            </a:extLst>
          </p:cNvPr>
          <p:cNvSpPr txBox="1">
            <a:spLocks/>
          </p:cNvSpPr>
          <p:nvPr/>
        </p:nvSpPr>
        <p:spPr>
          <a:xfrm>
            <a:off x="2231374" y="2460036"/>
            <a:ext cx="4456757" cy="4492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r>
              <a:rPr lang="en-US" sz="2300" b="1" kern="0" spc="-40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TÓM TẮT BÁO CÁO</a:t>
            </a:r>
            <a:endParaRPr lang="en-US" sz="2300" b="1" dirty="0">
              <a:solidFill>
                <a:srgbClr val="00457C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F1624B-DBE0-1226-2BDE-76521765966C}"/>
              </a:ext>
            </a:extLst>
          </p:cNvPr>
          <p:cNvCxnSpPr>
            <a:cxnSpLocks/>
          </p:cNvCxnSpPr>
          <p:nvPr/>
        </p:nvCxnSpPr>
        <p:spPr>
          <a:xfrm>
            <a:off x="2323104" y="3090521"/>
            <a:ext cx="3898982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B77A6DF-E769-9486-4E36-467208002096}"/>
              </a:ext>
            </a:extLst>
          </p:cNvPr>
          <p:cNvSpPr/>
          <p:nvPr/>
        </p:nvSpPr>
        <p:spPr>
          <a:xfrm>
            <a:off x="1361325" y="3091426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879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F2B6-85CA-CBE0-FABB-022DE752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0296E-3CCC-0261-5074-9749AB82EBD8}"/>
              </a:ext>
            </a:extLst>
          </p:cNvPr>
          <p:cNvSpPr/>
          <p:nvPr/>
        </p:nvSpPr>
        <p:spPr>
          <a:xfrm>
            <a:off x="4283848" y="1380875"/>
            <a:ext cx="1529597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lang="en-US" sz="9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11758-997A-DA3A-15CF-729988FC5CD8}"/>
              </a:ext>
            </a:extLst>
          </p:cNvPr>
          <p:cNvSpPr/>
          <p:nvPr/>
        </p:nvSpPr>
        <p:spPr>
          <a:xfrm>
            <a:off x="4227141" y="3405213"/>
            <a:ext cx="16855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Sắc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thái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endParaRPr lang="en-US" sz="1200" b="1" spc="-11" dirty="0">
              <a:solidFill>
                <a:srgbClr val="00457C"/>
              </a:solidFill>
              <a:latin typeface="Georgia" panose="020F0502020204030204" pitchFamily="34" charset="0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7AB8AAB-83BF-B93A-B257-B0C1F19C2E95}"/>
              </a:ext>
            </a:extLst>
          </p:cNvPr>
          <p:cNvSpPr/>
          <p:nvPr/>
        </p:nvSpPr>
        <p:spPr>
          <a:xfrm>
            <a:off x="4200459" y="1333577"/>
            <a:ext cx="3695754" cy="5218052"/>
          </a:xfrm>
          <a:prstGeom prst="roundRect">
            <a:avLst>
              <a:gd name="adj" fmla="val 2677"/>
            </a:avLst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86893-620D-D15E-F822-8F47E8079880}"/>
              </a:ext>
            </a:extLst>
          </p:cNvPr>
          <p:cNvCxnSpPr>
            <a:cxnSpLocks/>
          </p:cNvCxnSpPr>
          <p:nvPr/>
        </p:nvCxnSpPr>
        <p:spPr>
          <a:xfrm>
            <a:off x="4291621" y="3353535"/>
            <a:ext cx="348530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81A-D234-5D5B-7386-259F4FE2D02C}"/>
              </a:ext>
            </a:extLst>
          </p:cNvPr>
          <p:cNvCxnSpPr>
            <a:cxnSpLocks/>
          </p:cNvCxnSpPr>
          <p:nvPr/>
        </p:nvCxnSpPr>
        <p:spPr>
          <a:xfrm>
            <a:off x="4291621" y="4984564"/>
            <a:ext cx="344893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3510;p235">
            <a:extLst>
              <a:ext uri="{FF2B5EF4-FFF2-40B4-BE49-F238E27FC236}">
                <a16:creationId xmlns:a16="http://schemas.microsoft.com/office/drawing/2014/main" id="{BECC039F-BAA9-B647-6B21-269A4506D211}"/>
              </a:ext>
            </a:extLst>
          </p:cNvPr>
          <p:cNvSpPr/>
          <p:nvPr/>
        </p:nvSpPr>
        <p:spPr>
          <a:xfrm>
            <a:off x="5437535" y="105669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ĐỐI THỦ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1041A-4078-F215-F2EE-2A7CAF4E0DA5}"/>
              </a:ext>
            </a:extLst>
          </p:cNvPr>
          <p:cNvSpPr/>
          <p:nvPr/>
        </p:nvSpPr>
        <p:spPr>
          <a:xfrm>
            <a:off x="9282538" y="971748"/>
            <a:ext cx="129277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b="1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ĐÚC KẾT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B080E-C9AF-30C0-6EE5-761E596765AB}"/>
              </a:ext>
            </a:extLst>
          </p:cNvPr>
          <p:cNvSpPr/>
          <p:nvPr/>
        </p:nvSpPr>
        <p:spPr>
          <a:xfrm>
            <a:off x="7974517" y="1333576"/>
            <a:ext cx="3941134" cy="5218052"/>
          </a:xfrm>
          <a:prstGeom prst="rect">
            <a:avLst/>
          </a:prstGeom>
          <a:noFill/>
          <a:ln w="3175">
            <a:solidFill>
              <a:srgbClr val="004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vi-VN" sz="1000" b="1" spc="-13" dirty="0">
                <a:solidFill>
                  <a:srgbClr val="163B66"/>
                </a:solidFill>
              </a:rPr>
              <a:t>Masan </a:t>
            </a:r>
            <a:r>
              <a:rPr lang="en-US" sz="1000" b="1" spc="-13" dirty="0" err="1">
                <a:solidFill>
                  <a:srgbClr val="163B66"/>
                </a:solidFill>
              </a:rPr>
              <a:t>cho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hoạt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hướng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người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dùng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dịch</a:t>
            </a:r>
            <a:r>
              <a:rPr lang="en-US" sz="1000" b="1" spc="-13" dirty="0">
                <a:solidFill>
                  <a:srgbClr val="163B66"/>
                </a:solidFill>
              </a:rPr>
              <a:t> Phúc Long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nhãn</a:t>
            </a:r>
            <a:r>
              <a:rPr lang="en-US" sz="1000" b="1" spc="-13" dirty="0">
                <a:solidFill>
                  <a:srgbClr val="163B66"/>
                </a:solidFill>
              </a:rPr>
              <a:t> Masan Consumer,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đòn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bẩy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mở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chúng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ngoài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đầu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tư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duy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nhịp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nội</a:t>
            </a:r>
            <a:r>
              <a:rPr lang="en-US" sz="1000" b="1" spc="-13" dirty="0">
                <a:solidFill>
                  <a:srgbClr val="163B66"/>
                </a:solidFill>
              </a:rPr>
              <a:t> dung </a:t>
            </a:r>
            <a:r>
              <a:rPr lang="en-US" sz="1000" b="1" spc="-13" dirty="0" err="1">
                <a:solidFill>
                  <a:srgbClr val="163B66"/>
                </a:solidFill>
              </a:rPr>
              <a:t>thương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đều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đặn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thành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hình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ảnh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ổn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thay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endParaRPr lang="vi-VN" sz="1000" b="1" spc="-13" dirty="0">
              <a:solidFill>
                <a:srgbClr val="163B66"/>
              </a:solidFill>
            </a:endParaRPr>
          </a:p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b="1" spc="-13" dirty="0">
                <a:solidFill>
                  <a:srgbClr val="163B66"/>
                </a:solidFill>
              </a:rPr>
              <a:t>Song </a:t>
            </a:r>
            <a:r>
              <a:rPr lang="en-US" sz="1000" b="1" spc="-13" dirty="0" err="1">
                <a:solidFill>
                  <a:srgbClr val="163B66"/>
                </a:solidFill>
              </a:rPr>
              <a:t>song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cần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xử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sớm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nóng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tập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phần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cực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tuần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gồm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tin "</a:t>
            </a:r>
            <a:r>
              <a:rPr lang="en-US" sz="1000" b="1" spc="-13" dirty="0" err="1">
                <a:solidFill>
                  <a:srgbClr val="163B66"/>
                </a:solidFill>
              </a:rPr>
              <a:t>mất</a:t>
            </a:r>
            <a:r>
              <a:rPr lang="en-US" sz="1000" b="1" spc="-13" dirty="0">
                <a:solidFill>
                  <a:srgbClr val="163B66"/>
                </a:solidFill>
              </a:rPr>
              <a:t> 6.000 </a:t>
            </a:r>
            <a:r>
              <a:rPr lang="en-US" sz="1000" b="1" spc="-13" dirty="0" err="1">
                <a:solidFill>
                  <a:srgbClr val="163B66"/>
                </a:solidFill>
              </a:rPr>
              <a:t>tỷ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hóa</a:t>
            </a:r>
            <a:r>
              <a:rPr lang="en-US" sz="1000" b="1" spc="-13" dirty="0">
                <a:solidFill>
                  <a:srgbClr val="163B66"/>
                </a:solidFill>
              </a:rPr>
              <a:t>"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luận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ESOP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thấp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truyền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minh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khoảng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so </a:t>
            </a:r>
            <a:r>
              <a:rPr lang="en-US" sz="1000" b="1" spc="-13" dirty="0" err="1">
                <a:solidFill>
                  <a:srgbClr val="163B66"/>
                </a:solidFill>
              </a:rPr>
              <a:t>với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lợi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ích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của</a:t>
            </a:r>
            <a:r>
              <a:rPr lang="en-US" sz="1000" b="1" spc="-13" dirty="0">
                <a:solidFill>
                  <a:srgbClr val="163B66"/>
                </a:solidFill>
              </a:rPr>
              <a:t> ESOP, </a:t>
            </a:r>
            <a:r>
              <a:rPr lang="en-US" sz="1000" b="1" spc="-13" dirty="0" err="1">
                <a:solidFill>
                  <a:srgbClr val="163B66"/>
                </a:solidFill>
              </a:rPr>
              <a:t>đồng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khuếch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có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thật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việc</a:t>
            </a:r>
            <a:r>
              <a:rPr lang="en-US" sz="1000" b="1" spc="-13" dirty="0">
                <a:solidFill>
                  <a:srgbClr val="163B66"/>
                </a:solidFill>
              </a:rPr>
              <a:t> MSR </a:t>
            </a:r>
            <a:r>
              <a:rPr lang="en-US" sz="1000" b="1" spc="-13" dirty="0" err="1">
                <a:solidFill>
                  <a:srgbClr val="163B66"/>
                </a:solidFill>
              </a:rPr>
              <a:t>được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nhờ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thế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vonfram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câu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chuyện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đủ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sức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lấn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tâm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sốt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ruột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endParaRPr lang="vi-VN" sz="1000" b="1" spc="-13" dirty="0">
              <a:solidFill>
                <a:srgbClr val="163B66"/>
              </a:solidFill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2E44557-5162-A283-A7B7-6D10FA71F620}"/>
              </a:ext>
            </a:extLst>
          </p:cNvPr>
          <p:cNvSpPr/>
          <p:nvPr/>
        </p:nvSpPr>
        <p:spPr>
          <a:xfrm>
            <a:off x="183003" y="1333576"/>
            <a:ext cx="3805816" cy="5218053"/>
          </a:xfrm>
          <a:prstGeom prst="roundRect">
            <a:avLst>
              <a:gd name="adj" fmla="val 2677"/>
            </a:avLst>
          </a:prstGeom>
          <a:noFill/>
          <a:ln w="12700">
            <a:solidFill>
              <a:srgbClr val="00457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97CBE-7F0D-0C50-2FDB-CE38F3DF0E1D}"/>
              </a:ext>
            </a:extLst>
          </p:cNvPr>
          <p:cNvSpPr/>
          <p:nvPr/>
        </p:nvSpPr>
        <p:spPr>
          <a:xfrm>
            <a:off x="211320" y="1352761"/>
            <a:ext cx="2276195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quan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kumimoji="0" lang="en-US" sz="105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algn="just"/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Từ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28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/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05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đến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03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/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06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,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Masan Group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đã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ghi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nhận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3,681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thảo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Đa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số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là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tin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cập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về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chứng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khoán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cổ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phiếu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tích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10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%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tiêu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5.2%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0000500000000000000" pitchFamily="2" charset="-93"/>
              <a:cs typeface="Georgia" panose="020B0502040204020203" pitchFamily="34" charset="0"/>
              <a:sym typeface="Georgi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320DC-5A04-4621-7F6C-1EC71C2A995D}"/>
              </a:ext>
            </a:extLst>
          </p:cNvPr>
          <p:cNvCxnSpPr>
            <a:cxnSpLocks/>
          </p:cNvCxnSpPr>
          <p:nvPr/>
        </p:nvCxnSpPr>
        <p:spPr>
          <a:xfrm>
            <a:off x="304225" y="4984564"/>
            <a:ext cx="358579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21F79-10BB-A891-2541-95FEE0E6B7A0}"/>
              </a:ext>
            </a:extLst>
          </p:cNvPr>
          <p:cNvCxnSpPr>
            <a:cxnSpLocks/>
          </p:cNvCxnSpPr>
          <p:nvPr/>
        </p:nvCxnSpPr>
        <p:spPr>
          <a:xfrm>
            <a:off x="225383" y="3364769"/>
            <a:ext cx="36646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0153-8FD8-E057-2097-B297AEDC4B80}"/>
              </a:ext>
            </a:extLst>
          </p:cNvPr>
          <p:cNvSpPr/>
          <p:nvPr/>
        </p:nvSpPr>
        <p:spPr>
          <a:xfrm>
            <a:off x="211320" y="3427438"/>
            <a:ext cx="1552938" cy="105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Nền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tảng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 </a:t>
            </a:r>
          </a:p>
          <a:p>
            <a:pPr algn="just">
              <a:lnSpc>
                <a:spcPct val="150000"/>
              </a:lnSpc>
            </a:pPr>
            <a:endParaRPr lang="en-US" sz="7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Chiếm </a:t>
            </a:r>
            <a:r>
              <a:rPr lang="vi-VN" sz="9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47%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t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ổng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,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Facebook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là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kênh truyền thông thu hút nhiều thảo luận nhất</a:t>
            </a:r>
            <a:endParaRPr lang="en-US" sz="900" spc="-11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638C91-7B22-C23D-65CC-635CC77F4E72}"/>
              </a:ext>
            </a:extLst>
          </p:cNvPr>
          <p:cNvSpPr txBox="1"/>
          <p:nvPr/>
        </p:nvSpPr>
        <p:spPr>
          <a:xfrm>
            <a:off x="2102320" y="3972598"/>
            <a:ext cx="643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algn="ctr"/>
            <a:r>
              <a:rPr lang="en-US" sz="900" b="1" dirty="0">
                <a:latin typeface="Georgia" panose="00000500000000000000" pitchFamily="2" charset="-93"/>
                <a:cs typeface="Georgia" panose="020B0604020202020204" pitchFamily="34" charset="0"/>
              </a:rPr>
              <a:t> 3,681 </a:t>
            </a:r>
          </a:p>
          <a:p>
            <a:pPr algn="ctr"/>
            <a:r>
              <a:rPr lang="en-US" sz="600" b="1" dirty="0">
                <a:latin typeface="Georgia" panose="00000500000000000000" pitchFamily="2" charset="-93"/>
                <a:cs typeface="Georgia" panose="020B0604020202020204" pitchFamily="34" charset="0"/>
              </a:rPr>
              <a:t>THẢO LUẬN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88D6A-517F-3211-CAF1-2F2DE40F514C}"/>
              </a:ext>
            </a:extLst>
          </p:cNvPr>
          <p:cNvSpPr/>
          <p:nvPr/>
        </p:nvSpPr>
        <p:spPr>
          <a:xfrm>
            <a:off x="179071" y="5209151"/>
            <a:ext cx="2691288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9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algn="just">
              <a:defRPr/>
            </a:pP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Nội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dung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đáng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chú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ý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trong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tuần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3"/>
              </a:rPr>
              <a:t>Masan mất 6.000 tỷ vốn hóa sau hơn 1 tháng</a:t>
            </a:r>
            <a:endParaRPr lang="en-US" sz="900" spc="-11" dirty="0">
              <a:solidFill>
                <a:schemeClr val="tx1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</p:txBody>
      </p:sp>
      <p:sp>
        <p:nvSpPr>
          <p:cNvPr id="22" name="Google Shape;3510;p235">
            <a:extLst>
              <a:ext uri="{FF2B5EF4-FFF2-40B4-BE49-F238E27FC236}">
                <a16:creationId xmlns:a16="http://schemas.microsoft.com/office/drawing/2014/main" id="{F5071084-56D2-DD91-42B4-C61131358548}"/>
              </a:ext>
            </a:extLst>
          </p:cNvPr>
          <p:cNvSpPr/>
          <p:nvPr/>
        </p:nvSpPr>
        <p:spPr>
          <a:xfrm>
            <a:off x="1519413" y="105196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MASAN GROUP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CAA61-605B-12DD-4D0C-5348E53DB760}"/>
              </a:ext>
            </a:extLst>
          </p:cNvPr>
          <p:cNvSpPr/>
          <p:nvPr/>
        </p:nvSpPr>
        <p:spPr>
          <a:xfrm>
            <a:off x="4199483" y="4927539"/>
            <a:ext cx="3695754" cy="1396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endParaRPr lang="vi-VN" sz="1050" b="1" spc="-11" dirty="0">
              <a:solidFill>
                <a:srgbClr val="1B3866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Vingroup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4"/>
              </a:rPr>
              <a:t>Ngược dòng, cổ phiếu Vinhomes (VHM) tăng kịch trần trong ngày thị trường rực lửa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Hòa Phát: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5"/>
              </a:rPr>
              <a:t>Tiên phong sản xuất thép ray đường sắt tại Việt Nam, Hòa Phát (HPG) được hưởng đặc quyền hiếm có suốt 10 năm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Vinamilk: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6"/>
              </a:rPr>
              <a:t>Một minh chứng đáng yêu cho sự hợp tác nông nghiệp giữa Hoa Kỳ và Việt Nam.</a:t>
            </a:r>
            <a:endParaRPr lang="vi-VN" sz="900" u="sng" dirty="0">
              <a:solidFill>
                <a:srgbClr val="0000FF"/>
              </a:solidFill>
              <a:latin typeface="Georgia" pitchFamily="2" charset="0"/>
              <a:cs typeface="Georgia" panose="03000500000000000000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925EF-C351-8867-325C-B5B0012CE4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90589" y="5513475"/>
            <a:ext cx="899427" cy="562141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8136797-3BCD-895D-0667-E6522BB1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303754"/>
              </p:ext>
            </p:extLst>
          </p:nvPr>
        </p:nvGraphicFramePr>
        <p:xfrm>
          <a:off x="2423932" y="1436013"/>
          <a:ext cx="1516912" cy="178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8513B43-EF52-52E3-D8D8-3A28AD29F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54915"/>
              </p:ext>
            </p:extLst>
          </p:nvPr>
        </p:nvGraphicFramePr>
        <p:xfrm>
          <a:off x="1424187" y="3452783"/>
          <a:ext cx="2540649" cy="1474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754DA27-5378-0B50-958C-CB210A4A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33366"/>
              </p:ext>
            </p:extLst>
          </p:nvPr>
        </p:nvGraphicFramePr>
        <p:xfrm>
          <a:off x="4354166" y="1480090"/>
          <a:ext cx="3386388" cy="172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08A834D-8468-A5B5-8A11-2A26B093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68772"/>
              </p:ext>
            </p:extLst>
          </p:nvPr>
        </p:nvGraphicFramePr>
        <p:xfrm>
          <a:off x="4080228" y="3578740"/>
          <a:ext cx="3850273" cy="1405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2BE9C312-8CC7-E79D-F63B-E7F134437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299925"/>
              </p:ext>
            </p:extLst>
          </p:nvPr>
        </p:nvGraphicFramePr>
        <p:xfrm>
          <a:off x="304225" y="2648080"/>
          <a:ext cx="2239924" cy="62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1" name="object 3">
            <a:extLst>
              <a:ext uri="{FF2B5EF4-FFF2-40B4-BE49-F238E27FC236}">
                <a16:creationId xmlns:a16="http://schemas.microsoft.com/office/drawing/2014/main" id="{4D9E6CA2-7EA6-EF75-887C-0EBA33C44ABA}"/>
              </a:ext>
            </a:extLst>
          </p:cNvPr>
          <p:cNvSpPr txBox="1">
            <a:spLocks/>
          </p:cNvSpPr>
          <p:nvPr/>
        </p:nvSpPr>
        <p:spPr>
          <a:xfrm>
            <a:off x="225383" y="39794"/>
            <a:ext cx="9715728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defTabSz="914377">
              <a:spcBef>
                <a:spcPts val="565"/>
              </a:spcBef>
              <a:buClrTx/>
            </a:pPr>
            <a:r>
              <a:rPr lang="en-US" sz="2400" spc="131" dirty="0">
                <a:solidFill>
                  <a:srgbClr val="00457C"/>
                </a:solidFill>
                <a:latin typeface="Georgia" panose="00000700000000000000" pitchFamily="2" charset="-93"/>
                <a:cs typeface="Georgia"/>
              </a:rPr>
              <a:t>TÓM TẮT BÁO CÁO</a:t>
            </a:r>
            <a:endParaRPr lang="en-US" sz="2400" dirty="0">
              <a:solidFill>
                <a:srgbClr val="00457C"/>
              </a:solidFill>
              <a:latin typeface="Georgia" panose="00000700000000000000" pitchFamily="2" charset="-93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904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6A30-FE42-4E70-9BCA-644AA0F6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42D7E723-3A4F-2109-FDC3-0115C5AF936D}"/>
              </a:ext>
            </a:extLst>
          </p:cNvPr>
          <p:cNvGrpSpPr/>
          <p:nvPr/>
        </p:nvGrpSpPr>
        <p:grpSpPr>
          <a:xfrm>
            <a:off x="202124" y="2586071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84BDE429-2FE7-6DF8-E5AB-D54D7E1287F2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56009475-59E8-B7C2-78C9-FA1ADA016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480DCF22-5BBE-13A1-90F7-BA226185D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2" name="Google Shape;3229;p227">
            <a:extLst>
              <a:ext uri="{FF2B5EF4-FFF2-40B4-BE49-F238E27FC236}">
                <a16:creationId xmlns:a16="http://schemas.microsoft.com/office/drawing/2014/main" id="{E9B09A7F-3732-E44A-0755-924D08CA0017}"/>
              </a:ext>
            </a:extLst>
          </p:cNvPr>
          <p:cNvSpPr txBox="1">
            <a:spLocks/>
          </p:cNvSpPr>
          <p:nvPr/>
        </p:nvSpPr>
        <p:spPr>
          <a:xfrm>
            <a:off x="1138116" y="2492171"/>
            <a:ext cx="1196011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4400" b="1" i="0" u="none" strike="noStrike" kern="1200" cap="none" spc="0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2.</a:t>
            </a:r>
            <a:endParaRPr kumimoji="0" lang="en" sz="44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3" name="Google Shape;3230;p227">
            <a:extLst>
              <a:ext uri="{FF2B5EF4-FFF2-40B4-BE49-F238E27FC236}">
                <a16:creationId xmlns:a16="http://schemas.microsoft.com/office/drawing/2014/main" id="{1F7AF620-683D-EF70-D8CE-AF85F7E78DA9}"/>
              </a:ext>
            </a:extLst>
          </p:cNvPr>
          <p:cNvSpPr txBox="1">
            <a:spLocks/>
          </p:cNvSpPr>
          <p:nvPr/>
        </p:nvSpPr>
        <p:spPr>
          <a:xfrm>
            <a:off x="2235451" y="2966243"/>
            <a:ext cx="6545801" cy="4492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-US" sz="2300" b="1" kern="0" spc="-40" dirty="0">
                <a:solidFill>
                  <a:srgbClr val="00457C"/>
                </a:solidFill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</a:rPr>
              <a:t>MASAN GROUP VÀ CÁC ĐỐI THỦ CHÍNH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02C2E8-2A0E-0B23-2698-0B232F2E3517}"/>
              </a:ext>
            </a:extLst>
          </p:cNvPr>
          <p:cNvCxnSpPr>
            <a:cxnSpLocks/>
          </p:cNvCxnSpPr>
          <p:nvPr/>
        </p:nvCxnSpPr>
        <p:spPr>
          <a:xfrm>
            <a:off x="2361899" y="3596728"/>
            <a:ext cx="5479473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E550C90-D813-092B-C59D-D38B1CA93AF1}"/>
              </a:ext>
            </a:extLst>
          </p:cNvPr>
          <p:cNvSpPr/>
          <p:nvPr/>
        </p:nvSpPr>
        <p:spPr>
          <a:xfrm>
            <a:off x="1386156" y="3596728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0" name="Google Shape;3510;p235">
            <a:extLst>
              <a:ext uri="{FF2B5EF4-FFF2-40B4-BE49-F238E27FC236}">
                <a16:creationId xmlns:a16="http://schemas.microsoft.com/office/drawing/2014/main" id="{2CD08BC2-EF25-19E6-6421-EAC63DBB0A63}"/>
              </a:ext>
            </a:extLst>
          </p:cNvPr>
          <p:cNvSpPr/>
          <p:nvPr/>
        </p:nvSpPr>
        <p:spPr>
          <a:xfrm>
            <a:off x="1728618" y="2154755"/>
            <a:ext cx="1510948" cy="465935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ĐỐI THỦ</a:t>
            </a:r>
            <a:endParaRPr sz="1200" kern="1200" dirty="0">
              <a:solidFill>
                <a:prstClr val="white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1" name="Google Shape;3511;p235">
            <a:extLst>
              <a:ext uri="{FF2B5EF4-FFF2-40B4-BE49-F238E27FC236}">
                <a16:creationId xmlns:a16="http://schemas.microsoft.com/office/drawing/2014/main" id="{0E4F8B44-4441-68E9-043E-8945C2CE8589}"/>
              </a:ext>
            </a:extLst>
          </p:cNvPr>
          <p:cNvSpPr/>
          <p:nvPr/>
        </p:nvSpPr>
        <p:spPr>
          <a:xfrm>
            <a:off x="3426189" y="2154754"/>
            <a:ext cx="1520826" cy="46593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vi-VN" sz="1200" kern="1200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THƯƠNG HIỆU</a:t>
            </a:r>
          </a:p>
        </p:txBody>
      </p:sp>
    </p:spTree>
    <p:extLst>
      <p:ext uri="{BB962C8B-B14F-4D97-AF65-F5344CB8AC3E}">
        <p14:creationId xmlns:p14="http://schemas.microsoft.com/office/powerpoint/2010/main" val="150581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D71-E255-A4C1-0BCA-2D5C886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080570-801E-7B7D-E4A3-64A1FC0BF3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621988"/>
              </p:ext>
            </p:extLst>
          </p:nvPr>
        </p:nvGraphicFramePr>
        <p:xfrm>
          <a:off x="730593" y="1169373"/>
          <a:ext cx="4685119" cy="2089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0327076-85D5-10DA-B8E1-B1359422648F}"/>
              </a:ext>
            </a:extLst>
          </p:cNvPr>
          <p:cNvGrpSpPr/>
          <p:nvPr/>
        </p:nvGrpSpPr>
        <p:grpSpPr>
          <a:xfrm>
            <a:off x="2193285" y="2039542"/>
            <a:ext cx="1483769" cy="1697659"/>
            <a:chOff x="11108378" y="3596109"/>
            <a:chExt cx="1483769" cy="1697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5A4AEF-7E4F-F212-FF91-C5489800E8B9}"/>
                </a:ext>
              </a:extLst>
            </p:cNvPr>
            <p:cNvSpPr txBox="1"/>
            <p:nvPr/>
          </p:nvSpPr>
          <p:spPr>
            <a:xfrm>
              <a:off x="11305305" y="3596109"/>
              <a:ext cx="10899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200" b="1" dirty="0">
                  <a:latin typeface="Georgia" panose="00000500000000000000" pitchFamily="2" charset="-93"/>
                  <a:cs typeface="Georgia" panose="020B0604020202020204" pitchFamily="34" charset="0"/>
                </a:rPr>
                <a:t>46,634</a:t>
              </a:r>
            </a:p>
            <a:p>
              <a:pPr algn="ctr"/>
              <a:r>
                <a:rPr lang="en-US" sz="900" b="1" dirty="0">
                  <a:latin typeface="Georgia" panose="00000500000000000000" pitchFamily="2" charset="-93"/>
                  <a:cs typeface="Georgia" panose="020B0604020202020204" pitchFamily="34" charset="0"/>
                </a:rPr>
                <a:t>THẢO LUẬN</a:t>
              </a:r>
            </a:p>
          </p:txBody>
        </p:sp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461BA442-ECCA-9067-E3CA-43FF3D1758B2}"/>
                </a:ext>
              </a:extLst>
            </p:cNvPr>
            <p:cNvSpPr/>
            <p:nvPr/>
          </p:nvSpPr>
          <p:spPr>
            <a:xfrm>
              <a:off x="11108378" y="5029187"/>
              <a:ext cx="1483769" cy="264581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0045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2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8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/05 – 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03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6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8E8E0-CC8D-AE7C-D4DA-FBEAA3EE100A}"/>
              </a:ext>
            </a:extLst>
          </p:cNvPr>
          <p:cNvCxnSpPr>
            <a:cxnSpLocks/>
          </p:cNvCxnSpPr>
          <p:nvPr/>
        </p:nvCxnSpPr>
        <p:spPr>
          <a:xfrm>
            <a:off x="6225476" y="93133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DA180B-751E-23A2-DE90-A3F55523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62008"/>
              </p:ext>
            </p:extLst>
          </p:nvPr>
        </p:nvGraphicFramePr>
        <p:xfrm>
          <a:off x="127910" y="3995279"/>
          <a:ext cx="5890487" cy="278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5B3436-31E0-3004-8F44-F0C7C47DA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448013"/>
              </p:ext>
            </p:extLst>
          </p:nvPr>
        </p:nvGraphicFramePr>
        <p:xfrm>
          <a:off x="6096000" y="878318"/>
          <a:ext cx="5791200" cy="272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1F0033-A1FE-2B62-8CCB-6B830BE4830F}"/>
              </a:ext>
            </a:extLst>
          </p:cNvPr>
          <p:cNvSpPr txBox="1"/>
          <p:nvPr/>
        </p:nvSpPr>
        <p:spPr>
          <a:xfrm>
            <a:off x="6173605" y="3547953"/>
            <a:ext cx="5890485" cy="32958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MSN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gần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như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: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này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vốn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cổ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phiếu</a:t>
            </a:r>
            <a:r>
              <a:rPr lang="en-US" sz="1000" dirty="0">
                <a:latin typeface="+mj-lt"/>
              </a:rPr>
              <a:t> ESOP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vonfram</a:t>
            </a:r>
            <a:r>
              <a:rPr lang="en-US" sz="1000" dirty="0">
                <a:latin typeface="+mj-lt"/>
              </a:rPr>
              <a:t>/MSR (</a:t>
            </a:r>
            <a:r>
              <a:rPr lang="en-US" sz="1000" dirty="0" err="1">
                <a:latin typeface="+mj-lt"/>
              </a:rPr>
              <a:t>mỏ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Núi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Pháo</a:t>
            </a:r>
            <a:r>
              <a:rPr lang="en-US" sz="1000" dirty="0">
                <a:latin typeface="+mj-lt"/>
              </a:rPr>
              <a:t>)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định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giá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thành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lược</a:t>
            </a:r>
            <a:r>
              <a:rPr lang="en-US" sz="1000" dirty="0">
                <a:latin typeface="+mj-lt"/>
              </a:rPr>
              <a:t>" </a:t>
            </a:r>
            <a:r>
              <a:rPr lang="vi-VN" sz="1000" dirty="0">
                <a:latin typeface="+mj-lt"/>
              </a:rPr>
              <a:t>(</a:t>
            </a:r>
            <a:r>
              <a:rPr lang="vi-VN" sz="1000" dirty="0">
                <a:latin typeface="+mj-lt"/>
                <a:hlinkClick r:id="rId6"/>
              </a:rPr>
              <a:t>URL</a:t>
            </a:r>
            <a:r>
              <a:rPr lang="vi-VN" sz="1000" dirty="0">
                <a:latin typeface="+mj-lt"/>
              </a:rPr>
              <a:t>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Vingroup </a:t>
            </a:r>
            <a:r>
              <a:rPr lang="en-US" sz="1000" dirty="0" err="1">
                <a:latin typeface="+mj-lt"/>
              </a:rPr>
              <a:t>dẫn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thảo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luận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toàn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nhóm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nối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mua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Vinhomes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bằng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vàng</a:t>
            </a:r>
            <a:r>
              <a:rPr lang="en-US" sz="1000" dirty="0">
                <a:latin typeface="+mj-lt"/>
              </a:rPr>
              <a:t> (CEO Nguyễn Thu Hằng </a:t>
            </a:r>
            <a:r>
              <a:rPr lang="en-US" sz="1000" dirty="0" err="1">
                <a:latin typeface="+mj-lt"/>
              </a:rPr>
              <a:t>lên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trấn</a:t>
            </a:r>
            <a:r>
              <a:rPr lang="en-US" sz="1000" dirty="0">
                <a:latin typeface="+mj-lt"/>
              </a:rPr>
              <a:t> an), </a:t>
            </a:r>
            <a:r>
              <a:rPr lang="en-US" sz="1000" dirty="0" err="1">
                <a:latin typeface="+mj-lt"/>
              </a:rPr>
              <a:t>bên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cạnh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lập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hãng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phim</a:t>
            </a:r>
            <a:r>
              <a:rPr lang="en-US" sz="1000" dirty="0">
                <a:latin typeface="+mj-lt"/>
              </a:rPr>
              <a:t> V-Film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quanh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hệ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phú</a:t>
            </a:r>
            <a:r>
              <a:rPr lang="en-US" sz="1000" dirty="0">
                <a:latin typeface="+mj-lt"/>
              </a:rPr>
              <a:t> Phạm Nhật Vượng (</a:t>
            </a:r>
            <a:r>
              <a:rPr lang="en-US" sz="1000" dirty="0">
                <a:latin typeface="+mj-lt"/>
                <a:hlinkClick r:id="rId7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Hòa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tích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cực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ray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nước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hưởng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đặc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quyền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hiếm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có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suốt</a:t>
            </a:r>
            <a:r>
              <a:rPr lang="en-US" sz="1000" dirty="0">
                <a:latin typeface="+mj-lt"/>
              </a:rPr>
              <a:t> 10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sẵn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sàng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tham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án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cao</a:t>
            </a:r>
            <a:r>
              <a:rPr lang="en-US" sz="1000" dirty="0">
                <a:latin typeface="+mj-lt"/>
              </a:rPr>
              <a:t> 67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USD;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dấu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mốc</a:t>
            </a:r>
            <a:r>
              <a:rPr lang="en-US" sz="1000" dirty="0">
                <a:latin typeface="+mj-lt"/>
              </a:rPr>
              <a:t> Việt Nam </a:t>
            </a:r>
            <a:r>
              <a:rPr lang="en-US" sz="1000" dirty="0" err="1">
                <a:latin typeface="+mj-lt"/>
              </a:rPr>
              <a:t>lần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lọt</a:t>
            </a:r>
            <a:r>
              <a:rPr lang="en-US" sz="1000" dirty="0">
                <a:latin typeface="+mj-lt"/>
              </a:rPr>
              <a:t> Top 10 </a:t>
            </a:r>
            <a:r>
              <a:rPr lang="en-US" sz="1000" dirty="0" err="1">
                <a:latin typeface="+mj-lt"/>
              </a:rPr>
              <a:t>cường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giới</a:t>
            </a:r>
            <a:r>
              <a:rPr lang="en-US" sz="1000" dirty="0">
                <a:latin typeface="+mj-lt"/>
              </a:rPr>
              <a:t> (</a:t>
            </a:r>
            <a:r>
              <a:rPr lang="en-US" sz="1000" dirty="0">
                <a:latin typeface="+mj-lt"/>
                <a:hlinkClick r:id="rId8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MWG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nổi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Xanh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tục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IPO,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cuộc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bộ</a:t>
            </a:r>
            <a:r>
              <a:rPr lang="en-US" sz="1000" dirty="0">
                <a:latin typeface="+mj-lt"/>
              </a:rPr>
              <a:t> X-Leader 2026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Bách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 Xanh (</a:t>
            </a:r>
            <a:r>
              <a:rPr lang="en-US" sz="1000" dirty="0">
                <a:latin typeface="+mj-lt"/>
                <a:hlinkClick r:id="rId9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doanh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Tây Ninh </a:t>
            </a:r>
            <a:r>
              <a:rPr lang="en-US" sz="1000" dirty="0" err="1">
                <a:latin typeface="+mj-lt"/>
              </a:rPr>
              <a:t>ủng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trang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sớm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khai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vi-VN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hình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ảnh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thương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hiệu</a:t>
            </a:r>
            <a:r>
              <a:rPr lang="en-US" sz="1000" dirty="0">
                <a:latin typeface="+mj-lt"/>
              </a:rPr>
              <a:t> "50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tại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lãm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ngành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lớn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nhất</a:t>
            </a:r>
            <a:r>
              <a:rPr lang="en-US" sz="1000" dirty="0">
                <a:latin typeface="+mj-lt"/>
              </a:rPr>
              <a:t> Việt Nam (</a:t>
            </a:r>
            <a:r>
              <a:rPr lang="en-US" sz="1000" dirty="0">
                <a:latin typeface="+mj-lt"/>
                <a:hlinkClick r:id="rId10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8493691-3302-FD39-C703-FA441BC45C84}"/>
              </a:ext>
            </a:extLst>
          </p:cNvPr>
          <p:cNvSpPr txBox="1">
            <a:spLocks/>
          </p:cNvSpPr>
          <p:nvPr/>
        </p:nvSpPr>
        <p:spPr>
          <a:xfrm>
            <a:off x="175034" y="14208"/>
            <a:ext cx="12016966" cy="810091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TỔNG QUAN THẢO LUẬN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marL="12700" defTabSz="914377">
              <a:spcBef>
                <a:spcPts val="255"/>
              </a:spcBef>
              <a:buClrTx/>
              <a:defRPr/>
            </a:pP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Masan và các đối thủ ghi nhận tổng cộng </a:t>
            </a:r>
            <a:r>
              <a:rPr lang="vi-VN" sz="1400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46,634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 </a:t>
            </a:r>
            <a:r>
              <a:rPr lang="vi-VN" sz="1200" b="1" dirty="0">
                <a:latin typeface="Georgia" panose="00000500000000000000" pitchFamily="2" charset="-93"/>
                <a:cs typeface="Georgia" panose="020B0604020202020204" pitchFamily="34" charset="0"/>
              </a:rPr>
              <a:t> 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thảo luận. </a:t>
            </a:r>
          </a:p>
        </p:txBody>
      </p:sp>
    </p:spTree>
    <p:extLst>
      <p:ext uri="{BB962C8B-B14F-4D97-AF65-F5344CB8AC3E}">
        <p14:creationId xmlns:p14="http://schemas.microsoft.com/office/powerpoint/2010/main" val="293087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799E0-7011-D944-B980-D3EFDC160710}"/>
              </a:ext>
            </a:extLst>
          </p:cNvPr>
          <p:cNvSpPr txBox="1">
            <a:spLocks/>
          </p:cNvSpPr>
          <p:nvPr/>
        </p:nvSpPr>
        <p:spPr>
          <a:xfrm>
            <a:off x="175033" y="69399"/>
            <a:ext cx="11878439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CHỈ SỐ SỨC KHỎE VÀ KÊNH THẢO LUẬN CỦA ĐỐI THỦ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8A80C-26A3-7CB0-C28C-573E7581F275}"/>
              </a:ext>
            </a:extLst>
          </p:cNvPr>
          <p:cNvSpPr txBox="1"/>
          <p:nvPr/>
        </p:nvSpPr>
        <p:spPr>
          <a:xfrm>
            <a:off x="137439" y="6627168"/>
            <a:ext cx="3294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NSR </a:t>
            </a:r>
            <a:r>
              <a:rPr lang="vi-VN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(%)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= (Tích cực – Tiêu cực)/(Tích cực +Tiêu cực)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EE62E-7827-D3E4-6A07-871F3AA12646}"/>
              </a:ext>
            </a:extLst>
          </p:cNvPr>
          <p:cNvSpPr/>
          <p:nvPr/>
        </p:nvSpPr>
        <p:spPr>
          <a:xfrm>
            <a:off x="120486" y="1224988"/>
            <a:ext cx="3850276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SẮC THÁI THẢO LUẬN VÀ CHỈ SỐ SỨC KHỎE CỦA CÁC THƯƠNG HIỆU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A62A8-9EE5-DEE3-FBDD-DC7EB1C4A9DD}"/>
              </a:ext>
            </a:extLst>
          </p:cNvPr>
          <p:cNvSpPr/>
          <p:nvPr/>
        </p:nvSpPr>
        <p:spPr>
          <a:xfrm>
            <a:off x="6935026" y="1096876"/>
            <a:ext cx="3684462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CHỈ SỐ SỨC KHỎE THEO CHỦ ĐỀ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57B72-8699-356E-2290-D94BB76E0FF0}"/>
              </a:ext>
            </a:extLst>
          </p:cNvPr>
          <p:cNvSpPr/>
          <p:nvPr/>
        </p:nvSpPr>
        <p:spPr>
          <a:xfrm>
            <a:off x="6935026" y="3899586"/>
            <a:ext cx="262192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TỐP NGUỒN THẢO LUẬN NỔI BẬT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2396E-A614-C99D-BC0A-34532ED4F2CD}"/>
              </a:ext>
            </a:extLst>
          </p:cNvPr>
          <p:cNvCxnSpPr>
            <a:cxnSpLocks/>
          </p:cNvCxnSpPr>
          <p:nvPr/>
        </p:nvCxnSpPr>
        <p:spPr>
          <a:xfrm flipV="1">
            <a:off x="-11954" y="3786576"/>
            <a:ext cx="12203954" cy="124137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E1ECF-0B99-74D0-5C9F-38BD48935C87}"/>
              </a:ext>
            </a:extLst>
          </p:cNvPr>
          <p:cNvCxnSpPr>
            <a:cxnSpLocks/>
          </p:cNvCxnSpPr>
          <p:nvPr/>
        </p:nvCxnSpPr>
        <p:spPr>
          <a:xfrm>
            <a:off x="3970762" y="93625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D56983-756B-C26F-B3EB-6FCD1A48D24D}"/>
              </a:ext>
            </a:extLst>
          </p:cNvPr>
          <p:cNvSpPr/>
          <p:nvPr/>
        </p:nvSpPr>
        <p:spPr>
          <a:xfrm>
            <a:off x="4234235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8808FA-8DB3-15C3-CA6D-EC47875137DC}"/>
              </a:ext>
            </a:extLst>
          </p:cNvPr>
          <p:cNvSpPr/>
          <p:nvPr/>
        </p:nvSpPr>
        <p:spPr>
          <a:xfrm>
            <a:off x="635406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FF237B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HÒA PHÁT</a:t>
            </a:r>
            <a:endParaRPr lang="en-US" sz="1000" b="1" spc="-11" dirty="0">
              <a:solidFill>
                <a:srgbClr val="FF237B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649FE6-9D45-5139-D3A2-11F29266FEC5}"/>
              </a:ext>
            </a:extLst>
          </p:cNvPr>
          <p:cNvSpPr/>
          <p:nvPr/>
        </p:nvSpPr>
        <p:spPr>
          <a:xfrm>
            <a:off x="8104796" y="4346094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AED8AF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MWG</a:t>
            </a:r>
            <a:endParaRPr lang="en-US" sz="1000" b="1" spc="-11" dirty="0">
              <a:solidFill>
                <a:srgbClr val="AED8AF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BFDA6-B91E-C79B-F916-B4B2600C5A70}"/>
              </a:ext>
            </a:extLst>
          </p:cNvPr>
          <p:cNvSpPr/>
          <p:nvPr/>
        </p:nvSpPr>
        <p:spPr>
          <a:xfrm>
            <a:off x="1032768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9704315-7B89-A1DA-DB17-632313161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95726"/>
              </p:ext>
            </p:extLst>
          </p:nvPr>
        </p:nvGraphicFramePr>
        <p:xfrm>
          <a:off x="3987448" y="1822882"/>
          <a:ext cx="2637758" cy="2061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0F7B8A23-4FD5-255F-4A74-B3E82A5D0357}"/>
              </a:ext>
            </a:extLst>
          </p:cNvPr>
          <p:cNvSpPr/>
          <p:nvPr/>
        </p:nvSpPr>
        <p:spPr>
          <a:xfrm>
            <a:off x="4055982" y="1472775"/>
            <a:ext cx="1920777" cy="238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258FC-AF9D-9EA4-3D09-9FD67249029C}"/>
              </a:ext>
            </a:extLst>
          </p:cNvPr>
          <p:cNvSpPr/>
          <p:nvPr/>
        </p:nvSpPr>
        <p:spPr>
          <a:xfrm>
            <a:off x="646576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FF237B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HÒA PHÁT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FF237B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034E74-EA6E-3431-719E-C882F8646E8B}"/>
              </a:ext>
            </a:extLst>
          </p:cNvPr>
          <p:cNvSpPr/>
          <p:nvPr/>
        </p:nvSpPr>
        <p:spPr>
          <a:xfrm>
            <a:off x="8216499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AED8AF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MWG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AED8AF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E12B2-1BB1-67D8-12DA-11F70B0D32AA}"/>
              </a:ext>
            </a:extLst>
          </p:cNvPr>
          <p:cNvSpPr/>
          <p:nvPr/>
        </p:nvSpPr>
        <p:spPr>
          <a:xfrm>
            <a:off x="1043938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9A77C6-FAFF-097B-E2B5-6DE471C18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842287"/>
              </p:ext>
            </p:extLst>
          </p:nvPr>
        </p:nvGraphicFramePr>
        <p:xfrm>
          <a:off x="6047156" y="1744844"/>
          <a:ext cx="2871355" cy="199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50841-8342-5FAD-36A6-EF15E74AA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404744"/>
              </p:ext>
            </p:extLst>
          </p:nvPr>
        </p:nvGraphicFramePr>
        <p:xfrm>
          <a:off x="8216499" y="1822882"/>
          <a:ext cx="2326943" cy="196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A3B1D4-2FCF-3D91-E105-8DED5F4E1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54308"/>
              </p:ext>
            </p:extLst>
          </p:nvPr>
        </p:nvGraphicFramePr>
        <p:xfrm>
          <a:off x="10137276" y="1824402"/>
          <a:ext cx="2637758" cy="1955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DFE27E3-7ECE-82C3-89FC-7C1B8B5FB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869060"/>
              </p:ext>
            </p:extLst>
          </p:nvPr>
        </p:nvGraphicFramePr>
        <p:xfrm>
          <a:off x="31910" y="1224988"/>
          <a:ext cx="3850273" cy="254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4D03C9B-87BD-01FD-676C-B0ECEF594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327044"/>
              </p:ext>
            </p:extLst>
          </p:nvPr>
        </p:nvGraphicFramePr>
        <p:xfrm>
          <a:off x="4177950" y="4588050"/>
          <a:ext cx="233687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690FAF0-234F-5BEE-15D9-92B446913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44536"/>
              </p:ext>
            </p:extLst>
          </p:nvPr>
        </p:nvGraphicFramePr>
        <p:xfrm>
          <a:off x="6239139" y="4588050"/>
          <a:ext cx="1958783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4245448-4F4F-D474-D246-24FCF6010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41316"/>
              </p:ext>
            </p:extLst>
          </p:nvPr>
        </p:nvGraphicFramePr>
        <p:xfrm>
          <a:off x="8122712" y="4588050"/>
          <a:ext cx="2336875" cy="203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7FBAB6A-5D5D-F203-38D9-F29B58A8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015649"/>
              </p:ext>
            </p:extLst>
          </p:nvPr>
        </p:nvGraphicFramePr>
        <p:xfrm>
          <a:off x="9942916" y="4588050"/>
          <a:ext cx="205472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5A7F0A-E7DE-9485-1815-096992BBC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238424"/>
              </p:ext>
            </p:extLst>
          </p:nvPr>
        </p:nvGraphicFramePr>
        <p:xfrm>
          <a:off x="0" y="3577646"/>
          <a:ext cx="3832569" cy="337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43686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1CA12-D96D-AA6B-27E8-F29089DC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">
            <a:extLst>
              <a:ext uri="{FF2B5EF4-FFF2-40B4-BE49-F238E27FC236}">
                <a16:creationId xmlns:a16="http://schemas.microsoft.com/office/drawing/2014/main" id="{25B3DC2B-3AF3-BE40-57A8-01DDD0648D27}"/>
              </a:ext>
            </a:extLst>
          </p:cNvPr>
          <p:cNvGrpSpPr/>
          <p:nvPr/>
        </p:nvGrpSpPr>
        <p:grpSpPr>
          <a:xfrm>
            <a:off x="289776" y="2586073"/>
            <a:ext cx="781771" cy="764147"/>
            <a:chOff x="0" y="0"/>
            <a:chExt cx="781770" cy="764145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0DF661A7-526E-33F7-1E7B-C7EC9B2293F8}"/>
                </a:ext>
              </a:extLst>
            </p:cNvPr>
            <p:cNvSpPr/>
            <p:nvPr/>
          </p:nvSpPr>
          <p:spPr>
            <a:xfrm>
              <a:off x="0" y="0"/>
              <a:ext cx="781771" cy="764146"/>
            </a:xfrm>
            <a:prstGeom prst="roundRect">
              <a:avLst>
                <a:gd name="adj" fmla="val 17538"/>
              </a:avLst>
            </a:prstGeom>
            <a:gradFill flip="none" rotWithShape="1">
              <a:gsLst>
                <a:gs pos="0">
                  <a:srgbClr val="5583A8"/>
                </a:gs>
                <a:gs pos="100000">
                  <a:srgbClr val="1A4377"/>
                </a:gs>
              </a:gsLst>
              <a:lin ang="54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endParaRPr b="1" dirty="0">
                <a:latin typeface="Georgia"/>
              </a:endParaRPr>
            </a:p>
          </p:txBody>
        </p:sp>
        <p:pic>
          <p:nvPicPr>
            <p:cNvPr id="7" name="pasted-image.pdf" descr="pasted-image.pdf">
              <a:extLst>
                <a:ext uri="{FF2B5EF4-FFF2-40B4-BE49-F238E27FC236}">
                  <a16:creationId xmlns:a16="http://schemas.microsoft.com/office/drawing/2014/main" id="{FCABE1DE-A315-0D7F-6C86-DFFAB7590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992" y="173153"/>
              <a:ext cx="417786" cy="4178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9" name="Picture 8" descr="D:\NEKODESIGN\CUSTOMERS\AQUUS\MASAN\Pics\Logo_Masan.pngLogo_Masan">
            <a:extLst>
              <a:ext uri="{FF2B5EF4-FFF2-40B4-BE49-F238E27FC236}">
                <a16:creationId xmlns:a16="http://schemas.microsoft.com/office/drawing/2014/main" id="{3E15AA29-27F9-FF40-DCDA-6976EE704A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8252" y="5879276"/>
            <a:ext cx="1666440" cy="584058"/>
          </a:xfrm>
          <a:prstGeom prst="rect">
            <a:avLst/>
          </a:prstGeom>
        </p:spPr>
      </p:pic>
      <p:sp>
        <p:nvSpPr>
          <p:cNvPr id="2" name="Google Shape;3229;p227">
            <a:extLst>
              <a:ext uri="{FF2B5EF4-FFF2-40B4-BE49-F238E27FC236}">
                <a16:creationId xmlns:a16="http://schemas.microsoft.com/office/drawing/2014/main" id="{9223A8FF-BB69-AAFE-7EDB-3B75E689015D}"/>
              </a:ext>
            </a:extLst>
          </p:cNvPr>
          <p:cNvSpPr txBox="1">
            <a:spLocks/>
          </p:cNvSpPr>
          <p:nvPr/>
        </p:nvSpPr>
        <p:spPr>
          <a:xfrm>
            <a:off x="1210334" y="2475674"/>
            <a:ext cx="1188103" cy="1122400"/>
          </a:xfrm>
          <a:prstGeom prst="rect">
            <a:avLst/>
          </a:prstGeom>
        </p:spPr>
        <p:txBody>
          <a:bodyPr spcFirstLastPara="1" vert="horz" wrap="square" lIns="121900" tIns="0" rIns="121900" bIns="1219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" b="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3</a:t>
            </a:r>
            <a:endParaRPr kumimoji="0" lang="en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3" name="Google Shape;3230;p227">
            <a:extLst>
              <a:ext uri="{FF2B5EF4-FFF2-40B4-BE49-F238E27FC236}">
                <a16:creationId xmlns:a16="http://schemas.microsoft.com/office/drawing/2014/main" id="{8C06D09E-3169-AE27-59CD-E34063B54A30}"/>
              </a:ext>
            </a:extLst>
          </p:cNvPr>
          <p:cNvSpPr txBox="1">
            <a:spLocks/>
          </p:cNvSpPr>
          <p:nvPr/>
        </p:nvSpPr>
        <p:spPr>
          <a:xfrm>
            <a:off x="2231374" y="2934153"/>
            <a:ext cx="4718309" cy="46592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en-US" sz="2300" b="1" kern="0" spc="-40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PHÂN TÍCH MASAN GROUP</a:t>
            </a:r>
            <a:endParaRPr kumimoji="0" lang="en-US" sz="2300" b="1" i="0" u="none" strike="noStrike" kern="120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CAEAEE-3EF7-3DA5-0AEE-3E56B9A36EFA}"/>
              </a:ext>
            </a:extLst>
          </p:cNvPr>
          <p:cNvCxnSpPr>
            <a:cxnSpLocks/>
          </p:cNvCxnSpPr>
          <p:nvPr/>
        </p:nvCxnSpPr>
        <p:spPr>
          <a:xfrm>
            <a:off x="2323104" y="3564639"/>
            <a:ext cx="3898982" cy="0"/>
          </a:xfrm>
          <a:prstGeom prst="line">
            <a:avLst/>
          </a:prstGeom>
          <a:noFill/>
          <a:ln w="12700" cap="rnd">
            <a:solidFill>
              <a:schemeClr val="accent3"/>
            </a:solidFill>
            <a:prstDash val="solid"/>
            <a:miter/>
          </a:ln>
        </p:spPr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C4C6A5-FD94-5618-FDB6-5B979D92D992}"/>
              </a:ext>
            </a:extLst>
          </p:cNvPr>
          <p:cNvSpPr/>
          <p:nvPr/>
        </p:nvSpPr>
        <p:spPr>
          <a:xfrm>
            <a:off x="1361325" y="3565544"/>
            <a:ext cx="961779" cy="294785"/>
          </a:xfrm>
          <a:custGeom>
            <a:avLst/>
            <a:gdLst>
              <a:gd name="connsiteX0" fmla="*/ 0 w 866775"/>
              <a:gd name="connsiteY0" fmla="*/ 255937 h 247650"/>
              <a:gd name="connsiteX1" fmla="*/ 412051 w 866775"/>
              <a:gd name="connsiteY1" fmla="*/ 255937 h 247650"/>
              <a:gd name="connsiteX2" fmla="*/ 613315 w 866775"/>
              <a:gd name="connsiteY2" fmla="*/ 161068 h 247650"/>
              <a:gd name="connsiteX3" fmla="*/ 659511 w 866775"/>
              <a:gd name="connsiteY3" fmla="*/ 105061 h 247650"/>
              <a:gd name="connsiteX4" fmla="*/ 667988 w 866775"/>
              <a:gd name="connsiteY4" fmla="*/ 94774 h 247650"/>
              <a:gd name="connsiteX5" fmla="*/ 869252 w 866775"/>
              <a:gd name="connsiteY5" fmla="*/ 0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47650">
                <a:moveTo>
                  <a:pt x="0" y="255937"/>
                </a:moveTo>
                <a:lnTo>
                  <a:pt x="412051" y="255937"/>
                </a:lnTo>
                <a:cubicBezTo>
                  <a:pt x="489966" y="255937"/>
                  <a:pt x="563785" y="221075"/>
                  <a:pt x="613315" y="161068"/>
                </a:cubicBezTo>
                <a:lnTo>
                  <a:pt x="659511" y="105061"/>
                </a:lnTo>
                <a:lnTo>
                  <a:pt x="667988" y="94774"/>
                </a:lnTo>
                <a:cubicBezTo>
                  <a:pt x="717518" y="34766"/>
                  <a:pt x="791337" y="0"/>
                  <a:pt x="869252" y="0"/>
                </a:cubicBezTo>
              </a:path>
            </a:pathLst>
          </a:custGeom>
          <a:noFill/>
          <a:ln w="12700" cap="rnd">
            <a:solidFill>
              <a:schemeClr val="accent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0" name="Google Shape;3510;p235">
            <a:extLst>
              <a:ext uri="{FF2B5EF4-FFF2-40B4-BE49-F238E27FC236}">
                <a16:creationId xmlns:a16="http://schemas.microsoft.com/office/drawing/2014/main" id="{EE921E83-7AF1-A3A2-8751-46699DC3762C}"/>
              </a:ext>
            </a:extLst>
          </p:cNvPr>
          <p:cNvSpPr/>
          <p:nvPr/>
        </p:nvSpPr>
        <p:spPr>
          <a:xfrm>
            <a:off x="1392327" y="2122666"/>
            <a:ext cx="1510948" cy="465935"/>
          </a:xfrm>
          <a:prstGeom prst="roundRect">
            <a:avLst>
              <a:gd name="adj" fmla="val 50000"/>
            </a:avLst>
          </a:prstGeom>
          <a:solidFill>
            <a:srgbClr val="E7E6E6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srgbClr val="888888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ĐỐI THỦ</a:t>
            </a:r>
            <a:endParaRPr sz="1200" kern="1200" dirty="0">
              <a:solidFill>
                <a:srgbClr val="888888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1" name="Google Shape;3511;p235">
            <a:extLst>
              <a:ext uri="{FF2B5EF4-FFF2-40B4-BE49-F238E27FC236}">
                <a16:creationId xmlns:a16="http://schemas.microsoft.com/office/drawing/2014/main" id="{197EB8B8-4401-1FC5-4C60-7D0CDB92A6CD}"/>
              </a:ext>
            </a:extLst>
          </p:cNvPr>
          <p:cNvSpPr/>
          <p:nvPr/>
        </p:nvSpPr>
        <p:spPr>
          <a:xfrm>
            <a:off x="3161817" y="2122666"/>
            <a:ext cx="1520826" cy="465935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Tx/>
            </a:pP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</a:t>
            </a:r>
            <a:r>
              <a:rPr lang="vi-VN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Ư</a:t>
            </a:r>
            <a:r>
              <a:rPr lang="en-US" sz="1200" kern="1200" dirty="0">
                <a:solidFill>
                  <a:prstClr val="white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ƠNG HIỆU</a:t>
            </a:r>
            <a:endParaRPr sz="1200" kern="1200" dirty="0">
              <a:solidFill>
                <a:prstClr val="white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7111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B32E-B4AF-974E-6BE4-C6735A75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CD052-53F0-9F08-A718-D34DE6015383}"/>
              </a:ext>
            </a:extLst>
          </p:cNvPr>
          <p:cNvSpPr txBox="1"/>
          <p:nvPr/>
        </p:nvSpPr>
        <p:spPr>
          <a:xfrm>
            <a:off x="6557034" y="3199072"/>
            <a:ext cx="1865964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NSR </a:t>
            </a:r>
            <a:r>
              <a:rPr kumimoji="0" lang="vi-VN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(%) 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(Tích cực – Tiêu cực)/(Tích cực +Tiêu </a:t>
            </a:r>
            <a:r>
              <a:rPr kumimoji="0" lang="en-US" sz="600" i="1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cực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)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eorgia" panose="00000500000000000000" pitchFamily="2" charset="-93"/>
              <a:cs typeface="Georgia"/>
              <a:sym typeface="Georgi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D1D1F3-600F-171C-68C2-F11B1B41CB85}"/>
              </a:ext>
            </a:extLst>
          </p:cNvPr>
          <p:cNvGrpSpPr/>
          <p:nvPr/>
        </p:nvGrpSpPr>
        <p:grpSpPr>
          <a:xfrm>
            <a:off x="8422998" y="1206217"/>
            <a:ext cx="3575826" cy="2022585"/>
            <a:chOff x="5585652" y="4615694"/>
            <a:chExt cx="3866441" cy="15685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CD5E7-56CF-DE83-D05B-145849B89BD8}"/>
                </a:ext>
              </a:extLst>
            </p:cNvPr>
            <p:cNvSpPr/>
            <p:nvPr/>
          </p:nvSpPr>
          <p:spPr>
            <a:xfrm>
              <a:off x="5632126" y="4856851"/>
              <a:ext cx="3819967" cy="608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Masan (MSN) phát hành 14,4 triệu cổ phiếu ESOP giá 10.000 đồng, gần 300 nhân viên hưởng lợi lớn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MSNer chuẩn bị tuần đầu tháng 6 rực rỡ cùng Tím chưa nào ?  - MCH - MSN – MSR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Nhịp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này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Quang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tao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lead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nhé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 - MSN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7BC9EC-5C63-3FA5-3663-44F97E1B61A0}"/>
                </a:ext>
              </a:extLst>
            </p:cNvPr>
            <p:cNvSpPr/>
            <p:nvPr/>
          </p:nvSpPr>
          <p:spPr>
            <a:xfrm>
              <a:off x="5869629" y="4615694"/>
              <a:ext cx="3515459" cy="141825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–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POSITIVE FEEDBACK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F2230C-E611-EF62-43A8-C11AF0083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4626838"/>
              <a:ext cx="182461" cy="1418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1F0993-A742-FED3-7618-8C50449A875F}"/>
                </a:ext>
              </a:extLst>
            </p:cNvPr>
            <p:cNvSpPr/>
            <p:nvPr/>
          </p:nvSpPr>
          <p:spPr>
            <a:xfrm>
              <a:off x="5585652" y="5742661"/>
              <a:ext cx="3819967" cy="441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Nhìn chart 4/3 kìa . Giống 100% gãy  - 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 lại giảm Thọ Chế lại có cơ hội lên bài cmnr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🤣🤣 – </a:t>
              </a: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Tự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doanh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mua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2tr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là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thấy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điềm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r - MSN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73DCB-8BF3-792F-3E8D-F406B8CC61DF}"/>
                </a:ext>
              </a:extLst>
            </p:cNvPr>
            <p:cNvSpPr/>
            <p:nvPr/>
          </p:nvSpPr>
          <p:spPr>
            <a:xfrm>
              <a:off x="5869629" y="5578388"/>
              <a:ext cx="3515459" cy="14182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-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NEGATIVE FEEDBACK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35F9E-FE6E-2BC8-84D1-291E86244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5578388"/>
              <a:ext cx="194068" cy="141825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AB3B2-940F-0272-2DF1-C5869EF70046}"/>
              </a:ext>
            </a:extLst>
          </p:cNvPr>
          <p:cNvSpPr/>
          <p:nvPr/>
        </p:nvSpPr>
        <p:spPr>
          <a:xfrm>
            <a:off x="6851947" y="4225558"/>
            <a:ext cx="2113985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SẮC THÁI THẢO LUẬN THEO CHỦ ĐỀ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EC79A26-64AC-B88E-DFA2-9901BBB7D3B8}"/>
              </a:ext>
            </a:extLst>
          </p:cNvPr>
          <p:cNvGraphicFramePr/>
          <p:nvPr/>
        </p:nvGraphicFramePr>
        <p:xfrm>
          <a:off x="4996616" y="3983004"/>
          <a:ext cx="1483589" cy="311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56B5FED-5A09-3457-160E-BACA7B32E49B}"/>
              </a:ext>
            </a:extLst>
          </p:cNvPr>
          <p:cNvSpPr/>
          <p:nvPr/>
        </p:nvSpPr>
        <p:spPr>
          <a:xfrm>
            <a:off x="9580996" y="4226872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TỐP NGUỒN THEO THẢO LUẬN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AF4EE96-B998-D3F5-0E45-AF528B003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58776"/>
              </p:ext>
            </p:extLst>
          </p:nvPr>
        </p:nvGraphicFramePr>
        <p:xfrm>
          <a:off x="6590060" y="4607986"/>
          <a:ext cx="2990936" cy="20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574876-8073-9BA8-BD58-8008AF476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631042"/>
              </p:ext>
            </p:extLst>
          </p:nvPr>
        </p:nvGraphicFramePr>
        <p:xfrm>
          <a:off x="6145938" y="1009909"/>
          <a:ext cx="2666687" cy="2102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62FBA75-EE53-4514-80C1-06CA4C29C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67330"/>
              </p:ext>
            </p:extLst>
          </p:nvPr>
        </p:nvGraphicFramePr>
        <p:xfrm>
          <a:off x="9025108" y="4523136"/>
          <a:ext cx="2728292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28EA278-DF80-783F-9253-5FF1818CE13C}"/>
              </a:ext>
            </a:extLst>
          </p:cNvPr>
          <p:cNvSpPr txBox="1"/>
          <p:nvPr/>
        </p:nvSpPr>
        <p:spPr>
          <a:xfrm>
            <a:off x="7042409" y="1926952"/>
            <a:ext cx="895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NSR</a:t>
            </a:r>
            <a:r>
              <a:rPr lang="en-US" sz="1000" b="1" dirty="0">
                <a:solidFill>
                  <a:schemeClr val="tx1"/>
                </a:solidFill>
                <a:latin typeface="Georgia" panose="00000500000000000000" pitchFamily="2" charset="-93"/>
                <a:cs typeface="Georgia" panose="020B0604020202020204" pitchFamily="34" charset="0"/>
              </a:rPr>
              <a:t>: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 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3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2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%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0000500000000000000" pitchFamily="2" charset="-93"/>
              <a:ea typeface="Georgia"/>
              <a:cs typeface="Georgia" panose="020B0604020202020204" pitchFamily="34" charset="0"/>
              <a:sym typeface="Georgi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1D158F4-88FE-9397-1CA2-EABCA57E95F7}"/>
              </a:ext>
            </a:extLst>
          </p:cNvPr>
          <p:cNvSpPr txBox="1">
            <a:spLocks/>
          </p:cNvSpPr>
          <p:nvPr/>
        </p:nvSpPr>
        <p:spPr>
          <a:xfrm>
            <a:off x="291766" y="225361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MASAN GROUP</a:t>
            </a:r>
          </a:p>
        </p:txBody>
      </p:sp>
      <p:graphicFrame>
        <p:nvGraphicFramePr>
          <p:cNvPr id="29" name="Google Shape;271;p213">
            <a:extLst>
              <a:ext uri="{FF2B5EF4-FFF2-40B4-BE49-F238E27FC236}">
                <a16:creationId xmlns:a16="http://schemas.microsoft.com/office/drawing/2014/main" id="{FC563A3D-1F24-9D94-C422-48E0ECDA5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68898"/>
              </p:ext>
            </p:extLst>
          </p:nvPr>
        </p:nvGraphicFramePr>
        <p:xfrm>
          <a:off x="237188" y="4103144"/>
          <a:ext cx="5174047" cy="267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20A63-6633-8A7C-43FA-187A86921661}"/>
              </a:ext>
            </a:extLst>
          </p:cNvPr>
          <p:cNvSpPr txBox="1"/>
          <p:nvPr/>
        </p:nvSpPr>
        <p:spPr>
          <a:xfrm>
            <a:off x="175257" y="757492"/>
            <a:ext cx="6160898" cy="338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câu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chuyện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hẳn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trước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vốn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xoay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quanh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: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chứng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khoán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còn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chiếm</a:t>
            </a:r>
            <a:r>
              <a:rPr lang="en-US" sz="1200" dirty="0">
                <a:latin typeface="+mj-lt"/>
              </a:rPr>
              <a:t> 34%, </a:t>
            </a:r>
            <a:r>
              <a:rPr lang="en-US" sz="1200" dirty="0" err="1">
                <a:latin typeface="+mj-lt"/>
              </a:rPr>
              <a:t>trong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dung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quảng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25% </a:t>
            </a:r>
            <a:r>
              <a:rPr lang="en-US" sz="1200" dirty="0" err="1">
                <a:latin typeface="+mj-lt"/>
              </a:rPr>
              <a:t>nhờ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hoạt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của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sinh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Masan. </a:t>
            </a:r>
            <a:r>
              <a:rPr lang="en-US" sz="1200" dirty="0" err="1">
                <a:latin typeface="+mj-lt"/>
              </a:rPr>
              <a:t>Sắc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trung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áp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đảo</a:t>
            </a:r>
            <a:r>
              <a:rPr lang="en-US" sz="1200" dirty="0">
                <a:latin typeface="+mj-lt"/>
              </a:rPr>
              <a:t> (85%), </a:t>
            </a:r>
            <a:r>
              <a:rPr lang="vi-VN" sz="1200" dirty="0">
                <a:latin typeface="+mj-lt"/>
              </a:rPr>
              <a:t>sức khỏe thương hiệu đạt tỉ lệ </a:t>
            </a:r>
            <a:r>
              <a:rPr lang="en-US" sz="1200" dirty="0">
                <a:latin typeface="+mj-lt"/>
              </a:rPr>
              <a:t>32%; fireant.vn </a:t>
            </a:r>
            <a:r>
              <a:rPr lang="en-US" sz="1200" dirty="0" err="1">
                <a:latin typeface="+mj-lt"/>
              </a:rPr>
              <a:t>tiếp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tục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nguồn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tỷ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giảm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lan </a:t>
            </a:r>
            <a:r>
              <a:rPr lang="en-US" sz="1200" dirty="0" err="1">
                <a:latin typeface="+mj-lt"/>
              </a:rPr>
              <a:t>tỏa</a:t>
            </a:r>
            <a:r>
              <a:rPr lang="en-US" sz="1200" dirty="0">
                <a:latin typeface="+mj-lt"/>
              </a:rPr>
              <a:t> qua </a:t>
            </a:r>
            <a:r>
              <a:rPr lang="en-US" sz="1200" dirty="0" err="1">
                <a:latin typeface="+mj-lt"/>
              </a:rPr>
              <a:t>nhiều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kênh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hết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đàn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tư</a:t>
            </a:r>
            <a:endParaRPr lang="vi-VN" sz="12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được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dắt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bởi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hành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ESOP </a:t>
            </a:r>
            <a:r>
              <a:rPr lang="en-US" sz="1200" dirty="0" err="1">
                <a:latin typeface="+mj-lt"/>
              </a:rPr>
              <a:t>và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kỳ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nhịp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tăng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tháng</a:t>
            </a:r>
            <a:r>
              <a:rPr lang="en-US" sz="1200" dirty="0">
                <a:latin typeface="+mj-lt"/>
              </a:rPr>
              <a:t> 6; </a:t>
            </a: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nhỏ</a:t>
            </a:r>
            <a:r>
              <a:rPr lang="en-US" sz="1200" dirty="0">
                <a:latin typeface="+mj-lt"/>
              </a:rPr>
              <a:t> (5%)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lặp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nỗi</a:t>
            </a:r>
            <a:r>
              <a:rPr lang="en-US" sz="1200" dirty="0">
                <a:latin typeface="+mj-lt"/>
              </a:rPr>
              <a:t> lo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xuống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Lượng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lao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dốc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giữa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rồi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bật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cuối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thấy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với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tức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Điểm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mừng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nổi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đủ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ảnh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bớt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thuộc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biến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đúng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hướng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huy</a:t>
            </a:r>
            <a:endParaRPr lang="vi-V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67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A306-1746-A223-5FFF-2432B1C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668D51-C8FB-C451-5360-CCB10A1E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86007"/>
              </p:ext>
            </p:extLst>
          </p:nvPr>
        </p:nvGraphicFramePr>
        <p:xfrm>
          <a:off x="163685" y="1319092"/>
          <a:ext cx="11864629" cy="45192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84">
                  <a:extLst>
                    <a:ext uri="{9D8B030D-6E8A-4147-A177-3AD203B41FA5}">
                      <a16:colId xmlns:a16="http://schemas.microsoft.com/office/drawing/2014/main" val="2692213912"/>
                    </a:ext>
                  </a:extLst>
                </a:gridCol>
                <a:gridCol w="189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793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#\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CHỦ ĐỀ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THẢO LUẬN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NGUỒN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TÍCH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TRUNG LẬP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TIÊU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1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3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quỹ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ngoại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lớn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Smallcap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World Fund, Boardwalk South, VOF…)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và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động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thái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với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cổ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phiếu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MSN</a:t>
                      </a:r>
                    </a:p>
                  </a:txBody>
                  <a:tcPr marL="73152" marR="73152" marT="36576" marB="3657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29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Giải Mã Băng Cơ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91706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2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Bản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tin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nhanh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chứng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khoán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3/6: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phát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14,4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triệu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ESOP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10.000đ,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gần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nhân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viên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lợi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4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Vnfinance.vn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8331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3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“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sản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chiến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” – MSR (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mỏ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Núi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Pháo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)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nhuận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quý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kỷ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lục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5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9776"/>
                  </a:ext>
                </a:extLst>
              </a:tr>
              <a:tr h="67106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4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ninh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chuỗi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cung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ngoài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Trung Quốc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tái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định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hội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MSR</a:t>
                      </a: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81288"/>
                  </a:ext>
                </a:extLst>
              </a:tr>
              <a:tr h="90893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5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Masan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mất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6.000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vốn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hóa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sau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một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tháng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tiếp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tục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điều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chỉnh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7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Georgia"/>
                        </a:rPr>
                        <a:t>Chuyendongthitruong.vn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6411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40678A62-0034-BE4E-D5EE-92336B317493}"/>
              </a:ext>
            </a:extLst>
          </p:cNvPr>
          <p:cNvSpPr txBox="1">
            <a:spLocks/>
          </p:cNvSpPr>
          <p:nvPr/>
        </p:nvSpPr>
        <p:spPr>
          <a:xfrm>
            <a:off x="163685" y="336112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CÁC BÀI ĐĂNG NỔI BẬT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itchFamily="2" charset="0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7779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san">
      <a:dk1>
        <a:srgbClr val="000000"/>
      </a:dk1>
      <a:lt1>
        <a:srgbClr val="FFFFFF"/>
      </a:lt1>
      <a:dk2>
        <a:srgbClr val="00447C"/>
      </a:dk2>
      <a:lt2>
        <a:srgbClr val="A0BBD4"/>
      </a:lt2>
      <a:accent1>
        <a:srgbClr val="5488AD"/>
      </a:accent1>
      <a:accent2>
        <a:srgbClr val="00001F"/>
      </a:accent2>
      <a:accent3>
        <a:srgbClr val="7F7F7F"/>
      </a:accent3>
      <a:accent4>
        <a:srgbClr val="EC9123"/>
      </a:accent4>
      <a:accent5>
        <a:srgbClr val="C61C2C"/>
      </a:accent5>
      <a:accent6>
        <a:srgbClr val="448D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16049</TotalTime>
  <Words>1360</Words>
  <Application>Microsoft Macintosh PowerPoint</Application>
  <PresentationFormat>Widescreen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Wingdings</vt:lpstr>
      <vt:lpstr>Arial</vt:lpstr>
      <vt:lpstr>Georgia</vt:lpstr>
      <vt:lpstr>Office Theme</vt:lpstr>
      <vt:lpstr>THEO DÕI VÀ PHÂN TÍCH THẢO LUẬN MẠNG XÃ HỘI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 Le Tran Phuong</cp:lastModifiedBy>
  <cp:revision>1</cp:revision>
  <dcterms:created xsi:type="dcterms:W3CDTF">2012-03-21T05:59:50Z</dcterms:created>
  <dcterms:modified xsi:type="dcterms:W3CDTF">2026-07-01T04:04:13Z</dcterms:modified>
</cp:coreProperties>
</file>